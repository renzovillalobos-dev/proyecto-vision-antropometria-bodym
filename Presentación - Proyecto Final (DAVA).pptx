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Quattrocento Sans"/>
      <p:regular r:id="rId35"/>
      <p:bold r:id="rId36"/>
      <p:italic r:id="rId37"/>
      <p:boldItalic r:id="rId38"/>
    </p:embeddedFont>
    <p:embeddedFont>
      <p:font typeface="Comfortaa"/>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6E95A1-E1CC-4BC4-808D-2EC83E1E0585}">
  <a:tblStyle styleId="{F86E95A1-E1CC-4BC4-808D-2EC83E1E058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7AB4A2E-310A-47CA-8E6F-357D9CDF2465}"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Comfortaa-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QuattrocentoSans-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QuattrocentoSans-italic.fntdata"/><Relationship Id="rId14" Type="http://schemas.openxmlformats.org/officeDocument/2006/relationships/slide" Target="slides/slide9.xml"/><Relationship Id="rId36" Type="http://schemas.openxmlformats.org/officeDocument/2006/relationships/font" Target="fonts/QuattrocentoSans-bold.fntdata"/><Relationship Id="rId17" Type="http://schemas.openxmlformats.org/officeDocument/2006/relationships/slide" Target="slides/slide12.xml"/><Relationship Id="rId39" Type="http://schemas.openxmlformats.org/officeDocument/2006/relationships/font" Target="fonts/Comfortaa-regular.fntdata"/><Relationship Id="rId16" Type="http://schemas.openxmlformats.org/officeDocument/2006/relationships/slide" Target="slides/slide11.xml"/><Relationship Id="rId38" Type="http://schemas.openxmlformats.org/officeDocument/2006/relationships/font" Target="fonts/QuattrocentoSa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4434d24c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c4434d24c7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c4434d24c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c4434d24c7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4434d24c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3c4434d24c7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4434d24c7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c4434d24c7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368fc593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9368fc5931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368fc5931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9368fc5931_2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614a1b77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3c614a1b779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614a1b77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c614a1b779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c614a1b77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c614a1b779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c614a1b77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c614a1b779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614a1b77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3c614a1b779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c601606aa0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c601606aa0_1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601606aa0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c601606aa0_1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c601606aa0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3c601606aa0_1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c601606aa0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3c601606aa0_1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c601606aa0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3c601606aa0_1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c601606aa0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3c601606aa0_1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c601606aa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3c601606aa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c35bad584b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c35bad584b_2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368fc5931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39368fc5931_2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9388cc4b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39388cc4bb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c63159632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g3c63159632e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9388cc4bb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39388cc4bb1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c63159632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c63159632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3"/>
          <p:cNvSpPr/>
          <p:nvPr/>
        </p:nvSpPr>
        <p:spPr>
          <a:xfrm>
            <a:off x="-9300" y="-22950"/>
            <a:ext cx="9153300" cy="644700"/>
          </a:xfrm>
          <a:prstGeom prst="rect">
            <a:avLst/>
          </a:prstGeom>
          <a:solidFill>
            <a:srgbClr val="CCD3E0"/>
          </a:solidFill>
          <a:ln cap="flat" cmpd="sng" w="9525">
            <a:solidFill>
              <a:srgbClr val="CCD3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3"/>
          <p:cNvSpPr/>
          <p:nvPr/>
        </p:nvSpPr>
        <p:spPr>
          <a:xfrm rot="-5400000">
            <a:off x="-16650" y="-15600"/>
            <a:ext cx="659400" cy="644700"/>
          </a:xfrm>
          <a:prstGeom prst="rect">
            <a:avLst/>
          </a:prstGeom>
          <a:solidFill>
            <a:srgbClr val="BFC8D9"/>
          </a:solidFill>
          <a:ln cap="flat" cmpd="sng" w="9525">
            <a:solidFill>
              <a:srgbClr val="CCD3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3"/>
          <p:cNvSpPr/>
          <p:nvPr/>
        </p:nvSpPr>
        <p:spPr>
          <a:xfrm rot="-5400000">
            <a:off x="-1951500" y="2564000"/>
            <a:ext cx="4529100" cy="644700"/>
          </a:xfrm>
          <a:prstGeom prst="rect">
            <a:avLst/>
          </a:prstGeom>
          <a:solidFill>
            <a:srgbClr val="CCD3E0"/>
          </a:solidFill>
          <a:ln cap="flat" cmpd="sng" w="9525">
            <a:solidFill>
              <a:srgbClr val="CCD3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adversarialbodysim.github.io/"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16.png"/><Relationship Id="rId8"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4.jpg"/><Relationship Id="rId5" Type="http://schemas.openxmlformats.org/officeDocument/2006/relationships/image" Target="../media/image33.png"/><Relationship Id="rId6"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9.png"/><Relationship Id="rId5" Type="http://schemas.openxmlformats.org/officeDocument/2006/relationships/image" Target="../media/image28.png"/><Relationship Id="rId6" Type="http://schemas.openxmlformats.org/officeDocument/2006/relationships/image" Target="../media/image26.png"/><Relationship Id="rId7"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7.png"/><Relationship Id="rId5" Type="http://schemas.openxmlformats.org/officeDocument/2006/relationships/image" Target="../media/image30.png"/><Relationship Id="rId6"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nvSpPr>
        <p:spPr>
          <a:xfrm>
            <a:off x="363475" y="3154875"/>
            <a:ext cx="3884100" cy="1060500"/>
          </a:xfrm>
          <a:prstGeom prst="rect">
            <a:avLst/>
          </a:prstGeom>
          <a:noFill/>
          <a:ln cap="flat" cmpd="sng" w="9525">
            <a:solidFill>
              <a:srgbClr val="757575"/>
            </a:solidFill>
            <a:prstDash val="dot"/>
            <a:round/>
            <a:headEnd len="sm" w="sm" type="none"/>
            <a:tailEnd len="sm" w="sm" type="none"/>
          </a:ln>
        </p:spPr>
        <p:txBody>
          <a:bodyPr anchorCtr="0" anchor="t" bIns="65825" lIns="65825" spcFirstLastPara="1" rIns="65825" wrap="square" tIns="65825">
            <a:spAutoFit/>
          </a:bodyPr>
          <a:lstStyle/>
          <a:p>
            <a:pPr indent="0" lvl="0" marL="0" marR="0" rtl="0" algn="l">
              <a:lnSpc>
                <a:spcPct val="100000"/>
              </a:lnSpc>
              <a:spcBef>
                <a:spcPts val="0"/>
              </a:spcBef>
              <a:spcAft>
                <a:spcPts val="0"/>
              </a:spcAft>
              <a:buClr>
                <a:srgbClr val="000000"/>
              </a:buClr>
              <a:buSzPts val="1005"/>
              <a:buFont typeface="Arial"/>
              <a:buNone/>
            </a:pPr>
            <a:r>
              <a:rPr b="1" i="0" lang="en" sz="1004" u="none" cap="none" strike="noStrike">
                <a:solidFill>
                  <a:srgbClr val="757575"/>
                </a:solidFill>
                <a:latin typeface="Comfortaa"/>
                <a:ea typeface="Comfortaa"/>
                <a:cs typeface="Comfortaa"/>
                <a:sym typeface="Comfortaa"/>
              </a:rPr>
              <a:t>INTEGRANTES :  </a:t>
            </a:r>
            <a:endParaRPr b="1" i="0" sz="1004" u="none" cap="none" strike="noStrike">
              <a:solidFill>
                <a:srgbClr val="757575"/>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004"/>
              <a:buFont typeface="Arial"/>
              <a:buNone/>
            </a:pPr>
            <a:r>
              <a:t/>
            </a:r>
            <a:endParaRPr b="1" i="0" sz="1004" u="none" cap="none" strike="noStrike">
              <a:solidFill>
                <a:srgbClr val="757575"/>
              </a:solidFill>
              <a:latin typeface="Comfortaa"/>
              <a:ea typeface="Comfortaa"/>
              <a:cs typeface="Comfortaa"/>
              <a:sym typeface="Comfortaa"/>
            </a:endParaRPr>
          </a:p>
          <a:p>
            <a:pPr indent="-292416" lvl="0" marL="457200" marR="0" rtl="0" algn="l">
              <a:lnSpc>
                <a:spcPct val="100000"/>
              </a:lnSpc>
              <a:spcBef>
                <a:spcPts val="0"/>
              </a:spcBef>
              <a:spcAft>
                <a:spcPts val="0"/>
              </a:spcAft>
              <a:buClr>
                <a:srgbClr val="757575"/>
              </a:buClr>
              <a:buSzPts val="1005"/>
              <a:buFont typeface="Comfortaa"/>
              <a:buChar char="●"/>
            </a:pPr>
            <a:r>
              <a:rPr b="1" i="0" lang="en" sz="1004" u="none" cap="none" strike="noStrike">
                <a:solidFill>
                  <a:srgbClr val="757575"/>
                </a:solidFill>
                <a:latin typeface="Comfortaa"/>
                <a:ea typeface="Comfortaa"/>
                <a:cs typeface="Comfortaa"/>
                <a:sym typeface="Comfortaa"/>
              </a:rPr>
              <a:t>BARBARITA PAULA JANETH RAMIREZ UCAÑAY</a:t>
            </a:r>
            <a:endParaRPr b="1" i="0" sz="1004" u="none" cap="none" strike="noStrike">
              <a:solidFill>
                <a:srgbClr val="757575"/>
              </a:solidFill>
              <a:latin typeface="Comfortaa"/>
              <a:ea typeface="Comfortaa"/>
              <a:cs typeface="Comfortaa"/>
              <a:sym typeface="Comfortaa"/>
            </a:endParaRPr>
          </a:p>
          <a:p>
            <a:pPr indent="-292352" lvl="0" marL="457200" marR="0" rtl="0" algn="l">
              <a:lnSpc>
                <a:spcPct val="100000"/>
              </a:lnSpc>
              <a:spcBef>
                <a:spcPts val="0"/>
              </a:spcBef>
              <a:spcAft>
                <a:spcPts val="0"/>
              </a:spcAft>
              <a:buClr>
                <a:srgbClr val="757575"/>
              </a:buClr>
              <a:buSzPts val="1004"/>
              <a:buFont typeface="Comfortaa"/>
              <a:buChar char="●"/>
            </a:pPr>
            <a:r>
              <a:rPr b="1" lang="en" sz="1004">
                <a:solidFill>
                  <a:srgbClr val="757575"/>
                </a:solidFill>
                <a:latin typeface="Comfortaa"/>
                <a:ea typeface="Comfortaa"/>
                <a:cs typeface="Comfortaa"/>
                <a:sym typeface="Comfortaa"/>
              </a:rPr>
              <a:t>BRIAN VARGAS OROS</a:t>
            </a:r>
            <a:endParaRPr b="1" sz="1004">
              <a:solidFill>
                <a:srgbClr val="757575"/>
              </a:solidFill>
              <a:latin typeface="Comfortaa"/>
              <a:ea typeface="Comfortaa"/>
              <a:cs typeface="Comfortaa"/>
              <a:sym typeface="Comfortaa"/>
            </a:endParaRPr>
          </a:p>
          <a:p>
            <a:pPr indent="-292352" lvl="0" marL="457200" marR="0" rtl="0" algn="l">
              <a:lnSpc>
                <a:spcPct val="100000"/>
              </a:lnSpc>
              <a:spcBef>
                <a:spcPts val="0"/>
              </a:spcBef>
              <a:spcAft>
                <a:spcPts val="0"/>
              </a:spcAft>
              <a:buClr>
                <a:srgbClr val="757575"/>
              </a:buClr>
              <a:buSzPts val="1004"/>
              <a:buFont typeface="Comfortaa"/>
              <a:buChar char="●"/>
            </a:pPr>
            <a:r>
              <a:rPr b="1" lang="en" sz="1004">
                <a:solidFill>
                  <a:srgbClr val="757575"/>
                </a:solidFill>
                <a:latin typeface="Comfortaa"/>
                <a:ea typeface="Comfortaa"/>
                <a:cs typeface="Comfortaa"/>
                <a:sym typeface="Comfortaa"/>
              </a:rPr>
              <a:t>RENZO VILLALOBOS CAFFERATA</a:t>
            </a:r>
            <a:endParaRPr b="1" sz="1004">
              <a:solidFill>
                <a:srgbClr val="757575"/>
              </a:solidFill>
              <a:latin typeface="Comfortaa"/>
              <a:ea typeface="Comfortaa"/>
              <a:cs typeface="Comfortaa"/>
              <a:sym typeface="Comfortaa"/>
            </a:endParaRPr>
          </a:p>
          <a:p>
            <a:pPr indent="0" lvl="0" marL="457200" marR="0" rtl="0" algn="l">
              <a:lnSpc>
                <a:spcPct val="100000"/>
              </a:lnSpc>
              <a:spcBef>
                <a:spcPts val="0"/>
              </a:spcBef>
              <a:spcAft>
                <a:spcPts val="0"/>
              </a:spcAft>
              <a:buNone/>
            </a:pPr>
            <a:r>
              <a:rPr b="1" lang="en" sz="1004">
                <a:solidFill>
                  <a:srgbClr val="757575"/>
                </a:solidFill>
                <a:latin typeface="Comfortaa"/>
                <a:ea typeface="Comfortaa"/>
                <a:cs typeface="Comfortaa"/>
                <a:sym typeface="Comfortaa"/>
              </a:rPr>
              <a:t> </a:t>
            </a:r>
            <a:endParaRPr b="1" sz="1004">
              <a:solidFill>
                <a:srgbClr val="757575"/>
              </a:solidFill>
              <a:latin typeface="Comfortaa"/>
              <a:ea typeface="Comfortaa"/>
              <a:cs typeface="Comfortaa"/>
              <a:sym typeface="Comfortaa"/>
            </a:endParaRPr>
          </a:p>
        </p:txBody>
      </p:sp>
      <p:sp>
        <p:nvSpPr>
          <p:cNvPr id="64" name="Google Shape;64;p14"/>
          <p:cNvSpPr txBox="1"/>
          <p:nvPr/>
        </p:nvSpPr>
        <p:spPr>
          <a:xfrm>
            <a:off x="363478" y="2839312"/>
            <a:ext cx="3884100" cy="276300"/>
          </a:xfrm>
          <a:prstGeom prst="rect">
            <a:avLst/>
          </a:prstGeom>
          <a:noFill/>
          <a:ln cap="flat" cmpd="sng" w="9525">
            <a:solidFill>
              <a:srgbClr val="757575"/>
            </a:solidFill>
            <a:prstDash val="dot"/>
            <a:round/>
            <a:headEnd len="sm" w="sm" type="none"/>
            <a:tailEnd len="sm" w="sm" type="none"/>
          </a:ln>
        </p:spPr>
        <p:txBody>
          <a:bodyPr anchorCtr="0" anchor="t" bIns="65825" lIns="65825" spcFirstLastPara="1" rIns="65825" wrap="square" tIns="65825">
            <a:spAutoFit/>
          </a:bodyPr>
          <a:lstStyle/>
          <a:p>
            <a:pPr indent="0" lvl="0" marL="0" marR="0" rtl="0" algn="l">
              <a:lnSpc>
                <a:spcPct val="100000"/>
              </a:lnSpc>
              <a:spcBef>
                <a:spcPts val="0"/>
              </a:spcBef>
              <a:spcAft>
                <a:spcPts val="0"/>
              </a:spcAft>
              <a:buClr>
                <a:srgbClr val="000000"/>
              </a:buClr>
              <a:buSzPts val="933"/>
              <a:buFont typeface="Arial"/>
              <a:buNone/>
            </a:pPr>
            <a:r>
              <a:rPr b="1" i="0" lang="en" sz="932" u="none" cap="none" strike="noStrike">
                <a:solidFill>
                  <a:srgbClr val="757575"/>
                </a:solidFill>
                <a:latin typeface="Comfortaa"/>
                <a:ea typeface="Comfortaa"/>
                <a:cs typeface="Comfortaa"/>
                <a:sym typeface="Comfortaa"/>
              </a:rPr>
              <a:t>GRUPO </a:t>
            </a:r>
            <a:r>
              <a:rPr b="1" lang="en" sz="932">
                <a:solidFill>
                  <a:srgbClr val="757575"/>
                </a:solidFill>
                <a:latin typeface="Comfortaa"/>
                <a:ea typeface="Comfortaa"/>
                <a:cs typeface="Comfortaa"/>
                <a:sym typeface="Comfortaa"/>
              </a:rPr>
              <a:t>3</a:t>
            </a:r>
            <a:endParaRPr b="1" i="0" sz="932" u="none" cap="none" strike="noStrike">
              <a:solidFill>
                <a:srgbClr val="757575"/>
              </a:solidFill>
              <a:latin typeface="Comfortaa"/>
              <a:ea typeface="Comfortaa"/>
              <a:cs typeface="Comfortaa"/>
              <a:sym typeface="Comfortaa"/>
            </a:endParaRPr>
          </a:p>
        </p:txBody>
      </p:sp>
      <p:sp>
        <p:nvSpPr>
          <p:cNvPr id="65" name="Google Shape;65;p14"/>
          <p:cNvSpPr/>
          <p:nvPr/>
        </p:nvSpPr>
        <p:spPr>
          <a:xfrm>
            <a:off x="319975" y="1761025"/>
            <a:ext cx="3971100" cy="681300"/>
          </a:xfrm>
          <a:prstGeom prst="roundRect">
            <a:avLst>
              <a:gd fmla="val 21570" name="adj"/>
            </a:avLst>
          </a:prstGeom>
          <a:solidFill>
            <a:srgbClr val="BFC8D9"/>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chemeClr val="dk1"/>
              </a:buClr>
              <a:buSzPts val="1125"/>
              <a:buFont typeface="Arial"/>
              <a:buNone/>
            </a:pPr>
            <a:r>
              <a:rPr b="1" lang="en" sz="924">
                <a:solidFill>
                  <a:srgbClr val="0C265D"/>
                </a:solidFill>
                <a:latin typeface="Comfortaa"/>
                <a:ea typeface="Comfortaa"/>
                <a:cs typeface="Comfortaa"/>
                <a:sym typeface="Comfortaa"/>
              </a:rPr>
              <a:t>ESTIMACIÓN AUTOMATIZADA DE MEDIDAS ANTROPOMÉTRICAS MEDIANTE REDES NEURONALES PROFUNDAS (CNN) Y SILUETAS 2D</a:t>
            </a:r>
            <a:endParaRPr b="0" i="0" sz="849" u="none" cap="none" strike="noStrike">
              <a:solidFill>
                <a:srgbClr val="0C265D"/>
              </a:solidFill>
              <a:latin typeface="Arial"/>
              <a:ea typeface="Arial"/>
              <a:cs typeface="Arial"/>
              <a:sym typeface="Arial"/>
            </a:endParaRPr>
          </a:p>
        </p:txBody>
      </p:sp>
      <p:pic>
        <p:nvPicPr>
          <p:cNvPr id="66" name="Google Shape;66;p14"/>
          <p:cNvPicPr preferRelativeResize="0"/>
          <p:nvPr/>
        </p:nvPicPr>
        <p:blipFill rotWithShape="1">
          <a:blip r:embed="rId3">
            <a:alphaModFix/>
          </a:blip>
          <a:srcRect b="0" l="0" r="0" t="0"/>
          <a:stretch/>
        </p:blipFill>
        <p:spPr>
          <a:xfrm>
            <a:off x="1404855" y="263770"/>
            <a:ext cx="1434747" cy="474967"/>
          </a:xfrm>
          <a:prstGeom prst="rect">
            <a:avLst/>
          </a:prstGeom>
          <a:noFill/>
          <a:ln>
            <a:noFill/>
          </a:ln>
        </p:spPr>
      </p:pic>
      <p:sp>
        <p:nvSpPr>
          <p:cNvPr id="67" name="Google Shape;67;p14"/>
          <p:cNvSpPr txBox="1"/>
          <p:nvPr/>
        </p:nvSpPr>
        <p:spPr>
          <a:xfrm>
            <a:off x="358000" y="838425"/>
            <a:ext cx="3922200" cy="288000"/>
          </a:xfrm>
          <a:prstGeom prst="rect">
            <a:avLst/>
          </a:prstGeom>
          <a:noFill/>
          <a:ln cap="flat" cmpd="sng" w="9525">
            <a:solidFill>
              <a:srgbClr val="FFFFFF"/>
            </a:solidFill>
            <a:prstDash val="solid"/>
            <a:round/>
            <a:headEnd len="sm" w="sm" type="none"/>
            <a:tailEnd len="sm" w="sm" type="none"/>
          </a:ln>
        </p:spPr>
        <p:txBody>
          <a:bodyPr anchorCtr="0" anchor="t" bIns="65825" lIns="65825" spcFirstLastPara="1" rIns="65825" wrap="square" tIns="65825">
            <a:spAutoFit/>
          </a:bodyPr>
          <a:lstStyle/>
          <a:p>
            <a:pPr indent="0" lvl="0" marL="0" marR="0" rtl="0" algn="ctr">
              <a:lnSpc>
                <a:spcPct val="100000"/>
              </a:lnSpc>
              <a:spcBef>
                <a:spcPts val="0"/>
              </a:spcBef>
              <a:spcAft>
                <a:spcPts val="0"/>
              </a:spcAft>
              <a:buClr>
                <a:srgbClr val="000000"/>
              </a:buClr>
              <a:buSzPts val="1008"/>
              <a:buFont typeface="Arial"/>
              <a:buNone/>
            </a:pPr>
            <a:r>
              <a:rPr b="1" i="0" lang="en" sz="1007" u="none" cap="none" strike="noStrike">
                <a:solidFill>
                  <a:srgbClr val="000000"/>
                </a:solidFill>
                <a:latin typeface="Comfortaa"/>
                <a:ea typeface="Comfortaa"/>
                <a:cs typeface="Comfortaa"/>
                <a:sym typeface="Comfortaa"/>
              </a:rPr>
              <a:t>PONTIFICIA UNIVERSIDAD CATÓLICA DEL PERÚ</a:t>
            </a:r>
            <a:endParaRPr b="1" i="0" sz="1007" u="none" cap="none" strike="noStrike">
              <a:solidFill>
                <a:srgbClr val="000000"/>
              </a:solidFill>
              <a:latin typeface="Comfortaa"/>
              <a:ea typeface="Comfortaa"/>
              <a:cs typeface="Comfortaa"/>
              <a:sym typeface="Comfortaa"/>
            </a:endParaRPr>
          </a:p>
        </p:txBody>
      </p:sp>
      <p:sp>
        <p:nvSpPr>
          <p:cNvPr id="68" name="Google Shape;68;p14"/>
          <p:cNvSpPr txBox="1"/>
          <p:nvPr/>
        </p:nvSpPr>
        <p:spPr>
          <a:xfrm>
            <a:off x="330800" y="1052250"/>
            <a:ext cx="3922200" cy="374100"/>
          </a:xfrm>
          <a:prstGeom prst="rect">
            <a:avLst/>
          </a:prstGeom>
          <a:noFill/>
          <a:ln cap="flat" cmpd="sng" w="9525">
            <a:solidFill>
              <a:srgbClr val="FFFFFF"/>
            </a:solidFill>
            <a:prstDash val="solid"/>
            <a:round/>
            <a:headEnd len="sm" w="sm" type="none"/>
            <a:tailEnd len="sm" w="sm" type="none"/>
          </a:ln>
        </p:spPr>
        <p:txBody>
          <a:bodyPr anchorCtr="0" anchor="t" bIns="65825" lIns="65825" spcFirstLastPara="1" rIns="65825" wrap="square" tIns="65825">
            <a:spAutoFit/>
          </a:bodyPr>
          <a:lstStyle/>
          <a:p>
            <a:pPr indent="0" lvl="0" marL="0" marR="0" rtl="0" algn="ctr">
              <a:lnSpc>
                <a:spcPct val="100000"/>
              </a:lnSpc>
              <a:spcBef>
                <a:spcPts val="0"/>
              </a:spcBef>
              <a:spcAft>
                <a:spcPts val="0"/>
              </a:spcAft>
              <a:buClr>
                <a:srgbClr val="000000"/>
              </a:buClr>
              <a:buSzPts val="783"/>
              <a:buFont typeface="Arial"/>
              <a:buNone/>
            </a:pPr>
            <a:r>
              <a:rPr b="1" i="0" lang="en" sz="782" u="none" cap="none" strike="noStrike">
                <a:solidFill>
                  <a:srgbClr val="757575"/>
                </a:solidFill>
                <a:latin typeface="Comfortaa"/>
                <a:ea typeface="Comfortaa"/>
                <a:cs typeface="Comfortaa"/>
                <a:sym typeface="Comfortaa"/>
              </a:rPr>
              <a:t>DIPLOMADO EN DESARROLLO DE APLICACIONES CON INTELIGENCIA ARTIFICIAL</a:t>
            </a:r>
            <a:endParaRPr b="1" i="0" sz="707" u="none" cap="none" strike="noStrike">
              <a:solidFill>
                <a:srgbClr val="757575"/>
              </a:solidFill>
              <a:latin typeface="Comfortaa"/>
              <a:ea typeface="Comfortaa"/>
              <a:cs typeface="Comfortaa"/>
              <a:sym typeface="Comfortaa"/>
            </a:endParaRPr>
          </a:p>
        </p:txBody>
      </p:sp>
      <p:sp>
        <p:nvSpPr>
          <p:cNvPr id="69" name="Google Shape;69;p14"/>
          <p:cNvSpPr txBox="1"/>
          <p:nvPr/>
        </p:nvSpPr>
        <p:spPr>
          <a:xfrm>
            <a:off x="330925" y="1530650"/>
            <a:ext cx="3922200" cy="230400"/>
          </a:xfrm>
          <a:prstGeom prst="rect">
            <a:avLst/>
          </a:prstGeom>
          <a:noFill/>
          <a:ln cap="flat" cmpd="sng" w="9525">
            <a:solidFill>
              <a:srgbClr val="FFFFFF"/>
            </a:solidFill>
            <a:prstDash val="solid"/>
            <a:round/>
            <a:headEnd len="sm" w="sm" type="none"/>
            <a:tailEnd len="sm" w="sm" type="none"/>
          </a:ln>
        </p:spPr>
        <p:txBody>
          <a:bodyPr anchorCtr="0" anchor="t" bIns="65825" lIns="65825" spcFirstLastPara="1" rIns="65825" wrap="square" tIns="65825">
            <a:spAutoFit/>
          </a:bodyPr>
          <a:lstStyle/>
          <a:p>
            <a:pPr indent="0" lvl="0" marL="0" marR="0" rtl="0" algn="ctr">
              <a:lnSpc>
                <a:spcPct val="100000"/>
              </a:lnSpc>
              <a:spcBef>
                <a:spcPts val="0"/>
              </a:spcBef>
              <a:spcAft>
                <a:spcPts val="0"/>
              </a:spcAft>
              <a:buClr>
                <a:srgbClr val="000000"/>
              </a:buClr>
              <a:buSzPts val="632"/>
              <a:buFont typeface="Arial"/>
              <a:buNone/>
            </a:pPr>
            <a:r>
              <a:rPr b="1" i="0" lang="en" sz="632" u="none" cap="none" strike="noStrike">
                <a:solidFill>
                  <a:srgbClr val="757575"/>
                </a:solidFill>
                <a:latin typeface="Comfortaa"/>
                <a:ea typeface="Comfortaa"/>
                <a:cs typeface="Comfortaa"/>
                <a:sym typeface="Comfortaa"/>
              </a:rPr>
              <a:t>PROYECTO FINAL DE CURSO :</a:t>
            </a:r>
            <a:endParaRPr b="1" i="0" sz="557" u="none" cap="none" strike="noStrike">
              <a:solidFill>
                <a:srgbClr val="757575"/>
              </a:solidFill>
              <a:latin typeface="Comfortaa"/>
              <a:ea typeface="Comfortaa"/>
              <a:cs typeface="Comfortaa"/>
              <a:sym typeface="Comfortaa"/>
            </a:endParaRPr>
          </a:p>
        </p:txBody>
      </p:sp>
      <p:sp>
        <p:nvSpPr>
          <p:cNvPr id="70" name="Google Shape;70;p14"/>
          <p:cNvSpPr txBox="1"/>
          <p:nvPr/>
        </p:nvSpPr>
        <p:spPr>
          <a:xfrm>
            <a:off x="306350" y="2552975"/>
            <a:ext cx="3971100" cy="245700"/>
          </a:xfrm>
          <a:prstGeom prst="rect">
            <a:avLst/>
          </a:prstGeom>
          <a:noFill/>
          <a:ln>
            <a:noFill/>
          </a:ln>
        </p:spPr>
        <p:txBody>
          <a:bodyPr anchorCtr="0" anchor="t" bIns="65825" lIns="65825" spcFirstLastPara="1" rIns="65825" wrap="square" tIns="65825">
            <a:spAutoFit/>
          </a:bodyPr>
          <a:lstStyle/>
          <a:p>
            <a:pPr indent="0" lvl="0" marL="0" marR="0" rtl="0" algn="l">
              <a:lnSpc>
                <a:spcPct val="100000"/>
              </a:lnSpc>
              <a:spcBef>
                <a:spcPts val="0"/>
              </a:spcBef>
              <a:spcAft>
                <a:spcPts val="0"/>
              </a:spcAft>
              <a:buClr>
                <a:srgbClr val="000000"/>
              </a:buClr>
              <a:buSzPts val="933"/>
              <a:buFont typeface="Arial"/>
              <a:buNone/>
            </a:pPr>
            <a:r>
              <a:rPr b="1" i="0" lang="en" sz="732" u="none" cap="none" strike="noStrike">
                <a:solidFill>
                  <a:srgbClr val="757575"/>
                </a:solidFill>
                <a:latin typeface="Comfortaa"/>
                <a:ea typeface="Comfortaa"/>
                <a:cs typeface="Comfortaa"/>
                <a:sym typeface="Comfortaa"/>
              </a:rPr>
              <a:t>CURSO      :  </a:t>
            </a:r>
            <a:r>
              <a:rPr b="1" lang="en" sz="732">
                <a:solidFill>
                  <a:srgbClr val="757575"/>
                </a:solidFill>
                <a:latin typeface="Comfortaa"/>
                <a:ea typeface="Comfortaa"/>
                <a:cs typeface="Comfortaa"/>
                <a:sym typeface="Comfortaa"/>
              </a:rPr>
              <a:t>DESARROLLO EN APLICACIONES CON VISIÓN ARTIFICIAL</a:t>
            </a:r>
            <a:endParaRPr b="1" i="0" sz="732" u="none" cap="none" strike="noStrike">
              <a:solidFill>
                <a:srgbClr val="757575"/>
              </a:solidFill>
              <a:latin typeface="Comfortaa"/>
              <a:ea typeface="Comfortaa"/>
              <a:cs typeface="Comfortaa"/>
              <a:sym typeface="Comfortaa"/>
            </a:endParaRPr>
          </a:p>
        </p:txBody>
      </p:sp>
      <p:sp>
        <p:nvSpPr>
          <p:cNvPr id="71" name="Google Shape;71;p14"/>
          <p:cNvSpPr/>
          <p:nvPr/>
        </p:nvSpPr>
        <p:spPr>
          <a:xfrm>
            <a:off x="0" y="4699500"/>
            <a:ext cx="9144000" cy="474900"/>
          </a:xfrm>
          <a:prstGeom prst="rect">
            <a:avLst/>
          </a:prstGeom>
          <a:solidFill>
            <a:srgbClr val="CCD3E0"/>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pic>
        <p:nvPicPr>
          <p:cNvPr id="72" name="Google Shape;72;p14" title="Diseño sin título.png"/>
          <p:cNvPicPr preferRelativeResize="0"/>
          <p:nvPr/>
        </p:nvPicPr>
        <p:blipFill rotWithShape="1">
          <a:blip r:embed="rId4">
            <a:alphaModFix/>
          </a:blip>
          <a:srcRect b="6164" l="20624" r="28464" t="0"/>
          <a:stretch/>
        </p:blipFill>
        <p:spPr>
          <a:xfrm>
            <a:off x="4613850" y="0"/>
            <a:ext cx="4532573" cy="4699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78" name="Google Shape;78;p15"/>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79" name="Google Shape;79;p15"/>
          <p:cNvSpPr/>
          <p:nvPr/>
        </p:nvSpPr>
        <p:spPr>
          <a:xfrm>
            <a:off x="2502750" y="1911975"/>
            <a:ext cx="3971100" cy="681300"/>
          </a:xfrm>
          <a:prstGeom prst="roundRect">
            <a:avLst>
              <a:gd fmla="val 21570" name="adj"/>
            </a:avLst>
          </a:prstGeom>
          <a:solidFill>
            <a:srgbClr val="BFC8D9"/>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Clr>
                <a:schemeClr val="dk1"/>
              </a:buClr>
              <a:buSzPts val="1125"/>
              <a:buFont typeface="Arial"/>
              <a:buNone/>
            </a:pPr>
            <a:r>
              <a:rPr b="1" lang="en" sz="1124">
                <a:solidFill>
                  <a:srgbClr val="0C265D"/>
                </a:solidFill>
                <a:latin typeface="Comfortaa"/>
                <a:ea typeface="Comfortaa"/>
                <a:cs typeface="Comfortaa"/>
                <a:sym typeface="Comfortaa"/>
              </a:rPr>
              <a:t>1. DEFINICIÓN DEL </a:t>
            </a:r>
            <a:r>
              <a:rPr b="1" lang="en" sz="1124">
                <a:solidFill>
                  <a:srgbClr val="D74154"/>
                </a:solidFill>
                <a:latin typeface="Comfortaa"/>
                <a:ea typeface="Comfortaa"/>
                <a:cs typeface="Comfortaa"/>
                <a:sym typeface="Comfortaa"/>
              </a:rPr>
              <a:t>PROBLEMA Y JUSTIFICACIÓN</a:t>
            </a:r>
            <a:endParaRPr b="1" sz="1124">
              <a:solidFill>
                <a:srgbClr val="D74154"/>
              </a:solidFill>
              <a:latin typeface="Comfortaa"/>
              <a:ea typeface="Comfortaa"/>
              <a:cs typeface="Comfortaa"/>
              <a:sym typeface="Comfortaa"/>
            </a:endParaRPr>
          </a:p>
        </p:txBody>
      </p:sp>
      <p:pic>
        <p:nvPicPr>
          <p:cNvPr id="80" name="Google Shape;80;p15"/>
          <p:cNvPicPr preferRelativeResize="0"/>
          <p:nvPr/>
        </p:nvPicPr>
        <p:blipFill>
          <a:blip r:embed="rId4">
            <a:alphaModFix/>
          </a:blip>
          <a:stretch>
            <a:fillRect/>
          </a:stretch>
        </p:blipFill>
        <p:spPr>
          <a:xfrm>
            <a:off x="0" y="0"/>
            <a:ext cx="9101150" cy="4699500"/>
          </a:xfrm>
          <a:prstGeom prst="rect">
            <a:avLst/>
          </a:prstGeom>
          <a:noFill/>
          <a:ln>
            <a:noFill/>
          </a:ln>
        </p:spPr>
      </p:pic>
      <p:sp>
        <p:nvSpPr>
          <p:cNvPr id="81" name="Google Shape;81;p15"/>
          <p:cNvSpPr/>
          <p:nvPr/>
        </p:nvSpPr>
        <p:spPr>
          <a:xfrm>
            <a:off x="2307900" y="2221675"/>
            <a:ext cx="4528200" cy="444000"/>
          </a:xfrm>
          <a:prstGeom prst="roundRect">
            <a:avLst>
              <a:gd fmla="val 21570" name="adj"/>
            </a:avLst>
          </a:prstGeom>
          <a:solidFill>
            <a:srgbClr val="BFC8D9"/>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Clr>
                <a:schemeClr val="dk1"/>
              </a:buClr>
              <a:buSzPts val="1100"/>
              <a:buFont typeface="Arial"/>
              <a:buNone/>
            </a:pPr>
            <a:r>
              <a:rPr b="1" lang="en" sz="1224">
                <a:solidFill>
                  <a:srgbClr val="0C265D"/>
                </a:solidFill>
                <a:latin typeface="Comfortaa"/>
                <a:ea typeface="Comfortaa"/>
                <a:cs typeface="Comfortaa"/>
                <a:sym typeface="Comfortaa"/>
              </a:rPr>
              <a:t>DEFINICIÓN DEL </a:t>
            </a:r>
            <a:r>
              <a:rPr b="1" lang="en" sz="1224">
                <a:solidFill>
                  <a:srgbClr val="D74154"/>
                </a:solidFill>
                <a:latin typeface="Comfortaa"/>
                <a:ea typeface="Comfortaa"/>
                <a:cs typeface="Comfortaa"/>
                <a:sym typeface="Comfortaa"/>
              </a:rPr>
              <a:t>PROBLEMA Y JUSTIFICACIÓN</a:t>
            </a:r>
            <a:endParaRPr b="0" i="0" sz="1149" u="none" cap="none" strike="noStrike">
              <a:solidFill>
                <a:srgbClr val="99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87" name="Google Shape;87;p16"/>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88" name="Google Shape;88;p16"/>
          <p:cNvSpPr txBox="1"/>
          <p:nvPr/>
        </p:nvSpPr>
        <p:spPr>
          <a:xfrm>
            <a:off x="424200" y="535025"/>
            <a:ext cx="8295600" cy="3756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 sz="1100">
                <a:solidFill>
                  <a:schemeClr val="dk1"/>
                </a:solidFill>
              </a:rPr>
              <a:t>La medición manual de las dimensiones corporales humanas (antropometría) es un proceso lento, invasivo y susceptible al error humano. En la industria moderna, la falta de automatización en este proceso genera cuellos de botella y pérdidas económicas significativas.</a:t>
            </a:r>
            <a:endParaRPr sz="1100">
              <a:solidFill>
                <a:schemeClr val="dk1"/>
              </a:solidFill>
            </a:endParaRPr>
          </a:p>
          <a:p>
            <a:pPr indent="0" lvl="0" marL="0" rtl="0" algn="just">
              <a:lnSpc>
                <a:spcPct val="115000"/>
              </a:lnSpc>
              <a:spcBef>
                <a:spcPts val="1200"/>
              </a:spcBef>
              <a:spcAft>
                <a:spcPts val="0"/>
              </a:spcAft>
              <a:buNone/>
            </a:pPr>
            <a:r>
              <a:rPr lang="en" sz="1100">
                <a:solidFill>
                  <a:schemeClr val="dk1"/>
                </a:solidFill>
              </a:rPr>
              <a:t>Este proyecto propone una solución basada en </a:t>
            </a:r>
            <a:r>
              <a:rPr b="1" lang="en" sz="1100">
                <a:solidFill>
                  <a:schemeClr val="dk1"/>
                </a:solidFill>
              </a:rPr>
              <a:t>Vision por Computador</a:t>
            </a:r>
            <a:r>
              <a:rPr lang="en" sz="1100">
                <a:solidFill>
                  <a:schemeClr val="dk1"/>
                </a:solidFill>
              </a:rPr>
              <a:t> para inferir medidas corporales exactas a partir de imágenes de siluetas, eliminando la necesidad de contacto físico o escáneres 3D costosos.</a:t>
            </a:r>
            <a:endParaRPr sz="1100">
              <a:solidFill>
                <a:schemeClr val="dk1"/>
              </a:solidFill>
            </a:endParaRPr>
          </a:p>
          <a:p>
            <a:pPr indent="0" lvl="0" marL="0" rtl="0" algn="l">
              <a:lnSpc>
                <a:spcPct val="115000"/>
              </a:lnSpc>
              <a:spcBef>
                <a:spcPts val="1400"/>
              </a:spcBef>
              <a:spcAft>
                <a:spcPts val="0"/>
              </a:spcAft>
              <a:buNone/>
            </a:pPr>
            <a:r>
              <a:rPr b="1" lang="en" sz="1300">
                <a:solidFill>
                  <a:schemeClr val="dk1"/>
                </a:solidFill>
              </a:rPr>
              <a:t>1.1. Aplicabilidad Multisectorial</a:t>
            </a:r>
            <a:endParaRPr b="1" sz="1300">
              <a:solidFill>
                <a:schemeClr val="dk1"/>
              </a:solidFill>
            </a:endParaRPr>
          </a:p>
          <a:p>
            <a:pPr indent="0" lvl="0" marL="0" rtl="0" algn="l">
              <a:lnSpc>
                <a:spcPct val="115000"/>
              </a:lnSpc>
              <a:spcBef>
                <a:spcPts val="1200"/>
              </a:spcBef>
              <a:spcAft>
                <a:spcPts val="0"/>
              </a:spcAft>
              <a:buNone/>
            </a:pPr>
            <a:r>
              <a:rPr lang="en" sz="1100">
                <a:solidFill>
                  <a:schemeClr val="dk1"/>
                </a:solidFill>
              </a:rPr>
              <a:t>La solución desarrollada es transversal y aplicable a múltiples sectores industriales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Retail y E-commerce (Moda):</a:t>
            </a:r>
            <a:r>
              <a:rPr lang="en" sz="1100">
                <a:solidFill>
                  <a:schemeClr val="dk1"/>
                </a:solidFill>
              </a:rPr>
              <a:t> Implementación de "probadores virtuales" para reducir la tasa de devoluciones por talla incorrecta en compras online.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Salud y Ergonomía:</a:t>
            </a:r>
            <a:r>
              <a:rPr lang="en" sz="1100">
                <a:solidFill>
                  <a:schemeClr val="dk1"/>
                </a:solidFill>
              </a:rPr>
              <a:t> Monitoreo no invasivo de pacientes (índice de masa corporal, evolución física) y diseño de prótesis o mobiliario ergonómico personalizado.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Seguridad Industrial (HSE):</a:t>
            </a:r>
            <a:r>
              <a:rPr lang="en" sz="1100">
                <a:solidFill>
                  <a:schemeClr val="dk1"/>
                </a:solidFill>
              </a:rPr>
              <a:t> Asignación automática de tallas para Equipos de Protección Personal (EPP) como arneses, chalecos y uniformes en plantas industriales o minería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Deporte y Fitness:</a:t>
            </a:r>
            <a:r>
              <a:rPr lang="en" sz="1100">
                <a:solidFill>
                  <a:schemeClr val="dk1"/>
                </a:solidFill>
              </a:rPr>
              <a:t> Seguimiento del progreso físico de atletas mediante la evolución de sus medidas corporales sin necesidad de calibradores manuales .</a:t>
            </a:r>
            <a:endParaRPr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7"/>
          <p:cNvPicPr preferRelativeResize="0"/>
          <p:nvPr/>
        </p:nvPicPr>
        <p:blipFill>
          <a:blip r:embed="rId3">
            <a:alphaModFix/>
          </a:blip>
          <a:stretch>
            <a:fillRect/>
          </a:stretch>
        </p:blipFill>
        <p:spPr>
          <a:xfrm>
            <a:off x="0" y="0"/>
            <a:ext cx="9144001" cy="4699500"/>
          </a:xfrm>
          <a:prstGeom prst="rect">
            <a:avLst/>
          </a:prstGeom>
          <a:noFill/>
          <a:ln>
            <a:noFill/>
          </a:ln>
        </p:spPr>
      </p:pic>
      <p:sp>
        <p:nvSpPr>
          <p:cNvPr id="94" name="Google Shape;94;p17"/>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95" name="Google Shape;95;p17"/>
          <p:cNvPicPr preferRelativeResize="0"/>
          <p:nvPr/>
        </p:nvPicPr>
        <p:blipFill rotWithShape="1">
          <a:blip r:embed="rId4">
            <a:alphaModFix/>
          </a:blip>
          <a:srcRect b="0" l="0" r="0" t="0"/>
          <a:stretch/>
        </p:blipFill>
        <p:spPr>
          <a:xfrm>
            <a:off x="165610" y="4813070"/>
            <a:ext cx="748762" cy="247874"/>
          </a:xfrm>
          <a:prstGeom prst="rect">
            <a:avLst/>
          </a:prstGeom>
          <a:noFill/>
          <a:ln>
            <a:noFill/>
          </a:ln>
        </p:spPr>
      </p:pic>
      <p:sp>
        <p:nvSpPr>
          <p:cNvPr id="96" name="Google Shape;96;p17"/>
          <p:cNvSpPr/>
          <p:nvPr/>
        </p:nvSpPr>
        <p:spPr>
          <a:xfrm>
            <a:off x="3363000" y="2018950"/>
            <a:ext cx="2418000" cy="395100"/>
          </a:xfrm>
          <a:prstGeom prst="roundRect">
            <a:avLst>
              <a:gd fmla="val 21570" name="adj"/>
            </a:avLst>
          </a:prstGeom>
          <a:solidFill>
            <a:srgbClr val="BFC8D9"/>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chemeClr val="dk1"/>
              </a:buClr>
              <a:buSzPts val="1125"/>
              <a:buFont typeface="Arial"/>
              <a:buNone/>
            </a:pPr>
            <a:r>
              <a:rPr b="1" lang="en" sz="1124">
                <a:solidFill>
                  <a:srgbClr val="D74154"/>
                </a:solidFill>
                <a:latin typeface="Comfortaa"/>
                <a:ea typeface="Comfortaa"/>
                <a:cs typeface="Comfortaa"/>
                <a:sym typeface="Comfortaa"/>
              </a:rPr>
              <a:t>DATASET</a:t>
            </a:r>
            <a:endParaRPr b="0" i="0" sz="1149" u="none" cap="none" strike="noStrike">
              <a:solidFill>
                <a:srgbClr val="D74154"/>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sp>
        <p:nvSpPr>
          <p:cNvPr id="102" name="Google Shape;102;p18"/>
          <p:cNvSpPr txBox="1"/>
          <p:nvPr/>
        </p:nvSpPr>
        <p:spPr>
          <a:xfrm>
            <a:off x="165600" y="325650"/>
            <a:ext cx="4483500" cy="17031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0" lvl="0" marL="0" marR="0" rtl="0" algn="ctr">
              <a:lnSpc>
                <a:spcPct val="100000"/>
              </a:lnSpc>
              <a:spcBef>
                <a:spcPts val="0"/>
              </a:spcBef>
              <a:spcAft>
                <a:spcPts val="0"/>
              </a:spcAft>
              <a:buClr>
                <a:srgbClr val="000000"/>
              </a:buClr>
              <a:buSzPts val="1200"/>
              <a:buFont typeface="Arial"/>
              <a:buNone/>
            </a:pPr>
            <a:r>
              <a:rPr b="1" i="0" lang="en" sz="1000" u="none" cap="none" strike="noStrike">
                <a:solidFill>
                  <a:srgbClr val="3B3B3B"/>
                </a:solidFill>
                <a:latin typeface="Comfortaa"/>
                <a:ea typeface="Comfortaa"/>
                <a:cs typeface="Comfortaa"/>
                <a:sym typeface="Comfortaa"/>
              </a:rPr>
              <a:t>ANALIZAREMOS  </a:t>
            </a:r>
            <a:endParaRPr b="1" i="0" sz="1000" u="none" cap="none" strike="noStrike">
              <a:solidFill>
                <a:srgbClr val="3B3B3B"/>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1200"/>
              <a:buFont typeface="Arial"/>
              <a:buNone/>
            </a:pPr>
            <a:r>
              <a:t/>
            </a:r>
            <a:endParaRPr b="1" i="0" sz="1000" u="none" cap="none" strike="noStrike">
              <a:solidFill>
                <a:srgbClr val="3B3B3B"/>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500"/>
              <a:buFont typeface="Arial"/>
              <a:buNone/>
            </a:pPr>
            <a:r>
              <a:rPr b="1" i="0" lang="en" sz="2300" u="none" cap="none" strike="noStrike">
                <a:solidFill>
                  <a:srgbClr val="990000"/>
                </a:solidFill>
                <a:latin typeface="Comfortaa"/>
                <a:ea typeface="Comfortaa"/>
                <a:cs typeface="Comfortaa"/>
                <a:sym typeface="Comfortaa"/>
              </a:rPr>
              <a:t>   8000 </a:t>
            </a:r>
            <a:r>
              <a:rPr b="1" i="0" lang="en" sz="700" u="none" cap="none" strike="noStrike">
                <a:solidFill>
                  <a:srgbClr val="3B3B3B"/>
                </a:solidFill>
                <a:latin typeface="Comfortaa"/>
                <a:ea typeface="Comfortaa"/>
                <a:cs typeface="Comfortaa"/>
                <a:sym typeface="Comfortaa"/>
              </a:rPr>
              <a:t>SILUETAS FRONTALES Y LATERALES DE MÁS</a:t>
            </a:r>
            <a:endParaRPr b="1" i="0" sz="700" u="none" cap="none" strike="noStrike">
              <a:solidFill>
                <a:srgbClr val="3B3B3B"/>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500"/>
              <a:buFont typeface="Arial"/>
              <a:buNone/>
            </a:pPr>
            <a:r>
              <a:rPr b="1" i="0" lang="en" sz="700" u="none" cap="none" strike="noStrike">
                <a:solidFill>
                  <a:srgbClr val="3B3B3B"/>
                </a:solidFill>
                <a:latin typeface="Comfortaa"/>
                <a:ea typeface="Comfortaa"/>
                <a:cs typeface="Comfortaa"/>
                <a:sym typeface="Comfortaa"/>
              </a:rPr>
              <a:t>        </a:t>
            </a:r>
            <a:r>
              <a:rPr b="1" i="0" lang="en" sz="2300" u="none" cap="none" strike="noStrike">
                <a:solidFill>
                  <a:srgbClr val="990000"/>
                </a:solidFill>
                <a:latin typeface="Comfortaa"/>
                <a:ea typeface="Comfortaa"/>
                <a:cs typeface="Comfortaa"/>
                <a:sym typeface="Comfortaa"/>
              </a:rPr>
              <a:t>2500 </a:t>
            </a:r>
            <a:r>
              <a:rPr b="1" i="0" lang="en" sz="700" u="none" cap="none" strike="noStrike">
                <a:solidFill>
                  <a:srgbClr val="3B3B3B"/>
                </a:solidFill>
                <a:latin typeface="Comfortaa"/>
                <a:ea typeface="Comfortaa"/>
                <a:cs typeface="Comfortaa"/>
                <a:sym typeface="Comfortaa"/>
              </a:rPr>
              <a:t>DE SUJETOS REALES, JUNTO CON ALTURA, PESO Y</a:t>
            </a:r>
            <a:endParaRPr b="1" i="0" sz="700" u="none" cap="none" strike="noStrike">
              <a:solidFill>
                <a:srgbClr val="3B3B3B"/>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2500"/>
              <a:buFont typeface="Arial"/>
              <a:buNone/>
            </a:pPr>
            <a:r>
              <a:rPr b="1" i="0" lang="en" sz="700" u="none" cap="none" strike="noStrike">
                <a:solidFill>
                  <a:srgbClr val="3B3B3B"/>
                </a:solidFill>
                <a:latin typeface="Comfortaa"/>
                <a:ea typeface="Comfortaa"/>
                <a:cs typeface="Comfortaa"/>
                <a:sym typeface="Comfortaa"/>
              </a:rPr>
              <a:t>        </a:t>
            </a:r>
            <a:r>
              <a:rPr b="1" i="0" lang="en" sz="2300" u="none" cap="none" strike="noStrike">
                <a:solidFill>
                  <a:srgbClr val="990000"/>
                </a:solidFill>
                <a:latin typeface="Comfortaa"/>
                <a:ea typeface="Comfortaa"/>
                <a:cs typeface="Comfortaa"/>
                <a:sym typeface="Comfortaa"/>
              </a:rPr>
              <a:t>14      </a:t>
            </a:r>
            <a:r>
              <a:rPr b="1" i="0" lang="en" sz="700" u="none" cap="none" strike="noStrike">
                <a:solidFill>
                  <a:srgbClr val="3B3B3B"/>
                </a:solidFill>
                <a:latin typeface="Comfortaa"/>
                <a:ea typeface="Comfortaa"/>
                <a:cs typeface="Comfortaa"/>
                <a:sym typeface="Comfortaa"/>
              </a:rPr>
              <a:t>MEDIDAS CORPORALES</a:t>
            </a:r>
            <a:endParaRPr b="1" i="0" sz="700" u="none" cap="none" strike="noStrike">
              <a:solidFill>
                <a:srgbClr val="3B3B3B"/>
              </a:solidFill>
              <a:latin typeface="Comfortaa"/>
              <a:ea typeface="Comfortaa"/>
              <a:cs typeface="Comfortaa"/>
              <a:sym typeface="Comfortaa"/>
            </a:endParaRPr>
          </a:p>
          <a:p>
            <a:pPr indent="0" lvl="0" marL="0" marR="0" rtl="0" algn="ctr">
              <a:lnSpc>
                <a:spcPct val="100000"/>
              </a:lnSpc>
              <a:spcBef>
                <a:spcPts val="0"/>
              </a:spcBef>
              <a:spcAft>
                <a:spcPts val="0"/>
              </a:spcAft>
              <a:buClr>
                <a:srgbClr val="000000"/>
              </a:buClr>
              <a:buSzPts val="2500"/>
              <a:buFont typeface="Arial"/>
              <a:buNone/>
            </a:pPr>
            <a:r>
              <a:t/>
            </a:r>
            <a:endParaRPr b="1" i="0" sz="700" u="none" cap="none" strike="noStrike">
              <a:solidFill>
                <a:srgbClr val="3B3B3B"/>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800"/>
              <a:buFont typeface="Arial"/>
              <a:buNone/>
            </a:pPr>
            <a:r>
              <a:rPr b="1" i="0" lang="en" sz="600" u="none" cap="none" strike="noStrike">
                <a:solidFill>
                  <a:srgbClr val="3B3B3B"/>
                </a:solidFill>
                <a:latin typeface="Comfortaa"/>
                <a:ea typeface="Comfortaa"/>
                <a:cs typeface="Comfortaa"/>
                <a:sym typeface="Comfortaa"/>
              </a:rPr>
              <a:t>LINK : </a:t>
            </a:r>
            <a:r>
              <a:rPr b="1" i="0" lang="en" sz="600" u="sng" cap="none" strike="noStrike">
                <a:solidFill>
                  <a:schemeClr val="hlink"/>
                </a:solidFill>
                <a:latin typeface="Comfortaa"/>
                <a:ea typeface="Comfortaa"/>
                <a:cs typeface="Comfortaa"/>
                <a:sym typeface="Comfortaa"/>
                <a:hlinkClick r:id="rId3"/>
              </a:rPr>
              <a:t>BODYM</a:t>
            </a:r>
            <a:endParaRPr b="1" i="0" sz="600" u="none" cap="none" strike="noStrike">
              <a:solidFill>
                <a:srgbClr val="3B3B3B"/>
              </a:solidFill>
              <a:latin typeface="Comfortaa"/>
              <a:ea typeface="Comfortaa"/>
              <a:cs typeface="Comfortaa"/>
              <a:sym typeface="Comfortaa"/>
            </a:endParaRPr>
          </a:p>
        </p:txBody>
      </p:sp>
      <p:sp>
        <p:nvSpPr>
          <p:cNvPr id="103" name="Google Shape;103;p18"/>
          <p:cNvSpPr txBox="1"/>
          <p:nvPr/>
        </p:nvSpPr>
        <p:spPr>
          <a:xfrm>
            <a:off x="212775" y="2127825"/>
            <a:ext cx="4702800" cy="24726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0" lvl="0" marL="0" marR="0" rtl="0" algn="just">
              <a:lnSpc>
                <a:spcPct val="100000"/>
              </a:lnSpc>
              <a:spcBef>
                <a:spcPts val="0"/>
              </a:spcBef>
              <a:spcAft>
                <a:spcPts val="0"/>
              </a:spcAft>
              <a:buClr>
                <a:srgbClr val="000000"/>
              </a:buClr>
              <a:buSzPts val="900"/>
              <a:buFont typeface="Arial"/>
              <a:buNone/>
            </a:pPr>
            <a:r>
              <a:rPr b="1" i="0" lang="en" sz="800" u="none" cap="none" strike="noStrike">
                <a:solidFill>
                  <a:srgbClr val="0000FF"/>
                </a:solidFill>
                <a:latin typeface="Comfortaa"/>
                <a:ea typeface="Comfortaa"/>
                <a:cs typeface="Comfortaa"/>
                <a:sym typeface="Comfortaa"/>
              </a:rPr>
              <a:t>DATOS :</a:t>
            </a:r>
            <a:r>
              <a:rPr b="1" i="0" lang="en" sz="800" u="none" cap="none" strike="noStrike">
                <a:solidFill>
                  <a:srgbClr val="757575"/>
                </a:solidFill>
                <a:latin typeface="Comfortaa"/>
                <a:ea typeface="Comfortaa"/>
                <a:cs typeface="Comfortaa"/>
                <a:sym typeface="Comfortaa"/>
              </a:rPr>
              <a:t> </a:t>
            </a:r>
            <a:r>
              <a:rPr b="1" i="0" lang="en" sz="800" u="none" cap="none" strike="noStrike">
                <a:solidFill>
                  <a:schemeClr val="dk1"/>
                </a:solidFill>
                <a:latin typeface="Comfortaa"/>
                <a:ea typeface="Comfortaa"/>
                <a:cs typeface="Comfortaa"/>
                <a:sym typeface="Comfortaa"/>
              </a:rPr>
              <a:t>IMÁGENES DE PERSONAS REALES PROCESADAS A SILUETAS BLANCO Y NEGRO (VISTA FRONTAL Y LATERAL) DE </a:t>
            </a:r>
            <a:r>
              <a:rPr b="1" i="0" lang="en" sz="800" u="none" cap="none" strike="noStrike">
                <a:solidFill>
                  <a:srgbClr val="D74154"/>
                </a:solidFill>
                <a:latin typeface="Comfortaa"/>
                <a:ea typeface="Comfortaa"/>
                <a:cs typeface="Comfortaa"/>
                <a:sym typeface="Comfortaa"/>
              </a:rPr>
              <a:t>720X240 PIXELES</a:t>
            </a:r>
            <a:r>
              <a:rPr b="1" i="0" lang="en" sz="800" u="none" cap="none" strike="noStrike">
                <a:solidFill>
                  <a:schemeClr val="dk1"/>
                </a:solidFill>
                <a:latin typeface="Comfortaa"/>
                <a:ea typeface="Comfortaa"/>
                <a:cs typeface="Comfortaa"/>
                <a:sym typeface="Comfortaa"/>
              </a:rPr>
              <a:t>.</a:t>
            </a:r>
            <a:endParaRPr b="1" i="0" sz="800" u="none" cap="none" strike="noStrike">
              <a:solidFill>
                <a:schemeClr val="dk1"/>
              </a:solidFill>
              <a:latin typeface="Comfortaa"/>
              <a:ea typeface="Comfortaa"/>
              <a:cs typeface="Comfortaa"/>
              <a:sym typeface="Comfortaa"/>
            </a:endParaRPr>
          </a:p>
          <a:p>
            <a:pPr indent="0" lvl="0" marL="0" marR="0" rtl="0" algn="just">
              <a:lnSpc>
                <a:spcPct val="100000"/>
              </a:lnSpc>
              <a:spcBef>
                <a:spcPts val="0"/>
              </a:spcBef>
              <a:spcAft>
                <a:spcPts val="0"/>
              </a:spcAft>
              <a:buClr>
                <a:srgbClr val="000000"/>
              </a:buClr>
              <a:buSzPts val="900"/>
              <a:buFont typeface="Arial"/>
              <a:buNone/>
            </a:pPr>
            <a:r>
              <a:t/>
            </a:r>
            <a:endParaRPr b="1" i="0" sz="800" u="none" cap="none" strike="noStrike">
              <a:solidFill>
                <a:schemeClr val="dk1"/>
              </a:solidFill>
              <a:latin typeface="Comfortaa"/>
              <a:ea typeface="Comfortaa"/>
              <a:cs typeface="Comfortaa"/>
              <a:sym typeface="Comfortaa"/>
            </a:endParaRPr>
          </a:p>
          <a:p>
            <a:pPr indent="0" lvl="0" marL="0" marR="0" rtl="0" algn="just">
              <a:lnSpc>
                <a:spcPct val="100000"/>
              </a:lnSpc>
              <a:spcBef>
                <a:spcPts val="0"/>
              </a:spcBef>
              <a:spcAft>
                <a:spcPts val="0"/>
              </a:spcAft>
              <a:buClr>
                <a:srgbClr val="000000"/>
              </a:buClr>
              <a:buSzPts val="900"/>
              <a:buFont typeface="Arial"/>
              <a:buNone/>
            </a:pPr>
            <a:r>
              <a:rPr b="1" i="0" lang="en" sz="800" u="none" cap="none" strike="noStrike">
                <a:solidFill>
                  <a:srgbClr val="0000FF"/>
                </a:solidFill>
                <a:latin typeface="Comfortaa"/>
                <a:ea typeface="Comfortaa"/>
                <a:cs typeface="Comfortaa"/>
                <a:sym typeface="Comfortaa"/>
              </a:rPr>
              <a:t>TIPO DE DATOS :</a:t>
            </a:r>
            <a:endParaRPr b="1" i="0" sz="800" u="none" cap="none" strike="noStrike">
              <a:solidFill>
                <a:srgbClr val="0000FF"/>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i="0" lang="en" sz="800" u="none" cap="none" strike="noStrike">
                <a:solidFill>
                  <a:schemeClr val="dk1"/>
                </a:solidFill>
                <a:latin typeface="Comfortaa"/>
                <a:ea typeface="Comfortaa"/>
                <a:cs typeface="Comfortaa"/>
                <a:sym typeface="Comfortaa"/>
              </a:rPr>
              <a:t>TRAIN (ENTRENAMIENTO)</a:t>
            </a:r>
            <a:endParaRPr b="1" i="0" sz="800" u="none" cap="none" strike="noStrike">
              <a:solidFill>
                <a:schemeClr val="dk1"/>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i="0" lang="en" sz="800" u="none" cap="none" strike="noStrike">
                <a:solidFill>
                  <a:schemeClr val="dk1"/>
                </a:solidFill>
                <a:latin typeface="Comfortaa"/>
                <a:ea typeface="Comfortaa"/>
                <a:cs typeface="Comfortaa"/>
                <a:sym typeface="Comfortaa"/>
              </a:rPr>
              <a:t>TEST A (IMÁGENES DE MAYOR RESOLUCIÓN)</a:t>
            </a:r>
            <a:endParaRPr b="1" i="0" sz="800" u="none" cap="none" strike="noStrike">
              <a:solidFill>
                <a:schemeClr val="dk1"/>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i="0" lang="en" sz="800" u="none" cap="none" strike="noStrike">
                <a:solidFill>
                  <a:schemeClr val="dk1"/>
                </a:solidFill>
                <a:latin typeface="Comfortaa"/>
                <a:ea typeface="Comfortaa"/>
                <a:cs typeface="Comfortaa"/>
                <a:sym typeface="Comfortaa"/>
              </a:rPr>
              <a:t>TEST B (IMÁGENES DE BAJA RESOLUCIÓN)</a:t>
            </a:r>
            <a:endParaRPr b="1" i="0" sz="800" u="none" cap="none" strike="noStrike">
              <a:solidFill>
                <a:schemeClr val="dk1"/>
              </a:solidFill>
              <a:latin typeface="Comfortaa"/>
              <a:ea typeface="Comfortaa"/>
              <a:cs typeface="Comfortaa"/>
              <a:sym typeface="Comfortaa"/>
            </a:endParaRPr>
          </a:p>
          <a:p>
            <a:pPr indent="0" lvl="0" marL="0" marR="0" rtl="0" algn="just">
              <a:lnSpc>
                <a:spcPct val="100000"/>
              </a:lnSpc>
              <a:spcBef>
                <a:spcPts val="0"/>
              </a:spcBef>
              <a:spcAft>
                <a:spcPts val="0"/>
              </a:spcAft>
              <a:buClr>
                <a:srgbClr val="000000"/>
              </a:buClr>
              <a:buSzPts val="900"/>
              <a:buFont typeface="Arial"/>
              <a:buNone/>
            </a:pPr>
            <a:r>
              <a:t/>
            </a:r>
            <a:endParaRPr b="1" i="0" sz="800" u="none" cap="none" strike="noStrike">
              <a:solidFill>
                <a:schemeClr val="dk1"/>
              </a:solidFill>
              <a:latin typeface="Comfortaa"/>
              <a:ea typeface="Comfortaa"/>
              <a:cs typeface="Comfortaa"/>
              <a:sym typeface="Comfortaa"/>
            </a:endParaRPr>
          </a:p>
          <a:p>
            <a:pPr indent="0" lvl="0" marL="0" marR="0" rtl="0" algn="just">
              <a:lnSpc>
                <a:spcPct val="100000"/>
              </a:lnSpc>
              <a:spcBef>
                <a:spcPts val="0"/>
              </a:spcBef>
              <a:spcAft>
                <a:spcPts val="0"/>
              </a:spcAft>
              <a:buClr>
                <a:srgbClr val="000000"/>
              </a:buClr>
              <a:buSzPts val="900"/>
              <a:buFont typeface="Arial"/>
              <a:buNone/>
            </a:pPr>
            <a:r>
              <a:rPr b="1" i="0" lang="en" sz="800" u="none" cap="none" strike="noStrike">
                <a:solidFill>
                  <a:srgbClr val="0000FF"/>
                </a:solidFill>
                <a:latin typeface="Comfortaa"/>
                <a:ea typeface="Comfortaa"/>
                <a:cs typeface="Comfortaa"/>
                <a:sym typeface="Comfortaa"/>
              </a:rPr>
              <a:t>ARCHIVOS CSV : </a:t>
            </a:r>
            <a:endParaRPr b="1" i="0" sz="800" u="none" cap="none" strike="noStrike">
              <a:solidFill>
                <a:srgbClr val="0000FF"/>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i="0" lang="en" sz="800" u="none" cap="none" strike="noStrike">
                <a:solidFill>
                  <a:srgbClr val="990000"/>
                </a:solidFill>
                <a:latin typeface="Comfortaa"/>
                <a:ea typeface="Comfortaa"/>
                <a:cs typeface="Comfortaa"/>
                <a:sym typeface="Comfortaa"/>
              </a:rPr>
              <a:t>RELACIÓN :</a:t>
            </a:r>
            <a:r>
              <a:rPr b="1" i="0" lang="en" sz="800" u="none" cap="none" strike="noStrike">
                <a:solidFill>
                  <a:schemeClr val="dk1"/>
                </a:solidFill>
                <a:latin typeface="Comfortaa"/>
                <a:ea typeface="Comfortaa"/>
                <a:cs typeface="Comfortaa"/>
                <a:sym typeface="Comfortaa"/>
              </a:rPr>
              <a:t> SUBJECT_ID</a:t>
            </a:r>
            <a:endParaRPr b="1" i="0" sz="800" u="none" cap="none" strike="noStrike">
              <a:solidFill>
                <a:schemeClr val="dk1"/>
              </a:solidFill>
              <a:latin typeface="Comfortaa"/>
              <a:ea typeface="Comfortaa"/>
              <a:cs typeface="Comfortaa"/>
              <a:sym typeface="Comfortaa"/>
            </a:endParaRPr>
          </a:p>
          <a:p>
            <a:pPr indent="-279400" lvl="0" marL="457200" marR="0" rtl="0" algn="just">
              <a:lnSpc>
                <a:spcPct val="100000"/>
              </a:lnSpc>
              <a:spcBef>
                <a:spcPts val="0"/>
              </a:spcBef>
              <a:spcAft>
                <a:spcPts val="0"/>
              </a:spcAft>
              <a:buClr>
                <a:srgbClr val="990000"/>
              </a:buClr>
              <a:buSzPts val="800"/>
              <a:buFont typeface="Comfortaa"/>
              <a:buChar char="●"/>
            </a:pPr>
            <a:r>
              <a:rPr b="1" i="0" lang="en" sz="800" u="none" cap="none" strike="noStrike">
                <a:solidFill>
                  <a:srgbClr val="990000"/>
                </a:solidFill>
                <a:latin typeface="Comfortaa"/>
                <a:ea typeface="Comfortaa"/>
                <a:cs typeface="Comfortaa"/>
                <a:sym typeface="Comfortaa"/>
              </a:rPr>
              <a:t>MEASUREMENT.CSV : </a:t>
            </a:r>
            <a:r>
              <a:rPr b="1" i="0" lang="en" sz="800" u="none" cap="none" strike="noStrike">
                <a:solidFill>
                  <a:schemeClr val="dk1"/>
                </a:solidFill>
                <a:latin typeface="Comfortaa"/>
                <a:ea typeface="Comfortaa"/>
                <a:cs typeface="Comfortaa"/>
                <a:sym typeface="Comfortaa"/>
              </a:rPr>
              <a:t>CONTIENE 14 MEDIDAS CORPORALES DE PERSONAS.</a:t>
            </a:r>
            <a:endParaRPr b="1" i="0" sz="800" u="none" cap="none" strike="noStrike">
              <a:solidFill>
                <a:schemeClr val="dk1"/>
              </a:solidFill>
              <a:latin typeface="Comfortaa"/>
              <a:ea typeface="Comfortaa"/>
              <a:cs typeface="Comfortaa"/>
              <a:sym typeface="Comfortaa"/>
            </a:endParaRPr>
          </a:p>
          <a:p>
            <a:pPr indent="-279400" lvl="0" marL="457200" marR="0" rtl="0" algn="l">
              <a:lnSpc>
                <a:spcPct val="100000"/>
              </a:lnSpc>
              <a:spcBef>
                <a:spcPts val="0"/>
              </a:spcBef>
              <a:spcAft>
                <a:spcPts val="0"/>
              </a:spcAft>
              <a:buClr>
                <a:schemeClr val="dk1"/>
              </a:buClr>
              <a:buSzPts val="800"/>
              <a:buFont typeface="Comfortaa"/>
              <a:buChar char="●"/>
            </a:pPr>
            <a:r>
              <a:rPr b="1" i="0" lang="en" sz="800" u="none" cap="none" strike="noStrike">
                <a:solidFill>
                  <a:srgbClr val="990000"/>
                </a:solidFill>
                <a:latin typeface="Comfortaa"/>
                <a:ea typeface="Comfortaa"/>
                <a:cs typeface="Comfortaa"/>
                <a:sym typeface="Comfortaa"/>
              </a:rPr>
              <a:t>HWG_METADATA.CSV : </a:t>
            </a:r>
            <a:r>
              <a:rPr b="1" i="0" lang="en" sz="800" u="none" cap="none" strike="noStrike">
                <a:solidFill>
                  <a:schemeClr val="dk1"/>
                </a:solidFill>
                <a:latin typeface="Comfortaa"/>
                <a:ea typeface="Comfortaa"/>
                <a:cs typeface="Comfortaa"/>
                <a:sym typeface="Comfortaa"/>
              </a:rPr>
              <a:t>DATOS DE SEXO, ALTURA (CM) Y PESO (KG). SE UTILIZARÁN ALTURA Y PESO COMO INPUTS ADICIONALES.</a:t>
            </a:r>
            <a:endParaRPr b="1" i="0" sz="800" u="none" cap="none" strike="noStrike">
              <a:solidFill>
                <a:schemeClr val="dk1"/>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i="0" lang="en" sz="800" u="none" cap="none" strike="noStrike">
                <a:solidFill>
                  <a:srgbClr val="990000"/>
                </a:solidFill>
                <a:latin typeface="Comfortaa"/>
                <a:ea typeface="Comfortaa"/>
                <a:cs typeface="Comfortaa"/>
                <a:sym typeface="Comfortaa"/>
              </a:rPr>
              <a:t>SUBJECT_TO_PHOTO_MAP.CSV :</a:t>
            </a:r>
            <a:r>
              <a:rPr b="1" i="0" lang="en" sz="800" u="none" cap="none" strike="noStrike">
                <a:solidFill>
                  <a:srgbClr val="D74154"/>
                </a:solidFill>
                <a:latin typeface="Comfortaa"/>
                <a:ea typeface="Comfortaa"/>
                <a:cs typeface="Comfortaa"/>
                <a:sym typeface="Comfortaa"/>
              </a:rPr>
              <a:t> </a:t>
            </a:r>
            <a:r>
              <a:rPr b="1" i="0" lang="en" sz="800" u="none" cap="none" strike="noStrike">
                <a:solidFill>
                  <a:schemeClr val="dk1"/>
                </a:solidFill>
                <a:latin typeface="Comfortaa"/>
                <a:ea typeface="Comfortaa"/>
                <a:cs typeface="Comfortaa"/>
                <a:sym typeface="Comfortaa"/>
              </a:rPr>
              <a:t>RELACIONA SUBJECT_ID CON EL NOMBRE DE LA IMAGEN EN LAS CARPETAS.</a:t>
            </a:r>
            <a:endParaRPr b="1" i="0" sz="800" u="none" cap="none" strike="noStrike">
              <a:solidFill>
                <a:schemeClr val="dk1"/>
              </a:solidFill>
              <a:latin typeface="Comfortaa"/>
              <a:ea typeface="Comfortaa"/>
              <a:cs typeface="Comfortaa"/>
              <a:sym typeface="Comfortaa"/>
            </a:endParaRPr>
          </a:p>
          <a:p>
            <a:pPr indent="0" lvl="0" marL="0" marR="0" rtl="0" algn="just">
              <a:lnSpc>
                <a:spcPct val="100000"/>
              </a:lnSpc>
              <a:spcBef>
                <a:spcPts val="0"/>
              </a:spcBef>
              <a:spcAft>
                <a:spcPts val="0"/>
              </a:spcAft>
              <a:buClr>
                <a:srgbClr val="000000"/>
              </a:buClr>
              <a:buSzPts val="900"/>
              <a:buFont typeface="Arial"/>
              <a:buNone/>
            </a:pPr>
            <a:r>
              <a:t/>
            </a:r>
            <a:endParaRPr b="1" i="0" sz="800" u="none" cap="none" strike="noStrike">
              <a:solidFill>
                <a:schemeClr val="dk1"/>
              </a:solidFill>
              <a:latin typeface="Comfortaa"/>
              <a:ea typeface="Comfortaa"/>
              <a:cs typeface="Comfortaa"/>
              <a:sym typeface="Comfortaa"/>
            </a:endParaRPr>
          </a:p>
          <a:p>
            <a:pPr indent="0" lvl="0" marL="0" marR="0" rtl="0" algn="just">
              <a:lnSpc>
                <a:spcPct val="100000"/>
              </a:lnSpc>
              <a:spcBef>
                <a:spcPts val="0"/>
              </a:spcBef>
              <a:spcAft>
                <a:spcPts val="0"/>
              </a:spcAft>
              <a:buClr>
                <a:srgbClr val="000000"/>
              </a:buClr>
              <a:buSzPts val="900"/>
              <a:buFont typeface="Arial"/>
              <a:buNone/>
            </a:pPr>
            <a:r>
              <a:rPr b="1" i="0" lang="en" sz="800" u="none" cap="none" strike="noStrike">
                <a:solidFill>
                  <a:srgbClr val="0000FF"/>
                </a:solidFill>
                <a:latin typeface="Comfortaa"/>
                <a:ea typeface="Comfortaa"/>
                <a:cs typeface="Comfortaa"/>
                <a:sym typeface="Comfortaa"/>
              </a:rPr>
              <a:t>CARPETA DE IMÁGENES :</a:t>
            </a:r>
            <a:endParaRPr b="1" i="0" sz="800" u="none" cap="none" strike="noStrike">
              <a:solidFill>
                <a:srgbClr val="0000FF"/>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i="0" lang="en" sz="800" u="none" cap="none" strike="noStrike">
                <a:solidFill>
                  <a:schemeClr val="dk1"/>
                </a:solidFill>
                <a:latin typeface="Comfortaa"/>
                <a:ea typeface="Comfortaa"/>
                <a:cs typeface="Comfortaa"/>
                <a:sym typeface="Comfortaa"/>
              </a:rPr>
              <a:t>MASK: SILUETA DE IMÁGENES DE FRENTE</a:t>
            </a:r>
            <a:endParaRPr b="1" i="0" sz="800" u="none" cap="none" strike="noStrike">
              <a:solidFill>
                <a:schemeClr val="dk1"/>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i="0" lang="en" sz="800" u="none" cap="none" strike="noStrike">
                <a:solidFill>
                  <a:schemeClr val="dk1"/>
                </a:solidFill>
                <a:latin typeface="Comfortaa"/>
                <a:ea typeface="Comfortaa"/>
                <a:cs typeface="Comfortaa"/>
                <a:sym typeface="Comfortaa"/>
              </a:rPr>
              <a:t>MASK_LEFT: SILUETA DE IMÁGENES DE COSTADO</a:t>
            </a:r>
            <a:endParaRPr b="1" i="0" sz="800" u="none" cap="none" strike="noStrike">
              <a:solidFill>
                <a:schemeClr val="dk1"/>
              </a:solidFill>
              <a:latin typeface="Comfortaa"/>
              <a:ea typeface="Comfortaa"/>
              <a:cs typeface="Comfortaa"/>
              <a:sym typeface="Comfortaa"/>
            </a:endParaRPr>
          </a:p>
        </p:txBody>
      </p:sp>
      <p:cxnSp>
        <p:nvCxnSpPr>
          <p:cNvPr id="104" name="Google Shape;104;p18"/>
          <p:cNvCxnSpPr/>
          <p:nvPr/>
        </p:nvCxnSpPr>
        <p:spPr>
          <a:xfrm flipH="1" rot="10800000">
            <a:off x="5037650" y="3412350"/>
            <a:ext cx="4041000" cy="1500"/>
          </a:xfrm>
          <a:prstGeom prst="straightConnector1">
            <a:avLst/>
          </a:prstGeom>
          <a:noFill/>
          <a:ln cap="flat" cmpd="sng" w="9525">
            <a:solidFill>
              <a:schemeClr val="dk2"/>
            </a:solidFill>
            <a:prstDash val="solid"/>
            <a:round/>
            <a:headEnd len="med" w="med" type="oval"/>
            <a:tailEnd len="med" w="med" type="oval"/>
          </a:ln>
        </p:spPr>
      </p:cxnSp>
      <p:pic>
        <p:nvPicPr>
          <p:cNvPr id="105" name="Google Shape;105;p18"/>
          <p:cNvPicPr preferRelativeResize="0"/>
          <p:nvPr/>
        </p:nvPicPr>
        <p:blipFill rotWithShape="1">
          <a:blip r:embed="rId4">
            <a:alphaModFix/>
          </a:blip>
          <a:srcRect b="0" l="0" r="0" t="0"/>
          <a:stretch/>
        </p:blipFill>
        <p:spPr>
          <a:xfrm>
            <a:off x="165610" y="4813070"/>
            <a:ext cx="748762" cy="247874"/>
          </a:xfrm>
          <a:prstGeom prst="rect">
            <a:avLst/>
          </a:prstGeom>
          <a:noFill/>
          <a:ln>
            <a:noFill/>
          </a:ln>
        </p:spPr>
      </p:pic>
      <p:graphicFrame>
        <p:nvGraphicFramePr>
          <p:cNvPr id="106" name="Google Shape;106;p18"/>
          <p:cNvGraphicFramePr/>
          <p:nvPr/>
        </p:nvGraphicFramePr>
        <p:xfrm>
          <a:off x="5165888" y="3796638"/>
          <a:ext cx="3000000" cy="3000000"/>
        </p:xfrm>
        <a:graphic>
          <a:graphicData uri="http://schemas.openxmlformats.org/drawingml/2006/table">
            <a:tbl>
              <a:tblPr>
                <a:noFill/>
                <a:tableStyleId>{F86E95A1-E1CC-4BC4-808D-2EC83E1E0585}</a:tableStyleId>
              </a:tblPr>
              <a:tblGrid>
                <a:gridCol w="767000"/>
                <a:gridCol w="1223500"/>
                <a:gridCol w="957675"/>
                <a:gridCol w="836325"/>
              </a:tblGrid>
              <a:tr h="226800">
                <a:tc>
                  <a:txBody>
                    <a:bodyPr/>
                    <a:lstStyle/>
                    <a:p>
                      <a:pPr indent="0" lvl="0" marL="0" marR="0" rtl="0" algn="ctr">
                        <a:lnSpc>
                          <a:spcPct val="100000"/>
                        </a:lnSpc>
                        <a:spcBef>
                          <a:spcPts val="0"/>
                        </a:spcBef>
                        <a:spcAft>
                          <a:spcPts val="0"/>
                        </a:spcAft>
                        <a:buClr>
                          <a:srgbClr val="000000"/>
                        </a:buClr>
                        <a:buSzPts val="600"/>
                        <a:buFont typeface="Arial"/>
                        <a:buNone/>
                      </a:pPr>
                      <a:r>
                        <a:t/>
                      </a:r>
                      <a:endParaRPr b="1" sz="600" u="none" cap="none" strike="noStrike">
                        <a:latin typeface="Comfortaa"/>
                        <a:ea typeface="Comfortaa"/>
                        <a:cs typeface="Comfortaa"/>
                        <a:sym typeface="Comfortaa"/>
                      </a:endParaRPr>
                    </a:p>
                  </a:txBody>
                  <a:tcPr marT="91425" marB="91425" marR="91425" marL="91425" anchor="ctr">
                    <a:lnL cap="flat" cmpd="sng" w="9525">
                      <a:solidFill>
                        <a:srgbClr val="E3E3E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E3E3E3"/>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latin typeface="Comfortaa"/>
                          <a:ea typeface="Comfortaa"/>
                          <a:cs typeface="Comfortaa"/>
                          <a:sym typeface="Comfortaa"/>
                        </a:rPr>
                        <a:t>ENTRENAMIENTO</a:t>
                      </a:r>
                      <a:endParaRPr b="1" sz="600" u="none" cap="none" strike="noStrike">
                        <a:latin typeface="Comfortaa"/>
                        <a:ea typeface="Comfortaa"/>
                        <a:cs typeface="Comfortaa"/>
                        <a:sym typeface="Comfortaa"/>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latin typeface="Comfortaa"/>
                          <a:ea typeface="Comfortaa"/>
                          <a:cs typeface="Comfortaa"/>
                          <a:sym typeface="Comfortaa"/>
                        </a:rPr>
                        <a:t>TEST-A</a:t>
                      </a:r>
                      <a:endParaRPr b="1" sz="600" u="none" cap="none" strike="noStrike">
                        <a:latin typeface="Comfortaa"/>
                        <a:ea typeface="Comfortaa"/>
                        <a:cs typeface="Comfortaa"/>
                        <a:sym typeface="Comfortaa"/>
                      </a:endParaRPr>
                    </a:p>
                  </a:txBody>
                  <a:tcPr marT="91425" marB="91425" marR="91425" marL="91425" anchor="ctr">
                    <a:lnL cap="flat" cmpd="sng" w="9525">
                      <a:solidFill>
                        <a:srgbClr val="9E9E9E"/>
                      </a:solidFill>
                      <a:prstDash val="solid"/>
                      <a:round/>
                      <a:headEnd len="sm" w="sm" type="none"/>
                      <a:tailEnd len="sm" w="sm" type="none"/>
                    </a:lnL>
                    <a:solidFill>
                      <a:schemeClr val="lt2"/>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latin typeface="Comfortaa"/>
                          <a:ea typeface="Comfortaa"/>
                          <a:cs typeface="Comfortaa"/>
                          <a:sym typeface="Comfortaa"/>
                        </a:rPr>
                        <a:t>TEST-B</a:t>
                      </a:r>
                      <a:endParaRPr b="1" sz="600" u="none" cap="none" strike="noStrike">
                        <a:latin typeface="Comfortaa"/>
                        <a:ea typeface="Comfortaa"/>
                        <a:cs typeface="Comfortaa"/>
                        <a:sym typeface="Comfortaa"/>
                      </a:endParaRPr>
                    </a:p>
                  </a:txBody>
                  <a:tcPr marT="91425" marB="91425" marR="91425" marL="91425" anchor="ctr">
                    <a:solidFill>
                      <a:schemeClr val="lt2"/>
                    </a:solidFill>
                  </a:tcPr>
                </a:tc>
              </a:tr>
              <a:tr h="226800">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latin typeface="Comfortaa"/>
                          <a:ea typeface="Comfortaa"/>
                          <a:cs typeface="Comfortaa"/>
                          <a:sym typeface="Comfortaa"/>
                        </a:rPr>
                        <a:t>SUJETOS</a:t>
                      </a:r>
                      <a:endParaRPr b="1" sz="600" u="none" cap="none" strike="noStrike">
                        <a:latin typeface="Comfortaa"/>
                        <a:ea typeface="Comfortaa"/>
                        <a:cs typeface="Comfortaa"/>
                        <a:sym typeface="Comfortaa"/>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2018</a:t>
                      </a:r>
                      <a:endParaRPr b="1" sz="700" u="none" cap="none" strike="noStrike">
                        <a:latin typeface="Comfortaa"/>
                        <a:ea typeface="Comfortaa"/>
                        <a:cs typeface="Comfortaa"/>
                        <a:sym typeface="Comfortaa"/>
                      </a:endParaRPr>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87</a:t>
                      </a:r>
                      <a:endParaRPr b="1" sz="700" u="none" cap="none" strike="noStrike">
                        <a:latin typeface="Comfortaa"/>
                        <a:ea typeface="Comfortaa"/>
                        <a:cs typeface="Comfortaa"/>
                        <a:sym typeface="Comforta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400</a:t>
                      </a:r>
                      <a:endParaRPr b="1" sz="700" u="none" cap="none" strike="noStrike">
                        <a:latin typeface="Comfortaa"/>
                        <a:ea typeface="Comfortaa"/>
                        <a:cs typeface="Comfortaa"/>
                        <a:sym typeface="Comfortaa"/>
                      </a:endParaRPr>
                    </a:p>
                  </a:txBody>
                  <a:tcPr marT="91425" marB="91425" marR="91425" marL="91425" anchor="ctr"/>
                </a:tc>
              </a:tr>
              <a:tr h="226800">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latin typeface="Comfortaa"/>
                          <a:ea typeface="Comfortaa"/>
                          <a:cs typeface="Comfortaa"/>
                          <a:sym typeface="Comfortaa"/>
                        </a:rPr>
                        <a:t>SILUETAS</a:t>
                      </a:r>
                      <a:endParaRPr b="1" sz="600" u="none" cap="none" strike="noStrike">
                        <a:latin typeface="Comfortaa"/>
                        <a:ea typeface="Comfortaa"/>
                        <a:cs typeface="Comfortaa"/>
                        <a:sym typeface="Comfortaa"/>
                      </a:endParaRPr>
                    </a:p>
                  </a:txBody>
                  <a:tcPr marT="91425" marB="91425" marR="91425" marL="91425" anchor="ctr">
                    <a:lnT cap="flat" cmpd="sng" w="9525">
                      <a:solidFill>
                        <a:srgbClr val="9E9E9E"/>
                      </a:solidFill>
                      <a:prstDash val="solid"/>
                      <a:round/>
                      <a:headEnd len="sm" w="sm" type="none"/>
                      <a:tailEnd len="sm" w="sm" type="none"/>
                    </a:lnT>
                    <a:solidFill>
                      <a:schemeClr val="lt2"/>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6134</a:t>
                      </a:r>
                      <a:endParaRPr b="1" sz="700" u="none" cap="none" strike="noStrike">
                        <a:latin typeface="Comfortaa"/>
                        <a:ea typeface="Comfortaa"/>
                        <a:cs typeface="Comfortaa"/>
                        <a:sym typeface="Comforta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1684</a:t>
                      </a:r>
                      <a:endParaRPr b="1" sz="700" u="none" cap="none" strike="noStrike">
                        <a:latin typeface="Comfortaa"/>
                        <a:ea typeface="Comfortaa"/>
                        <a:cs typeface="Comfortaa"/>
                        <a:sym typeface="Comforta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1160</a:t>
                      </a:r>
                      <a:endParaRPr b="1" sz="700" u="none" cap="none" strike="noStrike">
                        <a:latin typeface="Comfortaa"/>
                        <a:ea typeface="Comfortaa"/>
                        <a:cs typeface="Comfortaa"/>
                        <a:sym typeface="Comfortaa"/>
                      </a:endParaRPr>
                    </a:p>
                  </a:txBody>
                  <a:tcPr marT="91425" marB="91425" marR="91425" marL="91425" anchor="ctr"/>
                </a:tc>
              </a:tr>
            </a:tbl>
          </a:graphicData>
        </a:graphic>
      </p:graphicFrame>
      <p:sp>
        <p:nvSpPr>
          <p:cNvPr id="107" name="Google Shape;107;p18"/>
          <p:cNvSpPr txBox="1"/>
          <p:nvPr/>
        </p:nvSpPr>
        <p:spPr>
          <a:xfrm>
            <a:off x="5319500" y="3427338"/>
            <a:ext cx="347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Comfortaa"/>
                <a:ea typeface="Comfortaa"/>
                <a:cs typeface="Comfortaa"/>
                <a:sym typeface="Comfortaa"/>
              </a:rPr>
              <a:t>TABLA DE DISTRIBUCIÓN DE SUJETOS Y SILUETAS EN LAS FASES DE ENTRENAMIENTO Y PRUEBA EN EL CONJUNTO DE DATOS BODYM</a:t>
            </a:r>
            <a:endParaRPr b="0" i="0" sz="1300" u="none" cap="none" strike="noStrike">
              <a:solidFill>
                <a:schemeClr val="dk1"/>
              </a:solidFill>
              <a:latin typeface="Arial"/>
              <a:ea typeface="Arial"/>
              <a:cs typeface="Arial"/>
              <a:sym typeface="Arial"/>
            </a:endParaRPr>
          </a:p>
        </p:txBody>
      </p:sp>
      <p:pic>
        <p:nvPicPr>
          <p:cNvPr id="108" name="Google Shape;108;p18"/>
          <p:cNvPicPr preferRelativeResize="0"/>
          <p:nvPr/>
        </p:nvPicPr>
        <p:blipFill rotWithShape="1">
          <a:blip r:embed="rId5">
            <a:alphaModFix/>
          </a:blip>
          <a:srcRect b="0" l="0" r="0" t="0"/>
          <a:stretch/>
        </p:blipFill>
        <p:spPr>
          <a:xfrm>
            <a:off x="5335275" y="98675"/>
            <a:ext cx="3445750" cy="3251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i="0" lang="en" sz="1344" u="none" cap="none" strike="noStrike">
                <a:solidFill>
                  <a:srgbClr val="0C265D"/>
                </a:solidFill>
                <a:latin typeface="Comfortaa"/>
                <a:ea typeface="Comfortaa"/>
                <a:cs typeface="Comfortaa"/>
                <a:sym typeface="Comfortaa"/>
              </a:rPr>
              <a:t>VARIABLES DEL CONJUNTO DE DATOS BODYM</a:t>
            </a:r>
            <a:endParaRPr b="1" i="0" sz="1244" u="none" cap="none" strike="noStrike">
              <a:solidFill>
                <a:srgbClr val="0C265D"/>
              </a:solidFill>
              <a:latin typeface="Comfortaa"/>
              <a:ea typeface="Comfortaa"/>
              <a:cs typeface="Comfortaa"/>
              <a:sym typeface="Comfortaa"/>
            </a:endParaRPr>
          </a:p>
        </p:txBody>
      </p:sp>
      <p:cxnSp>
        <p:nvCxnSpPr>
          <p:cNvPr id="114" name="Google Shape;114;p19"/>
          <p:cNvCxnSpPr/>
          <p:nvPr/>
        </p:nvCxnSpPr>
        <p:spPr>
          <a:xfrm>
            <a:off x="180600" y="454650"/>
            <a:ext cx="8782800" cy="12300"/>
          </a:xfrm>
          <a:prstGeom prst="straightConnector1">
            <a:avLst/>
          </a:prstGeom>
          <a:noFill/>
          <a:ln cap="flat" cmpd="sng" w="9525">
            <a:solidFill>
              <a:schemeClr val="dk1"/>
            </a:solidFill>
            <a:prstDash val="solid"/>
            <a:round/>
            <a:headEnd len="med" w="med" type="oval"/>
            <a:tailEnd len="med" w="med" type="oval"/>
          </a:ln>
        </p:spPr>
      </p:cxnSp>
      <p:sp>
        <p:nvSpPr>
          <p:cNvPr id="115" name="Google Shape;115;p19"/>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116" name="Google Shape;116;p19"/>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grpSp>
        <p:nvGrpSpPr>
          <p:cNvPr id="117" name="Google Shape;117;p19"/>
          <p:cNvGrpSpPr/>
          <p:nvPr/>
        </p:nvGrpSpPr>
        <p:grpSpPr>
          <a:xfrm>
            <a:off x="283570" y="575784"/>
            <a:ext cx="5124002" cy="4049456"/>
            <a:chOff x="335822" y="6482"/>
            <a:chExt cx="7060771" cy="5580069"/>
          </a:xfrm>
        </p:grpSpPr>
        <p:sp>
          <p:nvSpPr>
            <p:cNvPr id="118" name="Google Shape;118;p19"/>
            <p:cNvSpPr/>
            <p:nvPr/>
          </p:nvSpPr>
          <p:spPr>
            <a:xfrm>
              <a:off x="335822" y="2369603"/>
              <a:ext cx="1653300" cy="826800"/>
            </a:xfrm>
            <a:prstGeom prst="roundRect">
              <a:avLst>
                <a:gd fmla="val 10000" name="adj"/>
              </a:avLst>
            </a:prstGeom>
            <a:solidFill>
              <a:srgbClr val="00B050"/>
            </a:solidFill>
            <a:ln cap="flat" cmpd="sng" w="13825">
              <a:solidFill>
                <a:srgbClr val="FFFFFF"/>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19" name="Google Shape;119;p19"/>
            <p:cNvSpPr txBox="1"/>
            <p:nvPr/>
          </p:nvSpPr>
          <p:spPr>
            <a:xfrm>
              <a:off x="360034" y="2393815"/>
              <a:ext cx="1605000" cy="778200"/>
            </a:xfrm>
            <a:prstGeom prst="rect">
              <a:avLst/>
            </a:prstGeom>
            <a:noFill/>
            <a:ln>
              <a:noFill/>
            </a:ln>
          </p:spPr>
          <p:txBody>
            <a:bodyPr anchorCtr="0" anchor="ctr" bIns="6900" lIns="6900" spcFirstLastPara="1" rIns="6900" wrap="square" tIns="6900">
              <a:noAutofit/>
            </a:bodyPr>
            <a:lstStyle/>
            <a:p>
              <a:pPr indent="0" lvl="0" marL="0" marR="0" rtl="0" algn="ctr">
                <a:lnSpc>
                  <a:spcPct val="90000"/>
                </a:lnSpc>
                <a:spcBef>
                  <a:spcPts val="0"/>
                </a:spcBef>
                <a:spcAft>
                  <a:spcPts val="0"/>
                </a:spcAft>
                <a:buClr>
                  <a:srgbClr val="FFFFFF"/>
                </a:buClr>
                <a:buSzPts val="1089"/>
                <a:buFont typeface="Arial"/>
                <a:buNone/>
              </a:pPr>
              <a:r>
                <a:rPr b="0" i="0" lang="en" sz="1088" u="none" cap="none" strike="noStrike">
                  <a:solidFill>
                    <a:srgbClr val="FFFFFF"/>
                  </a:solidFill>
                  <a:latin typeface="Arial"/>
                  <a:ea typeface="Arial"/>
                  <a:cs typeface="Arial"/>
                  <a:sym typeface="Arial"/>
                </a:rPr>
                <a:t>BodyM_dataset</a:t>
              </a:r>
              <a:endParaRPr b="0" i="0" sz="1088" u="none" cap="none" strike="noStrike">
                <a:solidFill>
                  <a:srgbClr val="FFFFFF"/>
                </a:solidFill>
                <a:latin typeface="Arial"/>
                <a:ea typeface="Arial"/>
                <a:cs typeface="Arial"/>
                <a:sym typeface="Arial"/>
              </a:endParaRPr>
            </a:p>
          </p:txBody>
        </p:sp>
        <p:sp>
          <p:nvSpPr>
            <p:cNvPr id="120" name="Google Shape;120;p19"/>
            <p:cNvSpPr/>
            <p:nvPr/>
          </p:nvSpPr>
          <p:spPr>
            <a:xfrm rot="-4241892">
              <a:off x="1319610" y="1825602"/>
              <a:ext cx="2000338" cy="26660"/>
            </a:xfrm>
            <a:custGeom>
              <a:rect b="b" l="l" r="r" t="t"/>
              <a:pathLst>
                <a:path extrusionOk="0" h="120000" w="120000">
                  <a:moveTo>
                    <a:pt x="0" y="60000"/>
                  </a:moveTo>
                  <a:lnTo>
                    <a:pt x="120000" y="60000"/>
                  </a:lnTo>
                </a:path>
              </a:pathLst>
            </a:custGeom>
            <a:noFill/>
            <a:ln cap="flat" cmpd="sng" w="13825">
              <a:solidFill>
                <a:srgbClr val="E97131"/>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21" name="Google Shape;121;p19"/>
            <p:cNvSpPr txBox="1"/>
            <p:nvPr/>
          </p:nvSpPr>
          <p:spPr>
            <a:xfrm rot="-4245028">
              <a:off x="2269769" y="1788896"/>
              <a:ext cx="100096" cy="100096"/>
            </a:xfrm>
            <a:prstGeom prst="rect">
              <a:avLst/>
            </a:prstGeom>
            <a:noFill/>
            <a:ln>
              <a:noFill/>
            </a:ln>
          </p:spPr>
          <p:txBody>
            <a:bodyPr anchorCtr="0" anchor="ctr" bIns="0" lIns="9250" spcFirstLastPara="1" rIns="9250" wrap="square" tIns="0">
              <a:noAutofit/>
            </a:bodyPr>
            <a:lstStyle/>
            <a:p>
              <a:pPr indent="0" lvl="0" marL="0" marR="0" rtl="0" algn="ctr">
                <a:lnSpc>
                  <a:spcPct val="90000"/>
                </a:lnSpc>
                <a:spcBef>
                  <a:spcPts val="0"/>
                </a:spcBef>
                <a:spcAft>
                  <a:spcPts val="0"/>
                </a:spcAft>
                <a:buClr>
                  <a:srgbClr val="000000"/>
                </a:buClr>
                <a:buSzPts val="508"/>
                <a:buFont typeface="Arial"/>
                <a:buNone/>
              </a:pPr>
              <a:r>
                <a:t/>
              </a:r>
              <a:endParaRPr b="0" i="0" sz="507" u="none" cap="none" strike="noStrike">
                <a:solidFill>
                  <a:srgbClr val="000000"/>
                </a:solidFill>
                <a:latin typeface="Arial"/>
                <a:ea typeface="Arial"/>
                <a:cs typeface="Arial"/>
                <a:sym typeface="Arial"/>
              </a:endParaRPr>
            </a:p>
          </p:txBody>
        </p:sp>
        <p:sp>
          <p:nvSpPr>
            <p:cNvPr id="122" name="Google Shape;122;p19"/>
            <p:cNvSpPr/>
            <p:nvPr/>
          </p:nvSpPr>
          <p:spPr>
            <a:xfrm>
              <a:off x="2650457" y="330183"/>
              <a:ext cx="1653300" cy="1129800"/>
            </a:xfrm>
            <a:prstGeom prst="roundRect">
              <a:avLst>
                <a:gd fmla="val 10000" name="adj"/>
              </a:avLst>
            </a:prstGeom>
            <a:solidFill>
              <a:srgbClr val="0070C0"/>
            </a:solidFill>
            <a:ln cap="flat" cmpd="sng" w="13825">
              <a:solidFill>
                <a:srgbClr val="FFFFFF"/>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23" name="Google Shape;123;p19"/>
            <p:cNvSpPr txBox="1"/>
            <p:nvPr/>
          </p:nvSpPr>
          <p:spPr>
            <a:xfrm>
              <a:off x="2683551" y="363277"/>
              <a:ext cx="1587000" cy="1063800"/>
            </a:xfrm>
            <a:prstGeom prst="rect">
              <a:avLst/>
            </a:prstGeom>
            <a:noFill/>
            <a:ln>
              <a:noFill/>
            </a:ln>
          </p:spPr>
          <p:txBody>
            <a:bodyPr anchorCtr="0" anchor="ctr" bIns="8300" lIns="8300" spcFirstLastPara="1" rIns="8300" wrap="square" tIns="8300">
              <a:noAutofit/>
            </a:bodyPr>
            <a:lstStyle/>
            <a:p>
              <a:pPr indent="0" lvl="0" marL="0" marR="0" rtl="0" algn="ctr">
                <a:lnSpc>
                  <a:spcPct val="90000"/>
                </a:lnSpc>
                <a:spcBef>
                  <a:spcPts val="0"/>
                </a:spcBef>
                <a:spcAft>
                  <a:spcPts val="0"/>
                </a:spcAft>
                <a:buClr>
                  <a:srgbClr val="FFFFFF"/>
                </a:buClr>
                <a:buSzPts val="1306"/>
                <a:buFont typeface="Arial"/>
                <a:buNone/>
              </a:pPr>
              <a:r>
                <a:rPr b="1" i="0" lang="en" sz="1306" u="none" cap="none" strike="noStrike">
                  <a:solidFill>
                    <a:srgbClr val="FFFFFF"/>
                  </a:solidFill>
                  <a:latin typeface="Arial"/>
                  <a:ea typeface="Arial"/>
                  <a:cs typeface="Arial"/>
                  <a:sym typeface="Arial"/>
                </a:rPr>
                <a:t>Train</a:t>
              </a:r>
              <a:endParaRPr b="0" i="0" sz="1014" u="none" cap="none" strike="noStrike">
                <a:solidFill>
                  <a:srgbClr val="000000"/>
                </a:solidFill>
                <a:latin typeface="Arial"/>
                <a:ea typeface="Arial"/>
                <a:cs typeface="Arial"/>
                <a:sym typeface="Arial"/>
              </a:endParaRPr>
            </a:p>
            <a:p>
              <a:pPr indent="0" lvl="0" marL="0" marR="0" rtl="0" algn="l">
                <a:lnSpc>
                  <a:spcPct val="90000"/>
                </a:lnSpc>
                <a:spcBef>
                  <a:spcPts val="457"/>
                </a:spcBef>
                <a:spcAft>
                  <a:spcPts val="0"/>
                </a:spcAft>
                <a:buClr>
                  <a:srgbClr val="FFFFFF"/>
                </a:buClr>
                <a:buSzPts val="726"/>
                <a:buFont typeface="Arial"/>
                <a:buNone/>
              </a:pPr>
              <a:r>
                <a:rPr b="0" i="0" lang="en" sz="725" u="none" cap="none" strike="noStrike">
                  <a:solidFill>
                    <a:srgbClr val="FFFFFF"/>
                  </a:solidFill>
                  <a:latin typeface="Arial"/>
                  <a:ea typeface="Arial"/>
                  <a:cs typeface="Arial"/>
                  <a:sym typeface="Arial"/>
                </a:rPr>
                <a:t>- measurements.csv</a:t>
              </a:r>
              <a:endParaRPr b="0" i="0" sz="1014" u="none" cap="none" strike="noStrike">
                <a:solidFill>
                  <a:srgbClr val="000000"/>
                </a:solidFill>
                <a:latin typeface="Arial"/>
                <a:ea typeface="Arial"/>
                <a:cs typeface="Arial"/>
                <a:sym typeface="Arial"/>
              </a:endParaRPr>
            </a:p>
            <a:p>
              <a:pPr indent="0" lvl="0" marL="0" marR="0" rtl="0" algn="l">
                <a:lnSpc>
                  <a:spcPct val="90000"/>
                </a:lnSpc>
                <a:spcBef>
                  <a:spcPts val="254"/>
                </a:spcBef>
                <a:spcAft>
                  <a:spcPts val="0"/>
                </a:spcAft>
                <a:buClr>
                  <a:srgbClr val="FFFFFF"/>
                </a:buClr>
                <a:buSzPts val="726"/>
                <a:buFont typeface="Arial"/>
                <a:buNone/>
              </a:pPr>
              <a:r>
                <a:rPr b="0" i="0" lang="en" sz="725" u="none" cap="none" strike="noStrike">
                  <a:solidFill>
                    <a:srgbClr val="FFFFFF"/>
                  </a:solidFill>
                  <a:latin typeface="Arial"/>
                  <a:ea typeface="Arial"/>
                  <a:cs typeface="Arial"/>
                  <a:sym typeface="Arial"/>
                </a:rPr>
                <a:t>- hwg_metadata.csv</a:t>
              </a:r>
              <a:endParaRPr b="0" i="0" sz="1014" u="none" cap="none" strike="noStrike">
                <a:solidFill>
                  <a:srgbClr val="000000"/>
                </a:solidFill>
                <a:latin typeface="Arial"/>
                <a:ea typeface="Arial"/>
                <a:cs typeface="Arial"/>
                <a:sym typeface="Arial"/>
              </a:endParaRPr>
            </a:p>
            <a:p>
              <a:pPr indent="0" lvl="0" marL="0" marR="0" rtl="0" algn="l">
                <a:lnSpc>
                  <a:spcPct val="90000"/>
                </a:lnSpc>
                <a:spcBef>
                  <a:spcPts val="254"/>
                </a:spcBef>
                <a:spcAft>
                  <a:spcPts val="0"/>
                </a:spcAft>
                <a:buClr>
                  <a:srgbClr val="FFFFFF"/>
                </a:buClr>
                <a:buSzPts val="726"/>
                <a:buFont typeface="Arial"/>
                <a:buNone/>
              </a:pPr>
              <a:r>
                <a:rPr b="0" i="0" lang="en" sz="725" u="none" cap="none" strike="noStrike">
                  <a:solidFill>
                    <a:srgbClr val="FFFFFF"/>
                  </a:solidFill>
                  <a:latin typeface="Arial"/>
                  <a:ea typeface="Arial"/>
                  <a:cs typeface="Arial"/>
                  <a:sym typeface="Arial"/>
                </a:rPr>
                <a:t>- subject_to_photo_map.csv</a:t>
              </a:r>
              <a:endParaRPr b="0" i="0" sz="1014" u="none" cap="none" strike="noStrike">
                <a:solidFill>
                  <a:srgbClr val="000000"/>
                </a:solidFill>
                <a:latin typeface="Arial"/>
                <a:ea typeface="Arial"/>
                <a:cs typeface="Arial"/>
                <a:sym typeface="Arial"/>
              </a:endParaRPr>
            </a:p>
          </p:txBody>
        </p:sp>
        <p:sp>
          <p:nvSpPr>
            <p:cNvPr id="124" name="Google Shape;124;p19"/>
            <p:cNvSpPr/>
            <p:nvPr/>
          </p:nvSpPr>
          <p:spPr>
            <a:xfrm rot="-2142273">
              <a:off x="4227281" y="644212"/>
              <a:ext cx="814248" cy="26644"/>
            </a:xfrm>
            <a:custGeom>
              <a:rect b="b" l="l" r="r" t="t"/>
              <a:pathLst>
                <a:path extrusionOk="0" h="120000" w="120000">
                  <a:moveTo>
                    <a:pt x="0" y="60000"/>
                  </a:moveTo>
                  <a:lnTo>
                    <a:pt x="120000" y="60000"/>
                  </a:lnTo>
                </a:path>
              </a:pathLst>
            </a:custGeom>
            <a:noFill/>
            <a:ln cap="flat" cmpd="sng" w="13825">
              <a:solidFill>
                <a:srgbClr val="176B22"/>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25" name="Google Shape;125;p19"/>
            <p:cNvSpPr txBox="1"/>
            <p:nvPr/>
          </p:nvSpPr>
          <p:spPr>
            <a:xfrm rot="-2141113">
              <a:off x="4614050" y="637158"/>
              <a:ext cx="40629" cy="40629"/>
            </a:xfrm>
            <a:prstGeom prst="rect">
              <a:avLst/>
            </a:prstGeom>
            <a:noFill/>
            <a:ln>
              <a:noFill/>
            </a:ln>
          </p:spPr>
          <p:txBody>
            <a:bodyPr anchorCtr="0" anchor="ctr" bIns="0" lIns="9250" spcFirstLastPara="1" rIns="9250" wrap="square" tIns="0">
              <a:noAutofit/>
            </a:bodyPr>
            <a:lstStyle/>
            <a:p>
              <a:pPr indent="0" lvl="0" marL="0" marR="0" rtl="0" algn="ctr">
                <a:lnSpc>
                  <a:spcPct val="90000"/>
                </a:lnSpc>
                <a:spcBef>
                  <a:spcPts val="0"/>
                </a:spcBef>
                <a:spcAft>
                  <a:spcPts val="0"/>
                </a:spcAft>
                <a:buClr>
                  <a:srgbClr val="000000"/>
                </a:buClr>
                <a:buSzPts val="363"/>
                <a:buFont typeface="Arial"/>
                <a:buNone/>
              </a:pPr>
              <a:r>
                <a:t/>
              </a:r>
              <a:endParaRPr b="0" i="0" sz="362" u="none" cap="none" strike="noStrike">
                <a:solidFill>
                  <a:srgbClr val="000000"/>
                </a:solidFill>
                <a:latin typeface="Arial"/>
                <a:ea typeface="Arial"/>
                <a:cs typeface="Arial"/>
                <a:sym typeface="Arial"/>
              </a:endParaRPr>
            </a:p>
          </p:txBody>
        </p:sp>
        <p:sp>
          <p:nvSpPr>
            <p:cNvPr id="126" name="Google Shape;126;p19"/>
            <p:cNvSpPr/>
            <p:nvPr/>
          </p:nvSpPr>
          <p:spPr>
            <a:xfrm>
              <a:off x="4965093" y="6482"/>
              <a:ext cx="2431500" cy="826800"/>
            </a:xfrm>
            <a:prstGeom prst="roundRect">
              <a:avLst>
                <a:gd fmla="val 10000" name="adj"/>
              </a:avLst>
            </a:prstGeom>
            <a:solidFill>
              <a:srgbClr val="7030A0"/>
            </a:solidFill>
            <a:ln cap="flat" cmpd="sng" w="13825">
              <a:solidFill>
                <a:srgbClr val="FFFFFF"/>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27" name="Google Shape;127;p19"/>
            <p:cNvSpPr txBox="1"/>
            <p:nvPr/>
          </p:nvSpPr>
          <p:spPr>
            <a:xfrm>
              <a:off x="4989305" y="30694"/>
              <a:ext cx="2383200" cy="778200"/>
            </a:xfrm>
            <a:prstGeom prst="rect">
              <a:avLst/>
            </a:prstGeom>
            <a:noFill/>
            <a:ln>
              <a:noFill/>
            </a:ln>
          </p:spPr>
          <p:txBody>
            <a:bodyPr anchorCtr="0" anchor="ctr" bIns="6900" lIns="6900" spcFirstLastPara="1" rIns="6900" wrap="square" tIns="6900">
              <a:noAutofit/>
            </a:bodyPr>
            <a:lstStyle/>
            <a:p>
              <a:pPr indent="0" lvl="0" marL="0" marR="0" rtl="0" algn="ctr">
                <a:lnSpc>
                  <a:spcPct val="90000"/>
                </a:lnSpc>
                <a:spcBef>
                  <a:spcPts val="0"/>
                </a:spcBef>
                <a:spcAft>
                  <a:spcPts val="0"/>
                </a:spcAft>
                <a:buClr>
                  <a:srgbClr val="FFFFFF"/>
                </a:buClr>
                <a:buSzPts val="1089"/>
                <a:buFont typeface="Arial"/>
                <a:buNone/>
              </a:pPr>
              <a:r>
                <a:rPr b="1" i="0" lang="en" sz="1088" u="none" cap="none" strike="noStrike">
                  <a:solidFill>
                    <a:srgbClr val="FFFFFF"/>
                  </a:solidFill>
                  <a:latin typeface="Arial"/>
                  <a:ea typeface="Arial"/>
                  <a:cs typeface="Arial"/>
                  <a:sym typeface="Arial"/>
                </a:rPr>
                <a:t>mask</a:t>
              </a:r>
              <a:r>
                <a:rPr b="0" i="0" lang="en" sz="1088" u="none" cap="none" strike="noStrike">
                  <a:solidFill>
                    <a:srgbClr val="FFFFFF"/>
                  </a:solidFill>
                  <a:latin typeface="Arial"/>
                  <a:ea typeface="Arial"/>
                  <a:cs typeface="Arial"/>
                  <a:sym typeface="Arial"/>
                </a:rPr>
                <a:t> </a:t>
              </a:r>
              <a:endParaRPr b="0" i="0" sz="1014" u="none" cap="none" strike="noStrike">
                <a:solidFill>
                  <a:srgbClr val="000000"/>
                </a:solidFill>
                <a:latin typeface="Arial"/>
                <a:ea typeface="Arial"/>
                <a:cs typeface="Arial"/>
                <a:sym typeface="Arial"/>
              </a:endParaRPr>
            </a:p>
            <a:p>
              <a:pPr indent="0" lvl="0" marL="0" marR="0" rtl="0" algn="ctr">
                <a:lnSpc>
                  <a:spcPct val="90000"/>
                </a:lnSpc>
                <a:spcBef>
                  <a:spcPts val="381"/>
                </a:spcBef>
                <a:spcAft>
                  <a:spcPts val="0"/>
                </a:spcAft>
                <a:buClr>
                  <a:srgbClr val="FFFFFF"/>
                </a:buClr>
                <a:buSzPts val="1089"/>
                <a:buFont typeface="Arial"/>
                <a:buNone/>
              </a:pPr>
              <a:r>
                <a:rPr b="0" i="0" lang="en" sz="1088" u="none" cap="none" strike="noStrike">
                  <a:solidFill>
                    <a:srgbClr val="FFFFFF"/>
                  </a:solidFill>
                  <a:latin typeface="Arial"/>
                  <a:ea typeface="Arial"/>
                  <a:cs typeface="Arial"/>
                  <a:sym typeface="Arial"/>
                </a:rPr>
                <a:t>(6134 imágenes de frente)</a:t>
              </a:r>
              <a:endParaRPr b="0" i="0" sz="1088" u="none" cap="none" strike="noStrike">
                <a:solidFill>
                  <a:srgbClr val="FFFFFF"/>
                </a:solidFill>
                <a:latin typeface="Arial"/>
                <a:ea typeface="Arial"/>
                <a:cs typeface="Arial"/>
                <a:sym typeface="Arial"/>
              </a:endParaRPr>
            </a:p>
          </p:txBody>
        </p:sp>
        <p:sp>
          <p:nvSpPr>
            <p:cNvPr id="128" name="Google Shape;128;p19"/>
            <p:cNvSpPr/>
            <p:nvPr/>
          </p:nvSpPr>
          <p:spPr>
            <a:xfrm rot="2142273">
              <a:off x="4227208" y="1119412"/>
              <a:ext cx="814248" cy="26644"/>
            </a:xfrm>
            <a:custGeom>
              <a:rect b="b" l="l" r="r" t="t"/>
              <a:pathLst>
                <a:path extrusionOk="0" h="120000" w="120000">
                  <a:moveTo>
                    <a:pt x="0" y="60000"/>
                  </a:moveTo>
                  <a:lnTo>
                    <a:pt x="120000" y="60000"/>
                  </a:lnTo>
                </a:path>
              </a:pathLst>
            </a:custGeom>
            <a:noFill/>
            <a:ln cap="flat" cmpd="sng" w="13825">
              <a:solidFill>
                <a:srgbClr val="176B22"/>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29" name="Google Shape;129;p19"/>
            <p:cNvSpPr txBox="1"/>
            <p:nvPr/>
          </p:nvSpPr>
          <p:spPr>
            <a:xfrm rot="2141113">
              <a:off x="4614116" y="1112419"/>
              <a:ext cx="40629" cy="40629"/>
            </a:xfrm>
            <a:prstGeom prst="rect">
              <a:avLst/>
            </a:prstGeom>
            <a:noFill/>
            <a:ln>
              <a:noFill/>
            </a:ln>
          </p:spPr>
          <p:txBody>
            <a:bodyPr anchorCtr="0" anchor="ctr" bIns="0" lIns="9250" spcFirstLastPara="1" rIns="9250" wrap="square" tIns="0">
              <a:noAutofit/>
            </a:bodyPr>
            <a:lstStyle/>
            <a:p>
              <a:pPr indent="0" lvl="0" marL="0" marR="0" rtl="0" algn="ctr">
                <a:lnSpc>
                  <a:spcPct val="90000"/>
                </a:lnSpc>
                <a:spcBef>
                  <a:spcPts val="0"/>
                </a:spcBef>
                <a:spcAft>
                  <a:spcPts val="0"/>
                </a:spcAft>
                <a:buClr>
                  <a:srgbClr val="000000"/>
                </a:buClr>
                <a:buSzPts val="363"/>
                <a:buFont typeface="Arial"/>
                <a:buNone/>
              </a:pPr>
              <a:r>
                <a:t/>
              </a:r>
              <a:endParaRPr b="0" i="0" sz="362" u="none" cap="none" strike="noStrike">
                <a:solidFill>
                  <a:srgbClr val="000000"/>
                </a:solidFill>
                <a:latin typeface="Arial"/>
                <a:ea typeface="Arial"/>
                <a:cs typeface="Arial"/>
                <a:sym typeface="Arial"/>
              </a:endParaRPr>
            </a:p>
          </p:txBody>
        </p:sp>
        <p:sp>
          <p:nvSpPr>
            <p:cNvPr id="130" name="Google Shape;130;p19"/>
            <p:cNvSpPr/>
            <p:nvPr/>
          </p:nvSpPr>
          <p:spPr>
            <a:xfrm>
              <a:off x="4965093" y="957136"/>
              <a:ext cx="2403900" cy="826800"/>
            </a:xfrm>
            <a:prstGeom prst="roundRect">
              <a:avLst>
                <a:gd fmla="val 10000" name="adj"/>
              </a:avLst>
            </a:prstGeom>
            <a:solidFill>
              <a:srgbClr val="7030A0"/>
            </a:solidFill>
            <a:ln cap="flat" cmpd="sng" w="13825">
              <a:solidFill>
                <a:srgbClr val="FFFFFF"/>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31" name="Google Shape;131;p19"/>
            <p:cNvSpPr txBox="1"/>
            <p:nvPr/>
          </p:nvSpPr>
          <p:spPr>
            <a:xfrm>
              <a:off x="4989305" y="981348"/>
              <a:ext cx="2355600" cy="778200"/>
            </a:xfrm>
            <a:prstGeom prst="rect">
              <a:avLst/>
            </a:prstGeom>
            <a:noFill/>
            <a:ln>
              <a:noFill/>
            </a:ln>
          </p:spPr>
          <p:txBody>
            <a:bodyPr anchorCtr="0" anchor="ctr" bIns="6900" lIns="6900" spcFirstLastPara="1" rIns="6900" wrap="square" tIns="6900">
              <a:noAutofit/>
            </a:bodyPr>
            <a:lstStyle/>
            <a:p>
              <a:pPr indent="0" lvl="0" marL="0" marR="0" rtl="0" algn="ctr">
                <a:lnSpc>
                  <a:spcPct val="90000"/>
                </a:lnSpc>
                <a:spcBef>
                  <a:spcPts val="0"/>
                </a:spcBef>
                <a:spcAft>
                  <a:spcPts val="0"/>
                </a:spcAft>
                <a:buClr>
                  <a:srgbClr val="FFFFFF"/>
                </a:buClr>
                <a:buSzPts val="1089"/>
                <a:buFont typeface="Arial"/>
                <a:buNone/>
              </a:pPr>
              <a:r>
                <a:rPr b="1" i="0" lang="en" sz="1088" u="none" cap="none" strike="noStrike">
                  <a:solidFill>
                    <a:srgbClr val="FFFFFF"/>
                  </a:solidFill>
                  <a:latin typeface="Arial"/>
                  <a:ea typeface="Arial"/>
                  <a:cs typeface="Arial"/>
                  <a:sym typeface="Arial"/>
                </a:rPr>
                <a:t>mask_left </a:t>
              </a:r>
              <a:endParaRPr b="0" i="0" sz="1014" u="none" cap="none" strike="noStrike">
                <a:solidFill>
                  <a:srgbClr val="000000"/>
                </a:solidFill>
                <a:latin typeface="Arial"/>
                <a:ea typeface="Arial"/>
                <a:cs typeface="Arial"/>
                <a:sym typeface="Arial"/>
              </a:endParaRPr>
            </a:p>
            <a:p>
              <a:pPr indent="0" lvl="0" marL="0" marR="0" rtl="0" algn="ctr">
                <a:lnSpc>
                  <a:spcPct val="90000"/>
                </a:lnSpc>
                <a:spcBef>
                  <a:spcPts val="381"/>
                </a:spcBef>
                <a:spcAft>
                  <a:spcPts val="0"/>
                </a:spcAft>
                <a:buClr>
                  <a:srgbClr val="FFFFFF"/>
                </a:buClr>
                <a:buSzPts val="1089"/>
                <a:buFont typeface="Arial"/>
                <a:buNone/>
              </a:pPr>
              <a:r>
                <a:rPr b="0" i="0" lang="en" sz="1088" u="none" cap="none" strike="noStrike">
                  <a:solidFill>
                    <a:srgbClr val="FFFFFF"/>
                  </a:solidFill>
                  <a:latin typeface="Arial"/>
                  <a:ea typeface="Arial"/>
                  <a:cs typeface="Arial"/>
                  <a:sym typeface="Arial"/>
                </a:rPr>
                <a:t>(6134 imágenes de costado)</a:t>
              </a:r>
              <a:endParaRPr b="0" i="0" sz="1088" u="none" cap="none" strike="noStrike">
                <a:solidFill>
                  <a:srgbClr val="FFFFFF"/>
                </a:solidFill>
                <a:latin typeface="Arial"/>
                <a:ea typeface="Arial"/>
                <a:cs typeface="Arial"/>
                <a:sym typeface="Arial"/>
              </a:endParaRPr>
            </a:p>
          </p:txBody>
        </p:sp>
        <p:sp>
          <p:nvSpPr>
            <p:cNvPr id="132" name="Google Shape;132;p19"/>
            <p:cNvSpPr/>
            <p:nvPr/>
          </p:nvSpPr>
          <p:spPr>
            <a:xfrm rot="70180">
              <a:off x="1989036" y="2776378"/>
              <a:ext cx="661338" cy="26707"/>
            </a:xfrm>
            <a:custGeom>
              <a:rect b="b" l="l" r="r" t="t"/>
              <a:pathLst>
                <a:path extrusionOk="0" h="120000" w="120000">
                  <a:moveTo>
                    <a:pt x="0" y="60000"/>
                  </a:moveTo>
                  <a:lnTo>
                    <a:pt x="120000" y="60000"/>
                  </a:lnTo>
                </a:path>
              </a:pathLst>
            </a:custGeom>
            <a:noFill/>
            <a:ln cap="flat" cmpd="sng" w="13825">
              <a:solidFill>
                <a:srgbClr val="E97131"/>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33" name="Google Shape;133;p19"/>
            <p:cNvSpPr txBox="1"/>
            <p:nvPr/>
          </p:nvSpPr>
          <p:spPr>
            <a:xfrm rot="62498">
              <a:off x="2303298" y="2773114"/>
              <a:ext cx="33005" cy="33005"/>
            </a:xfrm>
            <a:prstGeom prst="rect">
              <a:avLst/>
            </a:prstGeom>
            <a:noFill/>
            <a:ln>
              <a:noFill/>
            </a:ln>
          </p:spPr>
          <p:txBody>
            <a:bodyPr anchorCtr="0" anchor="ctr" bIns="0" lIns="9250" spcFirstLastPara="1" rIns="9250" wrap="square" tIns="0">
              <a:noAutofit/>
            </a:bodyPr>
            <a:lstStyle/>
            <a:p>
              <a:pPr indent="0" lvl="0" marL="0" marR="0" rtl="0" algn="ctr">
                <a:lnSpc>
                  <a:spcPct val="90000"/>
                </a:lnSpc>
                <a:spcBef>
                  <a:spcPts val="0"/>
                </a:spcBef>
                <a:spcAft>
                  <a:spcPts val="0"/>
                </a:spcAft>
                <a:buClr>
                  <a:srgbClr val="000000"/>
                </a:buClr>
                <a:buSzPts val="363"/>
                <a:buFont typeface="Arial"/>
                <a:buNone/>
              </a:pPr>
              <a:r>
                <a:t/>
              </a:r>
              <a:endParaRPr b="0" i="0" sz="362" u="none" cap="none" strike="noStrike">
                <a:solidFill>
                  <a:srgbClr val="000000"/>
                </a:solidFill>
                <a:latin typeface="Arial"/>
                <a:ea typeface="Arial"/>
                <a:cs typeface="Arial"/>
                <a:sym typeface="Arial"/>
              </a:endParaRPr>
            </a:p>
          </p:txBody>
        </p:sp>
        <p:sp>
          <p:nvSpPr>
            <p:cNvPr id="134" name="Google Shape;134;p19"/>
            <p:cNvSpPr/>
            <p:nvPr/>
          </p:nvSpPr>
          <p:spPr>
            <a:xfrm>
              <a:off x="2650457" y="2289250"/>
              <a:ext cx="1653300" cy="1014300"/>
            </a:xfrm>
            <a:prstGeom prst="roundRect">
              <a:avLst>
                <a:gd fmla="val 10000" name="adj"/>
              </a:avLst>
            </a:prstGeom>
            <a:solidFill>
              <a:srgbClr val="0070C0"/>
            </a:solidFill>
            <a:ln cap="flat" cmpd="sng" w="13825">
              <a:solidFill>
                <a:srgbClr val="FFFFFF"/>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35" name="Google Shape;135;p19"/>
            <p:cNvSpPr txBox="1"/>
            <p:nvPr/>
          </p:nvSpPr>
          <p:spPr>
            <a:xfrm>
              <a:off x="2680167" y="2318960"/>
              <a:ext cx="1593900" cy="954900"/>
            </a:xfrm>
            <a:prstGeom prst="rect">
              <a:avLst/>
            </a:prstGeom>
            <a:noFill/>
            <a:ln>
              <a:noFill/>
            </a:ln>
          </p:spPr>
          <p:txBody>
            <a:bodyPr anchorCtr="0" anchor="ctr" bIns="8300" lIns="8300" spcFirstLastPara="1" rIns="8300" wrap="square" tIns="8300">
              <a:noAutofit/>
            </a:bodyPr>
            <a:lstStyle/>
            <a:p>
              <a:pPr indent="0" lvl="0" marL="0" marR="0" rtl="0" algn="ctr">
                <a:lnSpc>
                  <a:spcPct val="90000"/>
                </a:lnSpc>
                <a:spcBef>
                  <a:spcPts val="0"/>
                </a:spcBef>
                <a:spcAft>
                  <a:spcPts val="0"/>
                </a:spcAft>
                <a:buClr>
                  <a:srgbClr val="FFFFFF"/>
                </a:buClr>
                <a:buSzPts val="1306"/>
                <a:buFont typeface="Arial"/>
                <a:buNone/>
              </a:pPr>
              <a:r>
                <a:rPr b="1" i="0" lang="en" sz="1306" u="none" cap="none" strike="noStrike">
                  <a:solidFill>
                    <a:srgbClr val="FFFFFF"/>
                  </a:solidFill>
                  <a:latin typeface="Arial"/>
                  <a:ea typeface="Arial"/>
                  <a:cs typeface="Arial"/>
                  <a:sym typeface="Arial"/>
                </a:rPr>
                <a:t>testA</a:t>
              </a:r>
              <a:endParaRPr b="1" i="0" sz="1306" u="none" cap="none" strike="noStrike">
                <a:solidFill>
                  <a:srgbClr val="FFFFFF"/>
                </a:solidFill>
                <a:latin typeface="Arial"/>
                <a:ea typeface="Arial"/>
                <a:cs typeface="Arial"/>
                <a:sym typeface="Arial"/>
              </a:endParaRPr>
            </a:p>
            <a:p>
              <a:pPr indent="0" lvl="0" marL="0" marR="0" rtl="0" algn="l">
                <a:lnSpc>
                  <a:spcPct val="90000"/>
                </a:lnSpc>
                <a:spcBef>
                  <a:spcPts val="457"/>
                </a:spcBef>
                <a:spcAft>
                  <a:spcPts val="0"/>
                </a:spcAft>
                <a:buClr>
                  <a:srgbClr val="FFFFFF"/>
                </a:buClr>
                <a:buSzPts val="726"/>
                <a:buFont typeface="Arial"/>
                <a:buNone/>
              </a:pPr>
              <a:r>
                <a:rPr b="0" i="0" lang="en" sz="725" u="none" cap="none" strike="noStrike">
                  <a:solidFill>
                    <a:srgbClr val="FFFFFF"/>
                  </a:solidFill>
                  <a:latin typeface="Arial"/>
                  <a:ea typeface="Arial"/>
                  <a:cs typeface="Arial"/>
                  <a:sym typeface="Arial"/>
                </a:rPr>
                <a:t>- measurements.csv</a:t>
              </a:r>
              <a:endParaRPr b="0" i="0" sz="1014" u="none" cap="none" strike="noStrike">
                <a:solidFill>
                  <a:srgbClr val="000000"/>
                </a:solidFill>
                <a:latin typeface="Arial"/>
                <a:ea typeface="Arial"/>
                <a:cs typeface="Arial"/>
                <a:sym typeface="Arial"/>
              </a:endParaRPr>
            </a:p>
            <a:p>
              <a:pPr indent="0" lvl="0" marL="0" marR="0" rtl="0" algn="l">
                <a:lnSpc>
                  <a:spcPct val="90000"/>
                </a:lnSpc>
                <a:spcBef>
                  <a:spcPts val="254"/>
                </a:spcBef>
                <a:spcAft>
                  <a:spcPts val="0"/>
                </a:spcAft>
                <a:buClr>
                  <a:srgbClr val="FFFFFF"/>
                </a:buClr>
                <a:buSzPts val="726"/>
                <a:buFont typeface="Arial"/>
                <a:buNone/>
              </a:pPr>
              <a:r>
                <a:rPr b="0" i="0" lang="en" sz="725" u="none" cap="none" strike="noStrike">
                  <a:solidFill>
                    <a:srgbClr val="FFFFFF"/>
                  </a:solidFill>
                  <a:latin typeface="Arial"/>
                  <a:ea typeface="Arial"/>
                  <a:cs typeface="Arial"/>
                  <a:sym typeface="Arial"/>
                </a:rPr>
                <a:t>- hwg_metadata.csv</a:t>
              </a:r>
              <a:endParaRPr b="0" i="0" sz="1014" u="none" cap="none" strike="noStrike">
                <a:solidFill>
                  <a:srgbClr val="000000"/>
                </a:solidFill>
                <a:latin typeface="Arial"/>
                <a:ea typeface="Arial"/>
                <a:cs typeface="Arial"/>
                <a:sym typeface="Arial"/>
              </a:endParaRPr>
            </a:p>
            <a:p>
              <a:pPr indent="0" lvl="0" marL="0" marR="0" rtl="0" algn="l">
                <a:lnSpc>
                  <a:spcPct val="90000"/>
                </a:lnSpc>
                <a:spcBef>
                  <a:spcPts val="254"/>
                </a:spcBef>
                <a:spcAft>
                  <a:spcPts val="0"/>
                </a:spcAft>
                <a:buClr>
                  <a:srgbClr val="FFFFFF"/>
                </a:buClr>
                <a:buSzPts val="726"/>
                <a:buFont typeface="Arial"/>
                <a:buNone/>
              </a:pPr>
              <a:r>
                <a:rPr b="0" i="0" lang="en" sz="725" u="none" cap="none" strike="noStrike">
                  <a:solidFill>
                    <a:srgbClr val="FFFFFF"/>
                  </a:solidFill>
                  <a:latin typeface="Arial"/>
                  <a:ea typeface="Arial"/>
                  <a:cs typeface="Arial"/>
                  <a:sym typeface="Arial"/>
                </a:rPr>
                <a:t>- subject_to_photo_map.csv</a:t>
              </a:r>
              <a:endParaRPr b="0" i="0" sz="1014" u="none" cap="none" strike="noStrike">
                <a:solidFill>
                  <a:srgbClr val="000000"/>
                </a:solidFill>
                <a:latin typeface="Arial"/>
                <a:ea typeface="Arial"/>
                <a:cs typeface="Arial"/>
                <a:sym typeface="Arial"/>
              </a:endParaRPr>
            </a:p>
          </p:txBody>
        </p:sp>
        <p:sp>
          <p:nvSpPr>
            <p:cNvPr id="136" name="Google Shape;136;p19"/>
            <p:cNvSpPr/>
            <p:nvPr/>
          </p:nvSpPr>
          <p:spPr>
            <a:xfrm rot="-2142273">
              <a:off x="4227281" y="2545520"/>
              <a:ext cx="814248" cy="26644"/>
            </a:xfrm>
            <a:custGeom>
              <a:rect b="b" l="l" r="r" t="t"/>
              <a:pathLst>
                <a:path extrusionOk="0" h="120000" w="120000">
                  <a:moveTo>
                    <a:pt x="0" y="60000"/>
                  </a:moveTo>
                  <a:lnTo>
                    <a:pt x="120000" y="60000"/>
                  </a:lnTo>
                </a:path>
              </a:pathLst>
            </a:custGeom>
            <a:noFill/>
            <a:ln cap="flat" cmpd="sng" w="13825">
              <a:solidFill>
                <a:srgbClr val="176B22"/>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37" name="Google Shape;137;p19"/>
            <p:cNvSpPr txBox="1"/>
            <p:nvPr/>
          </p:nvSpPr>
          <p:spPr>
            <a:xfrm rot="-2141113">
              <a:off x="4614050" y="2538466"/>
              <a:ext cx="40629" cy="40629"/>
            </a:xfrm>
            <a:prstGeom prst="rect">
              <a:avLst/>
            </a:prstGeom>
            <a:noFill/>
            <a:ln>
              <a:noFill/>
            </a:ln>
          </p:spPr>
          <p:txBody>
            <a:bodyPr anchorCtr="0" anchor="ctr" bIns="0" lIns="9250" spcFirstLastPara="1" rIns="9250" wrap="square" tIns="0">
              <a:noAutofit/>
            </a:bodyPr>
            <a:lstStyle/>
            <a:p>
              <a:pPr indent="0" lvl="0" marL="0" marR="0" rtl="0" algn="ctr">
                <a:lnSpc>
                  <a:spcPct val="90000"/>
                </a:lnSpc>
                <a:spcBef>
                  <a:spcPts val="0"/>
                </a:spcBef>
                <a:spcAft>
                  <a:spcPts val="0"/>
                </a:spcAft>
                <a:buClr>
                  <a:srgbClr val="000000"/>
                </a:buClr>
                <a:buSzPts val="363"/>
                <a:buFont typeface="Arial"/>
                <a:buNone/>
              </a:pPr>
              <a:r>
                <a:t/>
              </a:r>
              <a:endParaRPr b="0" i="0" sz="362" u="none" cap="none" strike="noStrike">
                <a:solidFill>
                  <a:srgbClr val="000000"/>
                </a:solidFill>
                <a:latin typeface="Arial"/>
                <a:ea typeface="Arial"/>
                <a:cs typeface="Arial"/>
                <a:sym typeface="Arial"/>
              </a:endParaRPr>
            </a:p>
          </p:txBody>
        </p:sp>
        <p:sp>
          <p:nvSpPr>
            <p:cNvPr id="138" name="Google Shape;138;p19"/>
            <p:cNvSpPr/>
            <p:nvPr/>
          </p:nvSpPr>
          <p:spPr>
            <a:xfrm>
              <a:off x="4965093" y="1907789"/>
              <a:ext cx="2372700" cy="826800"/>
            </a:xfrm>
            <a:prstGeom prst="roundRect">
              <a:avLst>
                <a:gd fmla="val 10000" name="adj"/>
              </a:avLst>
            </a:prstGeom>
            <a:solidFill>
              <a:srgbClr val="7030A0"/>
            </a:solidFill>
            <a:ln cap="flat" cmpd="sng" w="13825">
              <a:solidFill>
                <a:srgbClr val="FFFFFF"/>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39" name="Google Shape;139;p19"/>
            <p:cNvSpPr txBox="1"/>
            <p:nvPr/>
          </p:nvSpPr>
          <p:spPr>
            <a:xfrm>
              <a:off x="4989305" y="1932001"/>
              <a:ext cx="2324100" cy="778200"/>
            </a:xfrm>
            <a:prstGeom prst="rect">
              <a:avLst/>
            </a:prstGeom>
            <a:noFill/>
            <a:ln>
              <a:noFill/>
            </a:ln>
          </p:spPr>
          <p:txBody>
            <a:bodyPr anchorCtr="0" anchor="ctr" bIns="6900" lIns="6900" spcFirstLastPara="1" rIns="6900" wrap="square" tIns="6900">
              <a:noAutofit/>
            </a:bodyPr>
            <a:lstStyle/>
            <a:p>
              <a:pPr indent="0" lvl="0" marL="0" marR="0" rtl="0" algn="ctr">
                <a:lnSpc>
                  <a:spcPct val="90000"/>
                </a:lnSpc>
                <a:spcBef>
                  <a:spcPts val="0"/>
                </a:spcBef>
                <a:spcAft>
                  <a:spcPts val="0"/>
                </a:spcAft>
                <a:buClr>
                  <a:srgbClr val="FFFFFF"/>
                </a:buClr>
                <a:buSzPts val="1089"/>
                <a:buFont typeface="Arial"/>
                <a:buNone/>
              </a:pPr>
              <a:r>
                <a:rPr b="1" i="0" lang="en" sz="1088" u="none" cap="none" strike="noStrike">
                  <a:solidFill>
                    <a:srgbClr val="FFFFFF"/>
                  </a:solidFill>
                  <a:latin typeface="Arial"/>
                  <a:ea typeface="Arial"/>
                  <a:cs typeface="Arial"/>
                  <a:sym typeface="Arial"/>
                </a:rPr>
                <a:t>mask </a:t>
              </a:r>
              <a:endParaRPr b="0" i="0" sz="1014" u="none" cap="none" strike="noStrike">
                <a:solidFill>
                  <a:srgbClr val="000000"/>
                </a:solidFill>
                <a:latin typeface="Arial"/>
                <a:ea typeface="Arial"/>
                <a:cs typeface="Arial"/>
                <a:sym typeface="Arial"/>
              </a:endParaRPr>
            </a:p>
            <a:p>
              <a:pPr indent="0" lvl="0" marL="0" marR="0" rtl="0" algn="ctr">
                <a:lnSpc>
                  <a:spcPct val="90000"/>
                </a:lnSpc>
                <a:spcBef>
                  <a:spcPts val="381"/>
                </a:spcBef>
                <a:spcAft>
                  <a:spcPts val="0"/>
                </a:spcAft>
                <a:buClr>
                  <a:srgbClr val="FFFFFF"/>
                </a:buClr>
                <a:buSzPts val="1089"/>
                <a:buFont typeface="Arial"/>
                <a:buNone/>
              </a:pPr>
              <a:r>
                <a:rPr b="0" i="0" lang="en" sz="1088" u="none" cap="none" strike="noStrike">
                  <a:solidFill>
                    <a:srgbClr val="FFFFFF"/>
                  </a:solidFill>
                  <a:latin typeface="Arial"/>
                  <a:ea typeface="Arial"/>
                  <a:cs typeface="Arial"/>
                  <a:sym typeface="Arial"/>
                </a:rPr>
                <a:t>(1684 imágenes de frente)</a:t>
              </a:r>
              <a:endParaRPr b="0" i="0" sz="1088" u="none" cap="none" strike="noStrike">
                <a:solidFill>
                  <a:srgbClr val="FFFFFF"/>
                </a:solidFill>
                <a:latin typeface="Arial"/>
                <a:ea typeface="Arial"/>
                <a:cs typeface="Arial"/>
                <a:sym typeface="Arial"/>
              </a:endParaRPr>
            </a:p>
          </p:txBody>
        </p:sp>
        <p:sp>
          <p:nvSpPr>
            <p:cNvPr id="140" name="Google Shape;140;p19"/>
            <p:cNvSpPr/>
            <p:nvPr/>
          </p:nvSpPr>
          <p:spPr>
            <a:xfrm rot="2142273">
              <a:off x="4227208" y="3020720"/>
              <a:ext cx="814248" cy="26644"/>
            </a:xfrm>
            <a:custGeom>
              <a:rect b="b" l="l" r="r" t="t"/>
              <a:pathLst>
                <a:path extrusionOk="0" h="120000" w="120000">
                  <a:moveTo>
                    <a:pt x="0" y="60000"/>
                  </a:moveTo>
                  <a:lnTo>
                    <a:pt x="120000" y="60000"/>
                  </a:lnTo>
                </a:path>
              </a:pathLst>
            </a:custGeom>
            <a:noFill/>
            <a:ln cap="flat" cmpd="sng" w="13825">
              <a:solidFill>
                <a:srgbClr val="176B22"/>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41" name="Google Shape;141;p19"/>
            <p:cNvSpPr txBox="1"/>
            <p:nvPr/>
          </p:nvSpPr>
          <p:spPr>
            <a:xfrm rot="2141113">
              <a:off x="4614116" y="3013727"/>
              <a:ext cx="40629" cy="40629"/>
            </a:xfrm>
            <a:prstGeom prst="rect">
              <a:avLst/>
            </a:prstGeom>
            <a:noFill/>
            <a:ln>
              <a:noFill/>
            </a:ln>
          </p:spPr>
          <p:txBody>
            <a:bodyPr anchorCtr="0" anchor="ctr" bIns="0" lIns="9250" spcFirstLastPara="1" rIns="9250" wrap="square" tIns="0">
              <a:noAutofit/>
            </a:bodyPr>
            <a:lstStyle/>
            <a:p>
              <a:pPr indent="0" lvl="0" marL="0" marR="0" rtl="0" algn="ctr">
                <a:lnSpc>
                  <a:spcPct val="90000"/>
                </a:lnSpc>
                <a:spcBef>
                  <a:spcPts val="0"/>
                </a:spcBef>
                <a:spcAft>
                  <a:spcPts val="0"/>
                </a:spcAft>
                <a:buClr>
                  <a:srgbClr val="000000"/>
                </a:buClr>
                <a:buSzPts val="363"/>
                <a:buFont typeface="Arial"/>
                <a:buNone/>
              </a:pPr>
              <a:r>
                <a:t/>
              </a:r>
              <a:endParaRPr b="0" i="0" sz="362" u="none" cap="none" strike="noStrike">
                <a:solidFill>
                  <a:srgbClr val="000000"/>
                </a:solidFill>
                <a:latin typeface="Arial"/>
                <a:ea typeface="Arial"/>
                <a:cs typeface="Arial"/>
                <a:sym typeface="Arial"/>
              </a:endParaRPr>
            </a:p>
          </p:txBody>
        </p:sp>
        <p:sp>
          <p:nvSpPr>
            <p:cNvPr id="142" name="Google Shape;142;p19"/>
            <p:cNvSpPr/>
            <p:nvPr/>
          </p:nvSpPr>
          <p:spPr>
            <a:xfrm>
              <a:off x="4965093" y="2858443"/>
              <a:ext cx="2397000" cy="826800"/>
            </a:xfrm>
            <a:prstGeom prst="roundRect">
              <a:avLst>
                <a:gd fmla="val 10000" name="adj"/>
              </a:avLst>
            </a:prstGeom>
            <a:solidFill>
              <a:srgbClr val="7030A0"/>
            </a:solidFill>
            <a:ln cap="flat" cmpd="sng" w="13825">
              <a:solidFill>
                <a:srgbClr val="FFFFFF"/>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43" name="Google Shape;143;p19"/>
            <p:cNvSpPr txBox="1"/>
            <p:nvPr/>
          </p:nvSpPr>
          <p:spPr>
            <a:xfrm>
              <a:off x="4989305" y="2882655"/>
              <a:ext cx="2348400" cy="778200"/>
            </a:xfrm>
            <a:prstGeom prst="rect">
              <a:avLst/>
            </a:prstGeom>
            <a:noFill/>
            <a:ln>
              <a:noFill/>
            </a:ln>
          </p:spPr>
          <p:txBody>
            <a:bodyPr anchorCtr="0" anchor="ctr" bIns="6900" lIns="6900" spcFirstLastPara="1" rIns="6900" wrap="square" tIns="6900">
              <a:noAutofit/>
            </a:bodyPr>
            <a:lstStyle/>
            <a:p>
              <a:pPr indent="0" lvl="0" marL="0" marR="0" rtl="0" algn="ctr">
                <a:lnSpc>
                  <a:spcPct val="90000"/>
                </a:lnSpc>
                <a:spcBef>
                  <a:spcPts val="0"/>
                </a:spcBef>
                <a:spcAft>
                  <a:spcPts val="0"/>
                </a:spcAft>
                <a:buClr>
                  <a:srgbClr val="FFFFFF"/>
                </a:buClr>
                <a:buSzPts val="1089"/>
                <a:buFont typeface="Arial"/>
                <a:buNone/>
              </a:pPr>
              <a:r>
                <a:rPr b="1" i="0" lang="en" sz="1088" u="none" cap="none" strike="noStrike">
                  <a:solidFill>
                    <a:srgbClr val="FFFFFF"/>
                  </a:solidFill>
                  <a:latin typeface="Arial"/>
                  <a:ea typeface="Arial"/>
                  <a:cs typeface="Arial"/>
                  <a:sym typeface="Arial"/>
                </a:rPr>
                <a:t>mask_left </a:t>
              </a:r>
              <a:endParaRPr b="0" i="0" sz="1014" u="none" cap="none" strike="noStrike">
                <a:solidFill>
                  <a:srgbClr val="000000"/>
                </a:solidFill>
                <a:latin typeface="Arial"/>
                <a:ea typeface="Arial"/>
                <a:cs typeface="Arial"/>
                <a:sym typeface="Arial"/>
              </a:endParaRPr>
            </a:p>
            <a:p>
              <a:pPr indent="0" lvl="0" marL="0" marR="0" rtl="0" algn="ctr">
                <a:lnSpc>
                  <a:spcPct val="90000"/>
                </a:lnSpc>
                <a:spcBef>
                  <a:spcPts val="381"/>
                </a:spcBef>
                <a:spcAft>
                  <a:spcPts val="0"/>
                </a:spcAft>
                <a:buClr>
                  <a:srgbClr val="FFFFFF"/>
                </a:buClr>
                <a:buSzPts val="1089"/>
                <a:buFont typeface="Arial"/>
                <a:buNone/>
              </a:pPr>
              <a:r>
                <a:rPr b="0" i="0" lang="en" sz="1088" u="none" cap="none" strike="noStrike">
                  <a:solidFill>
                    <a:srgbClr val="FFFFFF"/>
                  </a:solidFill>
                  <a:latin typeface="Arial"/>
                  <a:ea typeface="Arial"/>
                  <a:cs typeface="Arial"/>
                  <a:sym typeface="Arial"/>
                </a:rPr>
                <a:t>(1684 imágenes de costado)</a:t>
              </a:r>
              <a:endParaRPr b="0" i="0" sz="1088" u="none" cap="none" strike="noStrike">
                <a:solidFill>
                  <a:srgbClr val="FFFFFF"/>
                </a:solidFill>
                <a:latin typeface="Arial"/>
                <a:ea typeface="Arial"/>
                <a:cs typeface="Arial"/>
                <a:sym typeface="Arial"/>
              </a:endParaRPr>
            </a:p>
          </p:txBody>
        </p:sp>
        <p:sp>
          <p:nvSpPr>
            <p:cNvPr id="144" name="Google Shape;144;p19"/>
            <p:cNvSpPr/>
            <p:nvPr/>
          </p:nvSpPr>
          <p:spPr>
            <a:xfrm rot="4257036">
              <a:off x="1306786" y="3727058"/>
              <a:ext cx="2025840" cy="26660"/>
            </a:xfrm>
            <a:custGeom>
              <a:rect b="b" l="l" r="r" t="t"/>
              <a:pathLst>
                <a:path extrusionOk="0" h="120000" w="120000">
                  <a:moveTo>
                    <a:pt x="0" y="60000"/>
                  </a:moveTo>
                  <a:lnTo>
                    <a:pt x="120000" y="60000"/>
                  </a:lnTo>
                </a:path>
              </a:pathLst>
            </a:custGeom>
            <a:noFill/>
            <a:ln cap="flat" cmpd="sng" w="13825">
              <a:solidFill>
                <a:srgbClr val="E97131"/>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45" name="Google Shape;145;p19"/>
            <p:cNvSpPr txBox="1"/>
            <p:nvPr/>
          </p:nvSpPr>
          <p:spPr>
            <a:xfrm rot="4258464">
              <a:off x="2269167" y="3689673"/>
              <a:ext cx="101230" cy="101230"/>
            </a:xfrm>
            <a:prstGeom prst="rect">
              <a:avLst/>
            </a:prstGeom>
            <a:noFill/>
            <a:ln>
              <a:noFill/>
            </a:ln>
          </p:spPr>
          <p:txBody>
            <a:bodyPr anchorCtr="0" anchor="ctr" bIns="0" lIns="9250" spcFirstLastPara="1" rIns="9250" wrap="square" tIns="0">
              <a:noAutofit/>
            </a:bodyPr>
            <a:lstStyle/>
            <a:p>
              <a:pPr indent="0" lvl="0" marL="0" marR="0" rtl="0" algn="ctr">
                <a:lnSpc>
                  <a:spcPct val="90000"/>
                </a:lnSpc>
                <a:spcBef>
                  <a:spcPts val="0"/>
                </a:spcBef>
                <a:spcAft>
                  <a:spcPts val="0"/>
                </a:spcAft>
                <a:buClr>
                  <a:srgbClr val="000000"/>
                </a:buClr>
                <a:buSzPts val="508"/>
                <a:buFont typeface="Arial"/>
                <a:buNone/>
              </a:pPr>
              <a:r>
                <a:t/>
              </a:r>
              <a:endParaRPr b="0" i="0" sz="507" u="none" cap="none" strike="noStrike">
                <a:solidFill>
                  <a:srgbClr val="000000"/>
                </a:solidFill>
                <a:latin typeface="Arial"/>
                <a:ea typeface="Arial"/>
                <a:cs typeface="Arial"/>
                <a:sym typeface="Arial"/>
              </a:endParaRPr>
            </a:p>
          </p:txBody>
        </p:sp>
        <p:sp>
          <p:nvSpPr>
            <p:cNvPr id="146" name="Google Shape;146;p19"/>
            <p:cNvSpPr/>
            <p:nvPr/>
          </p:nvSpPr>
          <p:spPr>
            <a:xfrm>
              <a:off x="2650457" y="4159826"/>
              <a:ext cx="1653300" cy="1075800"/>
            </a:xfrm>
            <a:prstGeom prst="roundRect">
              <a:avLst>
                <a:gd fmla="val 10000" name="adj"/>
              </a:avLst>
            </a:prstGeom>
            <a:solidFill>
              <a:srgbClr val="0070C0"/>
            </a:solidFill>
            <a:ln cap="flat" cmpd="sng" w="13825">
              <a:solidFill>
                <a:srgbClr val="FFFFFF"/>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47" name="Google Shape;147;p19"/>
            <p:cNvSpPr txBox="1"/>
            <p:nvPr/>
          </p:nvSpPr>
          <p:spPr>
            <a:xfrm>
              <a:off x="2681968" y="4191337"/>
              <a:ext cx="1590300" cy="1012800"/>
            </a:xfrm>
            <a:prstGeom prst="rect">
              <a:avLst/>
            </a:prstGeom>
            <a:noFill/>
            <a:ln>
              <a:noFill/>
            </a:ln>
          </p:spPr>
          <p:txBody>
            <a:bodyPr anchorCtr="0" anchor="ctr" bIns="8300" lIns="8300" spcFirstLastPara="1" rIns="8300" wrap="square" tIns="8300">
              <a:noAutofit/>
            </a:bodyPr>
            <a:lstStyle/>
            <a:p>
              <a:pPr indent="0" lvl="0" marL="0" marR="0" rtl="0" algn="ctr">
                <a:lnSpc>
                  <a:spcPct val="90000"/>
                </a:lnSpc>
                <a:spcBef>
                  <a:spcPts val="0"/>
                </a:spcBef>
                <a:spcAft>
                  <a:spcPts val="0"/>
                </a:spcAft>
                <a:buClr>
                  <a:srgbClr val="FFFFFF"/>
                </a:buClr>
                <a:buSzPts val="1306"/>
                <a:buFont typeface="Arial"/>
                <a:buNone/>
              </a:pPr>
              <a:r>
                <a:rPr b="0" i="0" lang="en" sz="1306" u="none" cap="none" strike="noStrike">
                  <a:solidFill>
                    <a:srgbClr val="FFFFFF"/>
                  </a:solidFill>
                  <a:latin typeface="Arial"/>
                  <a:ea typeface="Arial"/>
                  <a:cs typeface="Arial"/>
                  <a:sym typeface="Arial"/>
                </a:rPr>
                <a:t>testB</a:t>
              </a:r>
              <a:endParaRPr b="0" i="0" sz="1306" u="none" cap="none" strike="noStrike">
                <a:solidFill>
                  <a:srgbClr val="FFFFFF"/>
                </a:solidFill>
                <a:latin typeface="Arial"/>
                <a:ea typeface="Arial"/>
                <a:cs typeface="Arial"/>
                <a:sym typeface="Arial"/>
              </a:endParaRPr>
            </a:p>
            <a:p>
              <a:pPr indent="0" lvl="0" marL="0" marR="0" rtl="0" algn="l">
                <a:lnSpc>
                  <a:spcPct val="90000"/>
                </a:lnSpc>
                <a:spcBef>
                  <a:spcPts val="457"/>
                </a:spcBef>
                <a:spcAft>
                  <a:spcPts val="0"/>
                </a:spcAft>
                <a:buClr>
                  <a:srgbClr val="FFFFFF"/>
                </a:buClr>
                <a:buSzPts val="726"/>
                <a:buFont typeface="Arial"/>
                <a:buNone/>
              </a:pPr>
              <a:r>
                <a:rPr b="0" i="0" lang="en" sz="725" u="none" cap="none" strike="noStrike">
                  <a:solidFill>
                    <a:srgbClr val="FFFFFF"/>
                  </a:solidFill>
                  <a:latin typeface="Arial"/>
                  <a:ea typeface="Arial"/>
                  <a:cs typeface="Arial"/>
                  <a:sym typeface="Arial"/>
                </a:rPr>
                <a:t>- measurements.csv</a:t>
              </a:r>
              <a:endParaRPr b="0" i="0" sz="1014" u="none" cap="none" strike="noStrike">
                <a:solidFill>
                  <a:srgbClr val="000000"/>
                </a:solidFill>
                <a:latin typeface="Arial"/>
                <a:ea typeface="Arial"/>
                <a:cs typeface="Arial"/>
                <a:sym typeface="Arial"/>
              </a:endParaRPr>
            </a:p>
            <a:p>
              <a:pPr indent="0" lvl="0" marL="0" marR="0" rtl="0" algn="l">
                <a:lnSpc>
                  <a:spcPct val="90000"/>
                </a:lnSpc>
                <a:spcBef>
                  <a:spcPts val="254"/>
                </a:spcBef>
                <a:spcAft>
                  <a:spcPts val="0"/>
                </a:spcAft>
                <a:buClr>
                  <a:srgbClr val="FFFFFF"/>
                </a:buClr>
                <a:buSzPts val="726"/>
                <a:buFont typeface="Arial"/>
                <a:buNone/>
              </a:pPr>
              <a:r>
                <a:rPr b="0" i="0" lang="en" sz="725" u="none" cap="none" strike="noStrike">
                  <a:solidFill>
                    <a:srgbClr val="FFFFFF"/>
                  </a:solidFill>
                  <a:latin typeface="Arial"/>
                  <a:ea typeface="Arial"/>
                  <a:cs typeface="Arial"/>
                  <a:sym typeface="Arial"/>
                </a:rPr>
                <a:t>- hwg_metadata.csv</a:t>
              </a:r>
              <a:endParaRPr b="0" i="0" sz="1014" u="none" cap="none" strike="noStrike">
                <a:solidFill>
                  <a:srgbClr val="000000"/>
                </a:solidFill>
                <a:latin typeface="Arial"/>
                <a:ea typeface="Arial"/>
                <a:cs typeface="Arial"/>
                <a:sym typeface="Arial"/>
              </a:endParaRPr>
            </a:p>
            <a:p>
              <a:pPr indent="0" lvl="0" marL="0" marR="0" rtl="0" algn="l">
                <a:lnSpc>
                  <a:spcPct val="90000"/>
                </a:lnSpc>
                <a:spcBef>
                  <a:spcPts val="254"/>
                </a:spcBef>
                <a:spcAft>
                  <a:spcPts val="0"/>
                </a:spcAft>
                <a:buClr>
                  <a:srgbClr val="FFFFFF"/>
                </a:buClr>
                <a:buSzPts val="726"/>
                <a:buFont typeface="Arial"/>
                <a:buNone/>
              </a:pPr>
              <a:r>
                <a:rPr b="0" i="0" lang="en" sz="725" u="none" cap="none" strike="noStrike">
                  <a:solidFill>
                    <a:srgbClr val="FFFFFF"/>
                  </a:solidFill>
                  <a:latin typeface="Arial"/>
                  <a:ea typeface="Arial"/>
                  <a:cs typeface="Arial"/>
                  <a:sym typeface="Arial"/>
                </a:rPr>
                <a:t>- subject_to_photo_map.csv</a:t>
              </a:r>
              <a:endParaRPr b="0" i="0" sz="1014" u="none" cap="none" strike="noStrike">
                <a:solidFill>
                  <a:srgbClr val="000000"/>
                </a:solidFill>
                <a:latin typeface="Arial"/>
                <a:ea typeface="Arial"/>
                <a:cs typeface="Arial"/>
                <a:sym typeface="Arial"/>
              </a:endParaRPr>
            </a:p>
          </p:txBody>
        </p:sp>
        <p:sp>
          <p:nvSpPr>
            <p:cNvPr id="148" name="Google Shape;148;p19"/>
            <p:cNvSpPr/>
            <p:nvPr/>
          </p:nvSpPr>
          <p:spPr>
            <a:xfrm rot="-2142273">
              <a:off x="4227281" y="4446828"/>
              <a:ext cx="814248" cy="26644"/>
            </a:xfrm>
            <a:custGeom>
              <a:rect b="b" l="l" r="r" t="t"/>
              <a:pathLst>
                <a:path extrusionOk="0" h="120000" w="120000">
                  <a:moveTo>
                    <a:pt x="0" y="60000"/>
                  </a:moveTo>
                  <a:lnTo>
                    <a:pt x="120000" y="60000"/>
                  </a:lnTo>
                </a:path>
              </a:pathLst>
            </a:custGeom>
            <a:noFill/>
            <a:ln cap="flat" cmpd="sng" w="13825">
              <a:solidFill>
                <a:srgbClr val="176B22"/>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49" name="Google Shape;149;p19"/>
            <p:cNvSpPr txBox="1"/>
            <p:nvPr/>
          </p:nvSpPr>
          <p:spPr>
            <a:xfrm rot="-2141113">
              <a:off x="4614050" y="4439774"/>
              <a:ext cx="40629" cy="40629"/>
            </a:xfrm>
            <a:prstGeom prst="rect">
              <a:avLst/>
            </a:prstGeom>
            <a:noFill/>
            <a:ln>
              <a:noFill/>
            </a:ln>
          </p:spPr>
          <p:txBody>
            <a:bodyPr anchorCtr="0" anchor="ctr" bIns="0" lIns="9250" spcFirstLastPara="1" rIns="9250" wrap="square" tIns="0">
              <a:noAutofit/>
            </a:bodyPr>
            <a:lstStyle/>
            <a:p>
              <a:pPr indent="0" lvl="0" marL="0" marR="0" rtl="0" algn="ctr">
                <a:lnSpc>
                  <a:spcPct val="90000"/>
                </a:lnSpc>
                <a:spcBef>
                  <a:spcPts val="0"/>
                </a:spcBef>
                <a:spcAft>
                  <a:spcPts val="0"/>
                </a:spcAft>
                <a:buClr>
                  <a:srgbClr val="000000"/>
                </a:buClr>
                <a:buSzPts val="363"/>
                <a:buFont typeface="Arial"/>
                <a:buNone/>
              </a:pPr>
              <a:r>
                <a:t/>
              </a:r>
              <a:endParaRPr b="0" i="0" sz="362" u="none" cap="none" strike="noStrike">
                <a:solidFill>
                  <a:srgbClr val="000000"/>
                </a:solidFill>
                <a:latin typeface="Arial"/>
                <a:ea typeface="Arial"/>
                <a:cs typeface="Arial"/>
                <a:sym typeface="Arial"/>
              </a:endParaRPr>
            </a:p>
          </p:txBody>
        </p:sp>
        <p:sp>
          <p:nvSpPr>
            <p:cNvPr id="150" name="Google Shape;150;p19"/>
            <p:cNvSpPr/>
            <p:nvPr/>
          </p:nvSpPr>
          <p:spPr>
            <a:xfrm>
              <a:off x="4965093" y="3809097"/>
              <a:ext cx="2431500" cy="826800"/>
            </a:xfrm>
            <a:prstGeom prst="roundRect">
              <a:avLst>
                <a:gd fmla="val 10000" name="adj"/>
              </a:avLst>
            </a:prstGeom>
            <a:solidFill>
              <a:srgbClr val="7030A0"/>
            </a:solidFill>
            <a:ln cap="flat" cmpd="sng" w="13825">
              <a:solidFill>
                <a:srgbClr val="FFFFFF"/>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51" name="Google Shape;151;p19"/>
            <p:cNvSpPr txBox="1"/>
            <p:nvPr/>
          </p:nvSpPr>
          <p:spPr>
            <a:xfrm>
              <a:off x="4989305" y="3833309"/>
              <a:ext cx="2383200" cy="778200"/>
            </a:xfrm>
            <a:prstGeom prst="rect">
              <a:avLst/>
            </a:prstGeom>
            <a:noFill/>
            <a:ln>
              <a:noFill/>
            </a:ln>
          </p:spPr>
          <p:txBody>
            <a:bodyPr anchorCtr="0" anchor="ctr" bIns="6900" lIns="6900" spcFirstLastPara="1" rIns="6900" wrap="square" tIns="6900">
              <a:noAutofit/>
            </a:bodyPr>
            <a:lstStyle/>
            <a:p>
              <a:pPr indent="0" lvl="0" marL="0" marR="0" rtl="0" algn="ctr">
                <a:lnSpc>
                  <a:spcPct val="90000"/>
                </a:lnSpc>
                <a:spcBef>
                  <a:spcPts val="0"/>
                </a:spcBef>
                <a:spcAft>
                  <a:spcPts val="0"/>
                </a:spcAft>
                <a:buClr>
                  <a:srgbClr val="FFFFFF"/>
                </a:buClr>
                <a:buSzPts val="1089"/>
                <a:buFont typeface="Arial"/>
                <a:buNone/>
              </a:pPr>
              <a:r>
                <a:rPr b="1" i="0" lang="en" sz="1088" u="none" cap="none" strike="noStrike">
                  <a:solidFill>
                    <a:srgbClr val="FFFFFF"/>
                  </a:solidFill>
                  <a:latin typeface="Arial"/>
                  <a:ea typeface="Arial"/>
                  <a:cs typeface="Arial"/>
                  <a:sym typeface="Arial"/>
                </a:rPr>
                <a:t>mask </a:t>
              </a:r>
              <a:endParaRPr b="0" i="0" sz="1014" u="none" cap="none" strike="noStrike">
                <a:solidFill>
                  <a:srgbClr val="000000"/>
                </a:solidFill>
                <a:latin typeface="Arial"/>
                <a:ea typeface="Arial"/>
                <a:cs typeface="Arial"/>
                <a:sym typeface="Arial"/>
              </a:endParaRPr>
            </a:p>
            <a:p>
              <a:pPr indent="0" lvl="0" marL="0" marR="0" rtl="0" algn="ctr">
                <a:lnSpc>
                  <a:spcPct val="90000"/>
                </a:lnSpc>
                <a:spcBef>
                  <a:spcPts val="381"/>
                </a:spcBef>
                <a:spcAft>
                  <a:spcPts val="0"/>
                </a:spcAft>
                <a:buClr>
                  <a:srgbClr val="FFFFFF"/>
                </a:buClr>
                <a:buSzPts val="1089"/>
                <a:buFont typeface="Arial"/>
                <a:buNone/>
              </a:pPr>
              <a:r>
                <a:rPr b="0" i="0" lang="en" sz="1088" u="none" cap="none" strike="noStrike">
                  <a:solidFill>
                    <a:srgbClr val="FFFFFF"/>
                  </a:solidFill>
                  <a:latin typeface="Arial"/>
                  <a:ea typeface="Arial"/>
                  <a:cs typeface="Arial"/>
                  <a:sym typeface="Arial"/>
                </a:rPr>
                <a:t>(2323 imágenes de frente)</a:t>
              </a:r>
              <a:endParaRPr b="0" i="0" sz="1088" u="none" cap="none" strike="noStrike">
                <a:solidFill>
                  <a:srgbClr val="FFFFFF"/>
                </a:solidFill>
                <a:latin typeface="Arial"/>
                <a:ea typeface="Arial"/>
                <a:cs typeface="Arial"/>
                <a:sym typeface="Arial"/>
              </a:endParaRPr>
            </a:p>
          </p:txBody>
        </p:sp>
        <p:sp>
          <p:nvSpPr>
            <p:cNvPr id="152" name="Google Shape;152;p19"/>
            <p:cNvSpPr/>
            <p:nvPr/>
          </p:nvSpPr>
          <p:spPr>
            <a:xfrm rot="2142273">
              <a:off x="4227208" y="4922028"/>
              <a:ext cx="814248" cy="26644"/>
            </a:xfrm>
            <a:custGeom>
              <a:rect b="b" l="l" r="r" t="t"/>
              <a:pathLst>
                <a:path extrusionOk="0" h="120000" w="120000">
                  <a:moveTo>
                    <a:pt x="0" y="60000"/>
                  </a:moveTo>
                  <a:lnTo>
                    <a:pt x="120000" y="60000"/>
                  </a:lnTo>
                </a:path>
              </a:pathLst>
            </a:custGeom>
            <a:noFill/>
            <a:ln cap="flat" cmpd="sng" w="13825">
              <a:solidFill>
                <a:srgbClr val="176B22"/>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53" name="Google Shape;153;p19"/>
            <p:cNvSpPr txBox="1"/>
            <p:nvPr/>
          </p:nvSpPr>
          <p:spPr>
            <a:xfrm rot="2141113">
              <a:off x="4614116" y="4915034"/>
              <a:ext cx="40629" cy="40629"/>
            </a:xfrm>
            <a:prstGeom prst="rect">
              <a:avLst/>
            </a:prstGeom>
            <a:noFill/>
            <a:ln>
              <a:noFill/>
            </a:ln>
          </p:spPr>
          <p:txBody>
            <a:bodyPr anchorCtr="0" anchor="ctr" bIns="0" lIns="9250" spcFirstLastPara="1" rIns="9250" wrap="square" tIns="0">
              <a:noAutofit/>
            </a:bodyPr>
            <a:lstStyle/>
            <a:p>
              <a:pPr indent="0" lvl="0" marL="0" marR="0" rtl="0" algn="ctr">
                <a:lnSpc>
                  <a:spcPct val="90000"/>
                </a:lnSpc>
                <a:spcBef>
                  <a:spcPts val="0"/>
                </a:spcBef>
                <a:spcAft>
                  <a:spcPts val="0"/>
                </a:spcAft>
                <a:buClr>
                  <a:srgbClr val="000000"/>
                </a:buClr>
                <a:buSzPts val="363"/>
                <a:buFont typeface="Arial"/>
                <a:buNone/>
              </a:pPr>
              <a:r>
                <a:t/>
              </a:r>
              <a:endParaRPr b="0" i="0" sz="362" u="none" cap="none" strike="noStrike">
                <a:solidFill>
                  <a:srgbClr val="000000"/>
                </a:solidFill>
                <a:latin typeface="Arial"/>
                <a:ea typeface="Arial"/>
                <a:cs typeface="Arial"/>
                <a:sym typeface="Arial"/>
              </a:endParaRPr>
            </a:p>
          </p:txBody>
        </p:sp>
        <p:sp>
          <p:nvSpPr>
            <p:cNvPr id="154" name="Google Shape;154;p19"/>
            <p:cNvSpPr/>
            <p:nvPr/>
          </p:nvSpPr>
          <p:spPr>
            <a:xfrm>
              <a:off x="4965093" y="4759751"/>
              <a:ext cx="2404200" cy="826800"/>
            </a:xfrm>
            <a:prstGeom prst="roundRect">
              <a:avLst>
                <a:gd fmla="val 10000" name="adj"/>
              </a:avLst>
            </a:prstGeom>
            <a:solidFill>
              <a:srgbClr val="7030A0"/>
            </a:solidFill>
            <a:ln cap="flat" cmpd="sng" w="13825">
              <a:solidFill>
                <a:srgbClr val="FFFFFF"/>
              </a:solidFill>
              <a:prstDash val="solid"/>
              <a:miter lim="800000"/>
              <a:headEnd len="sm" w="sm" type="none"/>
              <a:tailEnd len="sm" w="sm" type="none"/>
            </a:ln>
          </p:spPr>
          <p:txBody>
            <a:bodyPr anchorCtr="0" anchor="ctr" bIns="66375" lIns="66375" spcFirstLastPara="1" rIns="66375" wrap="square" tIns="66375">
              <a:noAutofit/>
            </a:bodyPr>
            <a:lstStyle/>
            <a:p>
              <a:pPr indent="0" lvl="0" marL="0" marR="0" rtl="0" algn="l">
                <a:lnSpc>
                  <a:spcPct val="100000"/>
                </a:lnSpc>
                <a:spcBef>
                  <a:spcPts val="0"/>
                </a:spcBef>
                <a:spcAft>
                  <a:spcPts val="0"/>
                </a:spcAft>
                <a:buClr>
                  <a:srgbClr val="000000"/>
                </a:buClr>
                <a:buSzPts val="1016"/>
                <a:buFont typeface="Arial"/>
                <a:buNone/>
              </a:pPr>
              <a:r>
                <a:t/>
              </a:r>
              <a:endParaRPr b="0" i="0" sz="1014" u="none" cap="none" strike="noStrike">
                <a:solidFill>
                  <a:srgbClr val="000000"/>
                </a:solidFill>
                <a:latin typeface="Arial"/>
                <a:ea typeface="Arial"/>
                <a:cs typeface="Arial"/>
                <a:sym typeface="Arial"/>
              </a:endParaRPr>
            </a:p>
          </p:txBody>
        </p:sp>
        <p:sp>
          <p:nvSpPr>
            <p:cNvPr id="155" name="Google Shape;155;p19"/>
            <p:cNvSpPr txBox="1"/>
            <p:nvPr/>
          </p:nvSpPr>
          <p:spPr>
            <a:xfrm>
              <a:off x="4989305" y="4783963"/>
              <a:ext cx="2355900" cy="778200"/>
            </a:xfrm>
            <a:prstGeom prst="rect">
              <a:avLst/>
            </a:prstGeom>
            <a:noFill/>
            <a:ln>
              <a:noFill/>
            </a:ln>
          </p:spPr>
          <p:txBody>
            <a:bodyPr anchorCtr="0" anchor="ctr" bIns="6900" lIns="6900" spcFirstLastPara="1" rIns="6900" wrap="square" tIns="6900">
              <a:noAutofit/>
            </a:bodyPr>
            <a:lstStyle/>
            <a:p>
              <a:pPr indent="0" lvl="0" marL="0" marR="0" rtl="0" algn="ctr">
                <a:lnSpc>
                  <a:spcPct val="90000"/>
                </a:lnSpc>
                <a:spcBef>
                  <a:spcPts val="0"/>
                </a:spcBef>
                <a:spcAft>
                  <a:spcPts val="0"/>
                </a:spcAft>
                <a:buClr>
                  <a:srgbClr val="FFFFFF"/>
                </a:buClr>
                <a:buSzPts val="1089"/>
                <a:buFont typeface="Arial"/>
                <a:buNone/>
              </a:pPr>
              <a:r>
                <a:rPr b="1" i="0" lang="en" sz="1088" u="none" cap="none" strike="noStrike">
                  <a:solidFill>
                    <a:srgbClr val="FFFFFF"/>
                  </a:solidFill>
                  <a:latin typeface="Arial"/>
                  <a:ea typeface="Arial"/>
                  <a:cs typeface="Arial"/>
                  <a:sym typeface="Arial"/>
                </a:rPr>
                <a:t>mask_left </a:t>
              </a:r>
              <a:endParaRPr b="0" i="0" sz="1014" u="none" cap="none" strike="noStrike">
                <a:solidFill>
                  <a:srgbClr val="000000"/>
                </a:solidFill>
                <a:latin typeface="Arial"/>
                <a:ea typeface="Arial"/>
                <a:cs typeface="Arial"/>
                <a:sym typeface="Arial"/>
              </a:endParaRPr>
            </a:p>
            <a:p>
              <a:pPr indent="0" lvl="0" marL="0" marR="0" rtl="0" algn="ctr">
                <a:lnSpc>
                  <a:spcPct val="90000"/>
                </a:lnSpc>
                <a:spcBef>
                  <a:spcPts val="381"/>
                </a:spcBef>
                <a:spcAft>
                  <a:spcPts val="0"/>
                </a:spcAft>
                <a:buClr>
                  <a:srgbClr val="FFFFFF"/>
                </a:buClr>
                <a:buSzPts val="1089"/>
                <a:buFont typeface="Arial"/>
                <a:buNone/>
              </a:pPr>
              <a:r>
                <a:rPr b="0" i="0" lang="en" sz="1088" u="none" cap="none" strike="noStrike">
                  <a:solidFill>
                    <a:srgbClr val="FFFFFF"/>
                  </a:solidFill>
                  <a:latin typeface="Arial"/>
                  <a:ea typeface="Arial"/>
                  <a:cs typeface="Arial"/>
                  <a:sym typeface="Arial"/>
                </a:rPr>
                <a:t>(2323 imágenes de costado)</a:t>
              </a:r>
              <a:endParaRPr b="0" i="0" sz="1088" u="none" cap="none" strike="noStrike">
                <a:solidFill>
                  <a:srgbClr val="FFFFFF"/>
                </a:solidFill>
                <a:latin typeface="Arial"/>
                <a:ea typeface="Arial"/>
                <a:cs typeface="Arial"/>
                <a:sym typeface="Arial"/>
              </a:endParaRPr>
            </a:p>
          </p:txBody>
        </p:sp>
      </p:grpSp>
      <p:pic>
        <p:nvPicPr>
          <p:cNvPr descr="Silueta de una persona&#10;&#10;Descripción generada automáticamente con confianza media" id="156" name="Google Shape;156;p19"/>
          <p:cNvPicPr preferRelativeResize="0"/>
          <p:nvPr/>
        </p:nvPicPr>
        <p:blipFill rotWithShape="1">
          <a:blip r:embed="rId4">
            <a:alphaModFix/>
          </a:blip>
          <a:srcRect b="0" l="0" r="0" t="0"/>
          <a:stretch/>
        </p:blipFill>
        <p:spPr>
          <a:xfrm>
            <a:off x="5469345" y="549675"/>
            <a:ext cx="483390" cy="644520"/>
          </a:xfrm>
          <a:prstGeom prst="rect">
            <a:avLst/>
          </a:prstGeom>
          <a:noFill/>
          <a:ln>
            <a:noFill/>
          </a:ln>
        </p:spPr>
      </p:pic>
      <p:pic>
        <p:nvPicPr>
          <p:cNvPr id="157" name="Google Shape;157;p19"/>
          <p:cNvPicPr preferRelativeResize="0"/>
          <p:nvPr/>
        </p:nvPicPr>
        <p:blipFill rotWithShape="1">
          <a:blip r:embed="rId5">
            <a:alphaModFix/>
          </a:blip>
          <a:srcRect b="0" l="0" r="0" t="0"/>
          <a:stretch/>
        </p:blipFill>
        <p:spPr>
          <a:xfrm>
            <a:off x="5469344" y="1276919"/>
            <a:ext cx="483390" cy="644520"/>
          </a:xfrm>
          <a:prstGeom prst="rect">
            <a:avLst/>
          </a:prstGeom>
          <a:noFill/>
          <a:ln>
            <a:noFill/>
          </a:ln>
        </p:spPr>
      </p:pic>
      <p:pic>
        <p:nvPicPr>
          <p:cNvPr descr="Silueta de una persona&#10;&#10;Descripción generada automáticamente" id="158" name="Google Shape;158;p19"/>
          <p:cNvPicPr preferRelativeResize="0"/>
          <p:nvPr/>
        </p:nvPicPr>
        <p:blipFill rotWithShape="1">
          <a:blip r:embed="rId6">
            <a:alphaModFix/>
          </a:blip>
          <a:srcRect b="0" l="0" r="0" t="0"/>
          <a:stretch/>
        </p:blipFill>
        <p:spPr>
          <a:xfrm>
            <a:off x="5469343" y="1958904"/>
            <a:ext cx="483390" cy="644520"/>
          </a:xfrm>
          <a:prstGeom prst="rect">
            <a:avLst/>
          </a:prstGeom>
          <a:noFill/>
          <a:ln>
            <a:noFill/>
          </a:ln>
        </p:spPr>
      </p:pic>
      <p:pic>
        <p:nvPicPr>
          <p:cNvPr id="159" name="Google Shape;159;p19"/>
          <p:cNvPicPr preferRelativeResize="0"/>
          <p:nvPr/>
        </p:nvPicPr>
        <p:blipFill rotWithShape="1">
          <a:blip r:embed="rId7">
            <a:alphaModFix/>
          </a:blip>
          <a:srcRect b="0" l="0" r="0" t="0"/>
          <a:stretch/>
        </p:blipFill>
        <p:spPr>
          <a:xfrm>
            <a:off x="5453289" y="4018553"/>
            <a:ext cx="483390" cy="644520"/>
          </a:xfrm>
          <a:prstGeom prst="rect">
            <a:avLst/>
          </a:prstGeom>
          <a:noFill/>
          <a:ln>
            <a:noFill/>
          </a:ln>
        </p:spPr>
      </p:pic>
      <p:pic>
        <p:nvPicPr>
          <p:cNvPr descr="Un dibujo de una persona&#10;&#10;Descripción generada automáticamente con confianza baja" id="160" name="Google Shape;160;p19"/>
          <p:cNvPicPr preferRelativeResize="0"/>
          <p:nvPr/>
        </p:nvPicPr>
        <p:blipFill rotWithShape="1">
          <a:blip r:embed="rId8">
            <a:alphaModFix/>
          </a:blip>
          <a:srcRect b="0" l="0" r="0" t="0"/>
          <a:stretch/>
        </p:blipFill>
        <p:spPr>
          <a:xfrm>
            <a:off x="5469343" y="3368134"/>
            <a:ext cx="467338" cy="623117"/>
          </a:xfrm>
          <a:prstGeom prst="rect">
            <a:avLst/>
          </a:prstGeom>
          <a:noFill/>
          <a:ln>
            <a:noFill/>
          </a:ln>
        </p:spPr>
      </p:pic>
      <p:pic>
        <p:nvPicPr>
          <p:cNvPr descr="Dibujo en blanco y negro&#10;&#10;Descripción generada automáticamente con confianza baja" id="161" name="Google Shape;161;p19"/>
          <p:cNvPicPr preferRelativeResize="0"/>
          <p:nvPr/>
        </p:nvPicPr>
        <p:blipFill rotWithShape="1">
          <a:blip r:embed="rId9">
            <a:alphaModFix/>
          </a:blip>
          <a:srcRect b="0" l="0" r="0" t="0"/>
          <a:stretch/>
        </p:blipFill>
        <p:spPr>
          <a:xfrm>
            <a:off x="5469343" y="2673087"/>
            <a:ext cx="467338" cy="623117"/>
          </a:xfrm>
          <a:prstGeom prst="rect">
            <a:avLst/>
          </a:prstGeom>
          <a:noFill/>
          <a:ln>
            <a:noFill/>
          </a:ln>
        </p:spPr>
      </p:pic>
      <p:pic>
        <p:nvPicPr>
          <p:cNvPr id="162" name="Google Shape;162;p19"/>
          <p:cNvPicPr preferRelativeResize="0"/>
          <p:nvPr/>
        </p:nvPicPr>
        <p:blipFill rotWithShape="1">
          <a:blip r:embed="rId10">
            <a:alphaModFix/>
          </a:blip>
          <a:srcRect b="0" l="0" r="0" t="0"/>
          <a:stretch/>
        </p:blipFill>
        <p:spPr>
          <a:xfrm>
            <a:off x="287213" y="2996738"/>
            <a:ext cx="1277558" cy="511869"/>
          </a:xfrm>
          <a:prstGeom prst="rect">
            <a:avLst/>
          </a:prstGeom>
          <a:noFill/>
          <a:ln>
            <a:noFill/>
          </a:ln>
        </p:spPr>
      </p:pic>
      <p:sp>
        <p:nvSpPr>
          <p:cNvPr id="163" name="Google Shape;163;p19"/>
          <p:cNvSpPr txBox="1"/>
          <p:nvPr/>
        </p:nvSpPr>
        <p:spPr>
          <a:xfrm>
            <a:off x="6086702" y="549675"/>
            <a:ext cx="2876700" cy="4059000"/>
          </a:xfrm>
          <a:prstGeom prst="rect">
            <a:avLst/>
          </a:prstGeom>
          <a:noFill/>
          <a:ln>
            <a:noFill/>
          </a:ln>
        </p:spPr>
        <p:txBody>
          <a:bodyPr anchorCtr="0" anchor="b" bIns="33200" lIns="66375" spcFirstLastPara="1" rIns="66375" wrap="square" tIns="33200">
            <a:normAutofit fontScale="32500" lnSpcReduction="20000"/>
          </a:bodyPr>
          <a:lstStyle/>
          <a:p>
            <a:pPr indent="0" lvl="0" marL="0" marR="0" rtl="0" algn="l">
              <a:lnSpc>
                <a:spcPct val="100000"/>
              </a:lnSpc>
              <a:spcBef>
                <a:spcPts val="0"/>
              </a:spcBef>
              <a:spcAft>
                <a:spcPts val="0"/>
              </a:spcAft>
              <a:buClr>
                <a:srgbClr val="000000"/>
              </a:buClr>
              <a:buSzPct val="100000"/>
              <a:buFont typeface="Arial"/>
              <a:buNone/>
            </a:pPr>
            <a:r>
              <a:rPr b="1" i="0" lang="en" sz="3991" u="none" cap="none" strike="noStrike">
                <a:solidFill>
                  <a:srgbClr val="000000"/>
                </a:solidFill>
                <a:highlight>
                  <a:srgbClr val="C0C0C0"/>
                </a:highlight>
                <a:latin typeface="Arial"/>
                <a:ea typeface="Arial"/>
                <a:cs typeface="Arial"/>
                <a:sym typeface="Arial"/>
              </a:rPr>
              <a:t>measurements.csv</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a:t>
            </a:r>
            <a:r>
              <a:rPr b="0" i="0" lang="en" sz="3991" u="none" cap="none" strike="noStrike">
                <a:solidFill>
                  <a:srgbClr val="00B050"/>
                </a:solidFill>
                <a:latin typeface="Quattrocento Sans"/>
                <a:ea typeface="Quattrocento Sans"/>
                <a:cs typeface="Quattrocento Sans"/>
                <a:sym typeface="Quattrocento Sans"/>
              </a:rPr>
              <a:t>subject_id </a:t>
            </a:r>
            <a:r>
              <a:rPr b="0" i="0" lang="en" sz="3991" u="none" cap="none" strike="noStrike">
                <a:solidFill>
                  <a:srgbClr val="000000"/>
                </a:solidFill>
                <a:latin typeface="Quattrocento Sans"/>
                <a:ea typeface="Quattrocento Sans"/>
                <a:cs typeface="Quattrocento Sans"/>
                <a:sym typeface="Quattrocento Sans"/>
              </a:rPr>
              <a:t>(ID persona)</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ankle (tobillo)</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arm-length (largo brazo)</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bicep </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calf (pantorilla)</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chest (pecho)</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forearm (antebrazo)</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height (altura)</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hip (cadera)</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leg-length (largo piernas)</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shoulder-breadth (ancho hombros)</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shoulder-to-crotch (hombro-entrepierna)</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thigh (muslo)</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waist (cintura)</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wrist</a:t>
            </a:r>
            <a:r>
              <a:rPr b="0" i="0" lang="en" sz="3991" u="none" cap="none" strike="noStrike">
                <a:solidFill>
                  <a:srgbClr val="000000"/>
                </a:solidFill>
                <a:latin typeface="Arial"/>
                <a:ea typeface="Arial"/>
                <a:cs typeface="Arial"/>
                <a:sym typeface="Arial"/>
              </a:rPr>
              <a:t> (muñeca)</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1" i="0" lang="en" sz="3991" u="none" cap="none" strike="noStrike">
                <a:solidFill>
                  <a:srgbClr val="000000"/>
                </a:solidFill>
                <a:highlight>
                  <a:srgbClr val="C0C0C0"/>
                </a:highlight>
                <a:latin typeface="Arial"/>
                <a:ea typeface="Arial"/>
                <a:cs typeface="Arial"/>
                <a:sym typeface="Arial"/>
              </a:rPr>
              <a:t>hwg_metadata.csv</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a:t>
            </a:r>
            <a:r>
              <a:rPr b="0" i="0" lang="en" sz="3991" u="none" cap="none" strike="noStrike">
                <a:solidFill>
                  <a:srgbClr val="00B050"/>
                </a:solidFill>
                <a:latin typeface="Quattrocento Sans"/>
                <a:ea typeface="Quattrocento Sans"/>
                <a:cs typeface="Quattrocento Sans"/>
                <a:sym typeface="Quattrocento Sans"/>
              </a:rPr>
              <a:t>subject_id </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gender (sexo)</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height_cm (altura cm)</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Quattrocento Sans"/>
                <a:ea typeface="Quattrocento Sans"/>
                <a:cs typeface="Quattrocento Sans"/>
                <a:sym typeface="Quattrocento Sans"/>
              </a:rPr>
              <a:t>- weight_kg (peso kg) </a:t>
            </a:r>
            <a:r>
              <a:rPr b="1" i="0" lang="en" sz="3991" u="none" cap="none" strike="noStrike">
                <a:solidFill>
                  <a:srgbClr val="000000"/>
                </a:solidFill>
                <a:highlight>
                  <a:srgbClr val="C0C0C0"/>
                </a:highlight>
                <a:latin typeface="Arial"/>
                <a:ea typeface="Arial"/>
                <a:cs typeface="Arial"/>
                <a:sym typeface="Arial"/>
              </a:rPr>
              <a:t>subject_to_photo_map.csv</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Arial"/>
                <a:ea typeface="Arial"/>
                <a:cs typeface="Arial"/>
                <a:sym typeface="Arial"/>
              </a:rPr>
              <a:t>- </a:t>
            </a:r>
            <a:r>
              <a:rPr b="0" i="0" lang="en" sz="3991" u="none" cap="none" strike="noStrike">
                <a:solidFill>
                  <a:srgbClr val="00B050"/>
                </a:solidFill>
                <a:latin typeface="Quattrocento Sans"/>
                <a:ea typeface="Quattrocento Sans"/>
                <a:cs typeface="Quattrocento Sans"/>
                <a:sym typeface="Quattrocento Sans"/>
              </a:rPr>
              <a:t>subject_id </a:t>
            </a:r>
            <a:endParaRPr b="0" i="0" sz="101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 sz="3991" u="none" cap="none" strike="noStrike">
                <a:solidFill>
                  <a:srgbClr val="000000"/>
                </a:solidFill>
                <a:latin typeface="Arial"/>
                <a:ea typeface="Arial"/>
                <a:cs typeface="Arial"/>
                <a:sym typeface="Arial"/>
              </a:rPr>
              <a:t>- </a:t>
            </a:r>
            <a:r>
              <a:rPr b="0" i="0" lang="en" sz="3991" u="none" cap="none" strike="noStrike">
                <a:solidFill>
                  <a:srgbClr val="000000"/>
                </a:solidFill>
                <a:latin typeface="Quattrocento Sans"/>
                <a:ea typeface="Quattrocento Sans"/>
                <a:cs typeface="Quattrocento Sans"/>
                <a:sym typeface="Quattrocento Sans"/>
              </a:rPr>
              <a:t>photo_id (ID foto)</a:t>
            </a:r>
            <a:endParaRPr b="1" i="0" sz="3991" u="none" cap="none" strike="noStrike">
              <a:solidFill>
                <a:srgbClr val="000000"/>
              </a:solidFill>
              <a:latin typeface="Quattrocento Sans"/>
              <a:ea typeface="Quattrocento Sans"/>
              <a:cs typeface="Quattrocento Sans"/>
              <a:sym typeface="Quattrocento Sans"/>
            </a:endParaRPr>
          </a:p>
        </p:txBody>
      </p:sp>
      <p:pic>
        <p:nvPicPr>
          <p:cNvPr id="164" name="Google Shape;164;p19"/>
          <p:cNvPicPr preferRelativeResize="0"/>
          <p:nvPr/>
        </p:nvPicPr>
        <p:blipFill rotWithShape="1">
          <a:blip r:embed="rId11">
            <a:alphaModFix/>
          </a:blip>
          <a:srcRect b="0" l="0" r="0" t="0"/>
          <a:stretch/>
        </p:blipFill>
        <p:spPr>
          <a:xfrm>
            <a:off x="329663" y="3546663"/>
            <a:ext cx="1192682" cy="1062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0"/>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170" name="Google Shape;170;p20"/>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pic>
        <p:nvPicPr>
          <p:cNvPr descr="Diagrama&#10;&#10;Descripción generada automáticamente" id="171" name="Google Shape;171;p20"/>
          <p:cNvPicPr preferRelativeResize="0"/>
          <p:nvPr/>
        </p:nvPicPr>
        <p:blipFill rotWithShape="1">
          <a:blip r:embed="rId4">
            <a:alphaModFix/>
          </a:blip>
          <a:srcRect b="0" l="0" r="0" t="0"/>
          <a:stretch/>
        </p:blipFill>
        <p:spPr>
          <a:xfrm>
            <a:off x="100013" y="744625"/>
            <a:ext cx="2426581" cy="2765272"/>
          </a:xfrm>
          <a:prstGeom prst="rect">
            <a:avLst/>
          </a:prstGeom>
          <a:noFill/>
          <a:ln>
            <a:noFill/>
          </a:ln>
        </p:spPr>
      </p:pic>
      <p:pic>
        <p:nvPicPr>
          <p:cNvPr descr="Diagrama&#10;&#10;Descripción generada automáticamente" id="172" name="Google Shape;172;p20"/>
          <p:cNvPicPr preferRelativeResize="0"/>
          <p:nvPr/>
        </p:nvPicPr>
        <p:blipFill rotWithShape="1">
          <a:blip r:embed="rId5">
            <a:alphaModFix/>
          </a:blip>
          <a:srcRect b="3269" l="0" r="49688" t="0"/>
          <a:stretch/>
        </p:blipFill>
        <p:spPr>
          <a:xfrm>
            <a:off x="2526600" y="818900"/>
            <a:ext cx="1460276" cy="2728475"/>
          </a:xfrm>
          <a:prstGeom prst="rect">
            <a:avLst/>
          </a:prstGeom>
          <a:noFill/>
          <a:ln>
            <a:noFill/>
          </a:ln>
        </p:spPr>
      </p:pic>
      <p:sp>
        <p:nvSpPr>
          <p:cNvPr id="173" name="Google Shape;173;p20"/>
          <p:cNvSpPr txBox="1"/>
          <p:nvPr/>
        </p:nvSpPr>
        <p:spPr>
          <a:xfrm>
            <a:off x="165600" y="3685600"/>
            <a:ext cx="8818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rgbClr val="0000FF"/>
                </a:solidFill>
                <a:latin typeface="Comfortaa"/>
                <a:ea typeface="Comfortaa"/>
                <a:cs typeface="Comfortaa"/>
                <a:sym typeface="Comfortaa"/>
              </a:rPr>
              <a:t>BodyM </a:t>
            </a:r>
            <a:r>
              <a:rPr b="1" lang="en" sz="1000">
                <a:solidFill>
                  <a:schemeClr val="dk2"/>
                </a:solidFill>
                <a:latin typeface="Comfortaa"/>
                <a:ea typeface="Comfortaa"/>
                <a:cs typeface="Comfortaa"/>
                <a:sym typeface="Comfortaa"/>
              </a:rPr>
              <a:t>MIDE EL CUERPO </a:t>
            </a:r>
            <a:r>
              <a:rPr b="1" lang="en" sz="1000">
                <a:solidFill>
                  <a:srgbClr val="0000FF"/>
                </a:solidFill>
                <a:latin typeface="Comfortaa"/>
                <a:ea typeface="Comfortaa"/>
                <a:cs typeface="Comfortaa"/>
                <a:sym typeface="Comfortaa"/>
              </a:rPr>
              <a:t>USANDO UN MODELO 3D (MALLA/SMPL)</a:t>
            </a:r>
            <a:r>
              <a:rPr b="1" lang="en" sz="1000">
                <a:solidFill>
                  <a:schemeClr val="dk2"/>
                </a:solidFill>
                <a:latin typeface="Comfortaa"/>
                <a:ea typeface="Comfortaa"/>
                <a:cs typeface="Comfortaa"/>
                <a:sym typeface="Comfortaa"/>
              </a:rPr>
              <a:t> CON</a:t>
            </a:r>
            <a:r>
              <a:rPr b="1" lang="en" sz="1000">
                <a:solidFill>
                  <a:srgbClr val="990000"/>
                </a:solidFill>
                <a:latin typeface="Comfortaa"/>
                <a:ea typeface="Comfortaa"/>
                <a:cs typeface="Comfortaa"/>
                <a:sym typeface="Comfortaa"/>
              </a:rPr>
              <a:t> PUNTOS ANATÓMICOS COMO REFERENCIA.</a:t>
            </a:r>
            <a:endParaRPr b="1" sz="1000">
              <a:solidFill>
                <a:srgbClr val="990000"/>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800"/>
              <a:buFont typeface="Arial"/>
              <a:buNone/>
            </a:pPr>
            <a:r>
              <a:rPr b="1" lang="en" sz="1000">
                <a:solidFill>
                  <a:schemeClr val="dk2"/>
                </a:solidFill>
                <a:latin typeface="Comfortaa"/>
                <a:ea typeface="Comfortaa"/>
                <a:cs typeface="Comfortaa"/>
                <a:sym typeface="Comfortaa"/>
              </a:rPr>
              <a:t>CADA MEDIDA SE CALCULA RECORRIENDO UNA RUTA FIJA SOBRE LA SUPERFICIE DEL CUERPO: ASÍ SE OBTIENEN CONTORNOS (CINTURA, PECHO, CADERA), LONGITUDES (BRAZO, PIERNA) Y ANCHOS (HOMBROS). ASÍ SE ASEGURA CONSISTENCIA: SIEMPRE SE MIDE LO MISMO EN EL MISMO LUGAR.</a:t>
            </a:r>
            <a:endParaRPr b="1" sz="1000">
              <a:solidFill>
                <a:schemeClr val="dk2"/>
              </a:solidFill>
              <a:latin typeface="Comfortaa"/>
              <a:ea typeface="Comfortaa"/>
              <a:cs typeface="Comfortaa"/>
              <a:sym typeface="Comfortaa"/>
            </a:endParaRPr>
          </a:p>
        </p:txBody>
      </p:sp>
      <p:pic>
        <p:nvPicPr>
          <p:cNvPr descr="Imagen que contiene Interfaz de usuario gráfica&#10;&#10;Descripción generada automáticamente" id="174" name="Google Shape;174;p20"/>
          <p:cNvPicPr preferRelativeResize="0"/>
          <p:nvPr/>
        </p:nvPicPr>
        <p:blipFill rotWithShape="1">
          <a:blip r:embed="rId6">
            <a:alphaModFix/>
          </a:blip>
          <a:srcRect b="0" l="7661" r="39352" t="10023"/>
          <a:stretch/>
        </p:blipFill>
        <p:spPr>
          <a:xfrm>
            <a:off x="4926838" y="694425"/>
            <a:ext cx="2845977" cy="2977424"/>
          </a:xfrm>
          <a:prstGeom prst="rect">
            <a:avLst/>
          </a:prstGeom>
          <a:noFill/>
          <a:ln>
            <a:noFill/>
          </a:ln>
        </p:spPr>
      </p:pic>
      <p:pic>
        <p:nvPicPr>
          <p:cNvPr descr="Imagen que contiene Interfaz de usuario gráfica&#10;&#10;Descripción generada automáticamente" id="175" name="Google Shape;175;p20"/>
          <p:cNvPicPr preferRelativeResize="0"/>
          <p:nvPr/>
        </p:nvPicPr>
        <p:blipFill rotWithShape="1">
          <a:blip r:embed="rId6">
            <a:alphaModFix/>
          </a:blip>
          <a:srcRect b="2180" l="68445" r="2729" t="11619"/>
          <a:stretch/>
        </p:blipFill>
        <p:spPr>
          <a:xfrm>
            <a:off x="7708450" y="1071563"/>
            <a:ext cx="1206676" cy="2223153"/>
          </a:xfrm>
          <a:prstGeom prst="rect">
            <a:avLst/>
          </a:prstGeom>
          <a:noFill/>
          <a:ln>
            <a:noFill/>
          </a:ln>
        </p:spPr>
      </p:pic>
      <p:pic>
        <p:nvPicPr>
          <p:cNvPr descr="Diagrama&#10;&#10;Descripción generada automáticamente" id="176" name="Google Shape;176;p20"/>
          <p:cNvPicPr preferRelativeResize="0"/>
          <p:nvPr/>
        </p:nvPicPr>
        <p:blipFill rotWithShape="1">
          <a:blip r:embed="rId5">
            <a:alphaModFix/>
          </a:blip>
          <a:srcRect b="2515" l="65923" r="0" t="0"/>
          <a:stretch/>
        </p:blipFill>
        <p:spPr>
          <a:xfrm>
            <a:off x="3798550" y="926275"/>
            <a:ext cx="1030100" cy="2655924"/>
          </a:xfrm>
          <a:prstGeom prst="rect">
            <a:avLst/>
          </a:prstGeom>
          <a:noFill/>
          <a:ln>
            <a:noFill/>
          </a:ln>
        </p:spPr>
      </p:pic>
      <p:sp>
        <p:nvSpPr>
          <p:cNvPr id="177" name="Google Shape;177;p20"/>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SISTEMA DE MEDIDAS DEL CONJUNTO DE DATOS BODYM</a:t>
            </a:r>
            <a:endParaRPr b="1" i="0" sz="1244" u="none" cap="none" strike="noStrike">
              <a:solidFill>
                <a:srgbClr val="0C265D"/>
              </a:solidFill>
              <a:latin typeface="Comfortaa"/>
              <a:ea typeface="Comfortaa"/>
              <a:cs typeface="Comfortaa"/>
              <a:sym typeface="Comfortaa"/>
            </a:endParaRPr>
          </a:p>
        </p:txBody>
      </p:sp>
      <p:cxnSp>
        <p:nvCxnSpPr>
          <p:cNvPr id="178" name="Google Shape;178;p20"/>
          <p:cNvCxnSpPr/>
          <p:nvPr/>
        </p:nvCxnSpPr>
        <p:spPr>
          <a:xfrm>
            <a:off x="180600" y="454650"/>
            <a:ext cx="8782800" cy="12300"/>
          </a:xfrm>
          <a:prstGeom prst="straightConnector1">
            <a:avLst/>
          </a:prstGeom>
          <a:noFill/>
          <a:ln cap="flat" cmpd="sng" w="9525">
            <a:solidFill>
              <a:schemeClr val="dk1"/>
            </a:solidFill>
            <a:prstDash val="solid"/>
            <a:round/>
            <a:headEnd len="med" w="med" type="oval"/>
            <a:tailEnd len="med" w="med" type="oval"/>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1"/>
          <p:cNvPicPr preferRelativeResize="0"/>
          <p:nvPr/>
        </p:nvPicPr>
        <p:blipFill>
          <a:blip r:embed="rId3">
            <a:alphaModFix/>
          </a:blip>
          <a:stretch>
            <a:fillRect/>
          </a:stretch>
        </p:blipFill>
        <p:spPr>
          <a:xfrm>
            <a:off x="0" y="0"/>
            <a:ext cx="9144001" cy="4699500"/>
          </a:xfrm>
          <a:prstGeom prst="rect">
            <a:avLst/>
          </a:prstGeom>
          <a:noFill/>
          <a:ln>
            <a:noFill/>
          </a:ln>
        </p:spPr>
      </p:pic>
      <p:sp>
        <p:nvSpPr>
          <p:cNvPr id="184" name="Google Shape;184;p21"/>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185" name="Google Shape;185;p21"/>
          <p:cNvPicPr preferRelativeResize="0"/>
          <p:nvPr/>
        </p:nvPicPr>
        <p:blipFill rotWithShape="1">
          <a:blip r:embed="rId4">
            <a:alphaModFix/>
          </a:blip>
          <a:srcRect b="0" l="0" r="0" t="0"/>
          <a:stretch/>
        </p:blipFill>
        <p:spPr>
          <a:xfrm>
            <a:off x="165610" y="4813070"/>
            <a:ext cx="748762" cy="247874"/>
          </a:xfrm>
          <a:prstGeom prst="rect">
            <a:avLst/>
          </a:prstGeom>
          <a:noFill/>
          <a:ln>
            <a:noFill/>
          </a:ln>
        </p:spPr>
      </p:pic>
      <p:sp>
        <p:nvSpPr>
          <p:cNvPr id="186" name="Google Shape;186;p21"/>
          <p:cNvSpPr/>
          <p:nvPr/>
        </p:nvSpPr>
        <p:spPr>
          <a:xfrm>
            <a:off x="2307900" y="2009100"/>
            <a:ext cx="4528200" cy="681300"/>
          </a:xfrm>
          <a:prstGeom prst="roundRect">
            <a:avLst>
              <a:gd fmla="val 21570" name="adj"/>
            </a:avLst>
          </a:prstGeom>
          <a:solidFill>
            <a:srgbClr val="BFC8D9"/>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chemeClr val="dk1"/>
              </a:buClr>
              <a:buSzPts val="1125"/>
              <a:buFont typeface="Arial"/>
              <a:buNone/>
            </a:pPr>
            <a:r>
              <a:rPr b="1" lang="en" sz="1124">
                <a:solidFill>
                  <a:srgbClr val="0C265D"/>
                </a:solidFill>
                <a:latin typeface="Comfortaa"/>
                <a:ea typeface="Comfortaa"/>
                <a:cs typeface="Comfortaa"/>
                <a:sym typeface="Comfortaa"/>
              </a:rPr>
              <a:t> APLICACIÓN DEL MODELO PRE ENTRENADO </a:t>
            </a:r>
            <a:r>
              <a:rPr b="1" lang="en" sz="1224">
                <a:solidFill>
                  <a:srgbClr val="990000"/>
                </a:solidFill>
                <a:latin typeface="Comfortaa"/>
                <a:ea typeface="Comfortaa"/>
                <a:cs typeface="Comfortaa"/>
                <a:sym typeface="Comfortaa"/>
              </a:rPr>
              <a:t>MOBILENETV2</a:t>
            </a:r>
            <a:endParaRPr b="0" i="0" sz="1149" u="none" cap="none" strike="noStrike">
              <a:solidFill>
                <a:srgbClr val="99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192" name="Google Shape;192;p22"/>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193" name="Google Shape;193;p22"/>
          <p:cNvSpPr txBox="1"/>
          <p:nvPr/>
        </p:nvSpPr>
        <p:spPr>
          <a:xfrm>
            <a:off x="374400" y="360175"/>
            <a:ext cx="8395200" cy="4013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100"/>
              </a:spcBef>
              <a:spcAft>
                <a:spcPts val="0"/>
              </a:spcAft>
              <a:buNone/>
            </a:pPr>
            <a:r>
              <a:rPr b="1" lang="en" sz="1600" u="sng">
                <a:solidFill>
                  <a:schemeClr val="dk1"/>
                </a:solidFill>
              </a:rPr>
              <a:t>PROCEDIMIENTO</a:t>
            </a:r>
            <a:endParaRPr b="1" sz="1600" u="sng">
              <a:solidFill>
                <a:schemeClr val="dk1"/>
              </a:solidFill>
            </a:endParaRPr>
          </a:p>
          <a:p>
            <a:pPr indent="0" lvl="0" marL="0" rtl="0" algn="l">
              <a:lnSpc>
                <a:spcPct val="150000"/>
              </a:lnSpc>
              <a:spcBef>
                <a:spcPts val="130"/>
              </a:spcBef>
              <a:spcAft>
                <a:spcPts val="0"/>
              </a:spcAft>
              <a:buNone/>
            </a:pPr>
            <a:r>
              <a:rPr lang="en" sz="1100">
                <a:solidFill>
                  <a:schemeClr val="dk1"/>
                </a:solidFill>
              </a:rPr>
              <a:t>Se implementó una estrategia de </a:t>
            </a:r>
            <a:r>
              <a:rPr b="1" lang="en" sz="1100">
                <a:solidFill>
                  <a:schemeClr val="dk1"/>
                </a:solidFill>
              </a:rPr>
              <a:t>Transfer Learning</a:t>
            </a:r>
            <a:r>
              <a:rPr lang="en" sz="1100">
                <a:solidFill>
                  <a:schemeClr val="dk1"/>
                </a:solidFill>
              </a:rPr>
              <a:t> sobre una Red Neuronal Convolucional (CNN) preentrenada, adaptándola para una tarea de regresión múltiple.</a:t>
            </a:r>
            <a:endParaRPr sz="1100">
              <a:solidFill>
                <a:schemeClr val="dk1"/>
              </a:solidFill>
            </a:endParaRPr>
          </a:p>
          <a:p>
            <a:pPr indent="0" lvl="0" marL="0" rtl="0" algn="l">
              <a:lnSpc>
                <a:spcPct val="150000"/>
              </a:lnSpc>
              <a:spcBef>
                <a:spcPts val="130"/>
              </a:spcBef>
              <a:spcAft>
                <a:spcPts val="0"/>
              </a:spcAft>
              <a:buNone/>
            </a:pPr>
            <a:r>
              <a:rPr b="1" lang="en" sz="1300">
                <a:solidFill>
                  <a:schemeClr val="dk1"/>
                </a:solidFill>
              </a:rPr>
              <a:t>Dataset Seleccionado</a:t>
            </a:r>
            <a:endParaRPr b="1" sz="1300">
              <a:solidFill>
                <a:schemeClr val="dk1"/>
              </a:solidFill>
            </a:endParaRPr>
          </a:p>
          <a:p>
            <a:pPr indent="0" lvl="0" marL="0" rtl="0" algn="l">
              <a:lnSpc>
                <a:spcPct val="150000"/>
              </a:lnSpc>
              <a:spcBef>
                <a:spcPts val="130"/>
              </a:spcBef>
              <a:spcAft>
                <a:spcPts val="0"/>
              </a:spcAft>
              <a:buNone/>
            </a:pPr>
            <a:r>
              <a:rPr lang="en" sz="1100">
                <a:solidFill>
                  <a:schemeClr val="dk1"/>
                </a:solidFill>
              </a:rPr>
              <a:t>Se utilizó el dataset </a:t>
            </a:r>
            <a:r>
              <a:rPr b="1" lang="en" sz="1100">
                <a:solidFill>
                  <a:schemeClr val="dk1"/>
                </a:solidFill>
              </a:rPr>
              <a:t>BodyM</a:t>
            </a:r>
            <a:r>
              <a:rPr lang="en" sz="1100">
                <a:solidFill>
                  <a:schemeClr val="dk1"/>
                </a:solidFill>
              </a:rPr>
              <a:t> (Body Measurements Dataset) , validado para tareas de antropometría.</a:t>
            </a:r>
            <a:endParaRPr sz="1100">
              <a:solidFill>
                <a:schemeClr val="dk1"/>
              </a:solidFill>
            </a:endParaRPr>
          </a:p>
          <a:p>
            <a:pPr indent="-298450" lvl="0" marL="457200" rtl="0" algn="l">
              <a:lnSpc>
                <a:spcPct val="150000"/>
              </a:lnSpc>
              <a:spcBef>
                <a:spcPts val="130"/>
              </a:spcBef>
              <a:spcAft>
                <a:spcPts val="0"/>
              </a:spcAft>
              <a:buClr>
                <a:schemeClr val="dk1"/>
              </a:buClr>
              <a:buSzPts val="1100"/>
              <a:buChar char="●"/>
            </a:pPr>
            <a:r>
              <a:rPr b="1" lang="en" sz="1100">
                <a:solidFill>
                  <a:schemeClr val="dk1"/>
                </a:solidFill>
              </a:rPr>
              <a:t>Entrada:</a:t>
            </a:r>
            <a:r>
              <a:rPr lang="en" sz="1100">
                <a:solidFill>
                  <a:schemeClr val="dk1"/>
                </a:solidFill>
              </a:rPr>
              <a:t> Imágenes de siluetas humanas procesadas.</a:t>
            </a:r>
            <a:endParaRPr sz="1100">
              <a:solidFill>
                <a:schemeClr val="dk1"/>
              </a:solidFill>
            </a:endParaRPr>
          </a:p>
          <a:p>
            <a:pPr indent="-298450" lvl="0" marL="457200" rtl="0" algn="l">
              <a:lnSpc>
                <a:spcPct val="150000"/>
              </a:lnSpc>
              <a:spcBef>
                <a:spcPts val="130"/>
              </a:spcBef>
              <a:spcAft>
                <a:spcPts val="0"/>
              </a:spcAft>
              <a:buClr>
                <a:schemeClr val="dk1"/>
              </a:buClr>
              <a:buSzPts val="1100"/>
              <a:buChar char="●"/>
            </a:pPr>
            <a:r>
              <a:rPr b="1" lang="en" sz="1100">
                <a:solidFill>
                  <a:schemeClr val="dk1"/>
                </a:solidFill>
              </a:rPr>
              <a:t>Salida (Target):</a:t>
            </a:r>
            <a:r>
              <a:rPr lang="en" sz="1100">
                <a:solidFill>
                  <a:schemeClr val="dk1"/>
                </a:solidFill>
              </a:rPr>
              <a:t> 14 variables continuas (cm) incluyendo: </a:t>
            </a:r>
            <a:r>
              <a:rPr lang="en" sz="1100">
                <a:solidFill>
                  <a:srgbClr val="188038"/>
                </a:solidFill>
              </a:rPr>
              <a:t>chest</a:t>
            </a:r>
            <a:r>
              <a:rPr lang="en" sz="1100">
                <a:solidFill>
                  <a:schemeClr val="dk1"/>
                </a:solidFill>
              </a:rPr>
              <a:t>, </a:t>
            </a:r>
            <a:r>
              <a:rPr lang="en" sz="1100">
                <a:solidFill>
                  <a:srgbClr val="188038"/>
                </a:solidFill>
              </a:rPr>
              <a:t>waist</a:t>
            </a:r>
            <a:r>
              <a:rPr lang="en" sz="1100">
                <a:solidFill>
                  <a:schemeClr val="dk1"/>
                </a:solidFill>
              </a:rPr>
              <a:t>, </a:t>
            </a:r>
            <a:r>
              <a:rPr lang="en" sz="1100">
                <a:solidFill>
                  <a:srgbClr val="188038"/>
                </a:solidFill>
              </a:rPr>
              <a:t>height</a:t>
            </a:r>
            <a:r>
              <a:rPr lang="en" sz="1100">
                <a:solidFill>
                  <a:schemeClr val="dk1"/>
                </a:solidFill>
              </a:rPr>
              <a:t>, </a:t>
            </a:r>
            <a:r>
              <a:rPr lang="en" sz="1100">
                <a:solidFill>
                  <a:srgbClr val="188038"/>
                </a:solidFill>
              </a:rPr>
              <a:t>arm-length</a:t>
            </a:r>
            <a:r>
              <a:rPr lang="en" sz="1100">
                <a:solidFill>
                  <a:schemeClr val="dk1"/>
                </a:solidFill>
              </a:rPr>
              <a:t>, entre otras.</a:t>
            </a:r>
            <a:endParaRPr sz="1100">
              <a:solidFill>
                <a:schemeClr val="dk1"/>
              </a:solidFill>
            </a:endParaRPr>
          </a:p>
          <a:p>
            <a:pPr indent="-298450" lvl="0" marL="457200" rtl="0" algn="l">
              <a:lnSpc>
                <a:spcPct val="150000"/>
              </a:lnSpc>
              <a:spcBef>
                <a:spcPts val="130"/>
              </a:spcBef>
              <a:spcAft>
                <a:spcPts val="0"/>
              </a:spcAft>
              <a:buClr>
                <a:schemeClr val="dk1"/>
              </a:buClr>
              <a:buSzPts val="1100"/>
              <a:buChar char="●"/>
            </a:pPr>
            <a:r>
              <a:rPr b="1" lang="en" sz="1100">
                <a:solidFill>
                  <a:schemeClr val="dk1"/>
                </a:solidFill>
              </a:rPr>
              <a:t>Pre-procesamiento:</a:t>
            </a:r>
            <a:r>
              <a:rPr lang="en" sz="1100">
                <a:solidFill>
                  <a:schemeClr val="dk1"/>
                </a:solidFill>
              </a:rPr>
              <a:t> Las imágenes fueron redimensionadas a 224 x 224 píxeles y normalizadas al rango [0, 1] para coincidir con la entrada nativa de la red.</a:t>
            </a:r>
            <a:endParaRPr sz="1100">
              <a:solidFill>
                <a:schemeClr val="dk1"/>
              </a:solidFill>
            </a:endParaRPr>
          </a:p>
          <a:p>
            <a:pPr indent="0" lvl="0" marL="0" rtl="0" algn="l">
              <a:lnSpc>
                <a:spcPct val="150000"/>
              </a:lnSpc>
              <a:spcBef>
                <a:spcPts val="130"/>
              </a:spcBef>
              <a:spcAft>
                <a:spcPts val="0"/>
              </a:spcAft>
              <a:buNone/>
            </a:pPr>
            <a:r>
              <a:rPr b="1" lang="en" sz="1300">
                <a:solidFill>
                  <a:schemeClr val="dk1"/>
                </a:solidFill>
              </a:rPr>
              <a:t>Arquitectura Seleccionada: MobileNetV2</a:t>
            </a:r>
            <a:endParaRPr b="1" sz="1300">
              <a:solidFill>
                <a:schemeClr val="dk1"/>
              </a:solidFill>
            </a:endParaRPr>
          </a:p>
          <a:p>
            <a:pPr indent="0" lvl="0" marL="0" rtl="0" algn="l">
              <a:lnSpc>
                <a:spcPct val="150000"/>
              </a:lnSpc>
              <a:spcBef>
                <a:spcPts val="130"/>
              </a:spcBef>
              <a:spcAft>
                <a:spcPts val="0"/>
              </a:spcAft>
              <a:buNone/>
            </a:pPr>
            <a:r>
              <a:rPr lang="en" sz="1100">
                <a:solidFill>
                  <a:schemeClr val="dk1"/>
                </a:solidFill>
              </a:rPr>
              <a:t>Se seleccionó </a:t>
            </a:r>
            <a:r>
              <a:rPr b="1" lang="en" sz="1100">
                <a:solidFill>
                  <a:schemeClr val="dk1"/>
                </a:solidFill>
              </a:rPr>
              <a:t>MobileNetV2</a:t>
            </a:r>
            <a:r>
              <a:rPr lang="en" sz="1100">
                <a:solidFill>
                  <a:schemeClr val="dk1"/>
                </a:solidFill>
              </a:rPr>
              <a:t> como la arquitectura base (Backbone) .</a:t>
            </a:r>
            <a:endParaRPr sz="1100">
              <a:solidFill>
                <a:schemeClr val="dk1"/>
              </a:solidFill>
            </a:endParaRPr>
          </a:p>
          <a:p>
            <a:pPr indent="-298450" lvl="0" marL="457200" rtl="0" algn="l">
              <a:lnSpc>
                <a:spcPct val="150000"/>
              </a:lnSpc>
              <a:spcBef>
                <a:spcPts val="130"/>
              </a:spcBef>
              <a:spcAft>
                <a:spcPts val="130"/>
              </a:spcAft>
              <a:buClr>
                <a:schemeClr val="dk1"/>
              </a:buClr>
              <a:buSzPts val="1100"/>
              <a:buChar char="●"/>
            </a:pPr>
            <a:r>
              <a:rPr b="1" lang="en" sz="1100">
                <a:solidFill>
                  <a:schemeClr val="dk1"/>
                </a:solidFill>
              </a:rPr>
              <a:t>Justificación:</a:t>
            </a:r>
            <a:r>
              <a:rPr lang="en" sz="1100">
                <a:solidFill>
                  <a:schemeClr val="dk1"/>
                </a:solidFill>
              </a:rPr>
              <a:t> Esta arquitectura utiliza </a:t>
            </a:r>
            <a:r>
              <a:rPr i="1" lang="en" sz="1100">
                <a:solidFill>
                  <a:schemeClr val="dk1"/>
                </a:solidFill>
              </a:rPr>
              <a:t>Inverted Residual Blocks</a:t>
            </a:r>
            <a:r>
              <a:rPr lang="en" sz="1100">
                <a:solidFill>
                  <a:schemeClr val="dk1"/>
                </a:solidFill>
              </a:rPr>
              <a:t> y </a:t>
            </a:r>
            <a:r>
              <a:rPr i="1" lang="en" sz="1100">
                <a:solidFill>
                  <a:schemeClr val="dk1"/>
                </a:solidFill>
              </a:rPr>
              <a:t>Depthwise Separable Convolutions</a:t>
            </a:r>
            <a:r>
              <a:rPr lang="en" sz="1100">
                <a:solidFill>
                  <a:schemeClr val="dk1"/>
                </a:solidFill>
              </a:rPr>
              <a:t>. Esto reduce drásticamente el número de parámetros y el costo computacional sin sacrificar precisión significativa, lo que la hace ideal para despliegue en dispositivos móviles o sistemas embebidos en planta (Edge AI).</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199" name="Google Shape;199;p23"/>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200" name="Google Shape;200;p23"/>
          <p:cNvSpPr txBox="1"/>
          <p:nvPr/>
        </p:nvSpPr>
        <p:spPr>
          <a:xfrm>
            <a:off x="435900" y="309550"/>
            <a:ext cx="8272200" cy="4202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00"/>
              </a:spcBef>
              <a:spcAft>
                <a:spcPts val="0"/>
              </a:spcAft>
              <a:buNone/>
            </a:pPr>
            <a:r>
              <a:rPr b="1" lang="en" sz="1300">
                <a:solidFill>
                  <a:schemeClr val="dk1"/>
                </a:solidFill>
              </a:rPr>
              <a:t>Proceso de Adaptación (Transfer Learning):</a:t>
            </a:r>
            <a:endParaRPr b="1" sz="1300">
              <a:solidFill>
                <a:schemeClr val="dk1"/>
              </a:solidFill>
            </a:endParaRPr>
          </a:p>
          <a:p>
            <a:pPr indent="-298450" lvl="0" marL="457200" rtl="0" algn="l">
              <a:lnSpc>
                <a:spcPct val="150000"/>
              </a:lnSpc>
              <a:spcBef>
                <a:spcPts val="130"/>
              </a:spcBef>
              <a:spcAft>
                <a:spcPts val="0"/>
              </a:spcAft>
              <a:buClr>
                <a:schemeClr val="dk1"/>
              </a:buClr>
              <a:buSzPts val="1100"/>
              <a:buAutoNum type="arabicPeriod"/>
            </a:pPr>
            <a:r>
              <a:rPr b="1" lang="en" sz="1100">
                <a:solidFill>
                  <a:schemeClr val="dk1"/>
                </a:solidFill>
              </a:rPr>
              <a:t>Base:</a:t>
            </a:r>
            <a:r>
              <a:rPr lang="en" sz="1100">
                <a:solidFill>
                  <a:schemeClr val="dk1"/>
                </a:solidFill>
              </a:rPr>
              <a:t> Se cargaron los pesos preentrenados en </a:t>
            </a:r>
            <a:r>
              <a:rPr b="1" lang="en" sz="1100">
                <a:solidFill>
                  <a:schemeClr val="dk1"/>
                </a:solidFill>
              </a:rPr>
              <a:t>ImageNet</a:t>
            </a:r>
            <a:r>
              <a:rPr lang="en" sz="1100">
                <a:solidFill>
                  <a:schemeClr val="dk1"/>
                </a:solidFill>
              </a:rPr>
              <a:t> y se congelaron las capas convolucionales para aprovechar la extracción de características visuales (bordes, formas).</a:t>
            </a:r>
            <a:endParaRPr sz="1100">
              <a:solidFill>
                <a:schemeClr val="dk1"/>
              </a:solidFill>
            </a:endParaRPr>
          </a:p>
          <a:p>
            <a:pPr indent="-298450" lvl="0" marL="457200" rtl="0" algn="l">
              <a:lnSpc>
                <a:spcPct val="150000"/>
              </a:lnSpc>
              <a:spcBef>
                <a:spcPts val="130"/>
              </a:spcBef>
              <a:spcAft>
                <a:spcPts val="0"/>
              </a:spcAft>
              <a:buClr>
                <a:schemeClr val="dk1"/>
              </a:buClr>
              <a:buSzPts val="1100"/>
              <a:buAutoNum type="arabicPeriod"/>
            </a:pPr>
            <a:r>
              <a:rPr b="1" lang="en" sz="1100">
                <a:solidFill>
                  <a:schemeClr val="dk1"/>
                </a:solidFill>
              </a:rPr>
              <a:t>Cabecera (Top):</a:t>
            </a:r>
            <a:r>
              <a:rPr lang="en" sz="1100">
                <a:solidFill>
                  <a:schemeClr val="dk1"/>
                </a:solidFill>
              </a:rPr>
              <a:t> Se sustituyó la capa de clasificación original por una arquitectura de regresión:</a:t>
            </a:r>
            <a:endParaRPr sz="1100">
              <a:solidFill>
                <a:schemeClr val="dk1"/>
              </a:solidFill>
            </a:endParaRPr>
          </a:p>
          <a:p>
            <a:pPr indent="-298450" lvl="1" marL="914400" rtl="0" algn="l">
              <a:lnSpc>
                <a:spcPct val="150000"/>
              </a:lnSpc>
              <a:spcBef>
                <a:spcPts val="130"/>
              </a:spcBef>
              <a:spcAft>
                <a:spcPts val="0"/>
              </a:spcAft>
              <a:buClr>
                <a:schemeClr val="dk1"/>
              </a:buClr>
              <a:buSzPts val="1100"/>
              <a:buChar char="○"/>
            </a:pPr>
            <a:r>
              <a:rPr lang="en" sz="1100">
                <a:solidFill>
                  <a:srgbClr val="188038"/>
                </a:solidFill>
              </a:rPr>
              <a:t>GlobalAveragePooling2D</a:t>
            </a:r>
            <a:r>
              <a:rPr lang="en" sz="1100">
                <a:solidFill>
                  <a:schemeClr val="dk1"/>
                </a:solidFill>
              </a:rPr>
              <a:t>: Para reducir la dimensionalidad espacial.</a:t>
            </a:r>
            <a:endParaRPr sz="1100">
              <a:solidFill>
                <a:schemeClr val="dk1"/>
              </a:solidFill>
            </a:endParaRPr>
          </a:p>
          <a:p>
            <a:pPr indent="-298450" lvl="1" marL="914400" rtl="0" algn="l">
              <a:lnSpc>
                <a:spcPct val="150000"/>
              </a:lnSpc>
              <a:spcBef>
                <a:spcPts val="130"/>
              </a:spcBef>
              <a:spcAft>
                <a:spcPts val="0"/>
              </a:spcAft>
              <a:buClr>
                <a:schemeClr val="dk1"/>
              </a:buClr>
              <a:buSzPts val="1100"/>
              <a:buChar char="○"/>
            </a:pPr>
            <a:r>
              <a:rPr lang="en" sz="1100">
                <a:solidFill>
                  <a:srgbClr val="188038"/>
                </a:solidFill>
              </a:rPr>
              <a:t>Dense</a:t>
            </a:r>
            <a:r>
              <a:rPr lang="en" sz="1100">
                <a:solidFill>
                  <a:schemeClr val="dk1"/>
                </a:solidFill>
              </a:rPr>
              <a:t> (128 neuronas, activación ReLU): Para aprendizaje de patrones no lineales.</a:t>
            </a:r>
            <a:endParaRPr sz="1100">
              <a:solidFill>
                <a:schemeClr val="dk1"/>
              </a:solidFill>
            </a:endParaRPr>
          </a:p>
          <a:p>
            <a:pPr indent="-298450" lvl="1" marL="914400" rtl="0" algn="l">
              <a:lnSpc>
                <a:spcPct val="150000"/>
              </a:lnSpc>
              <a:spcBef>
                <a:spcPts val="130"/>
              </a:spcBef>
              <a:spcAft>
                <a:spcPts val="0"/>
              </a:spcAft>
              <a:buClr>
                <a:schemeClr val="dk1"/>
              </a:buClr>
              <a:buSzPts val="1100"/>
              <a:buChar char="○"/>
            </a:pPr>
            <a:r>
              <a:rPr lang="en" sz="1100">
                <a:solidFill>
                  <a:srgbClr val="188038"/>
                </a:solidFill>
              </a:rPr>
              <a:t>Dropout</a:t>
            </a:r>
            <a:r>
              <a:rPr lang="en" sz="1100">
                <a:solidFill>
                  <a:schemeClr val="dk1"/>
                </a:solidFill>
              </a:rPr>
              <a:t> (0.2): Para regularización y prevención de sobreajuste.</a:t>
            </a:r>
            <a:endParaRPr sz="1100">
              <a:solidFill>
                <a:schemeClr val="dk1"/>
              </a:solidFill>
            </a:endParaRPr>
          </a:p>
          <a:p>
            <a:pPr indent="-298450" lvl="1" marL="914400" rtl="0" algn="l">
              <a:lnSpc>
                <a:spcPct val="150000"/>
              </a:lnSpc>
              <a:spcBef>
                <a:spcPts val="130"/>
              </a:spcBef>
              <a:spcAft>
                <a:spcPts val="0"/>
              </a:spcAft>
              <a:buClr>
                <a:schemeClr val="dk1"/>
              </a:buClr>
              <a:buSzPts val="1100"/>
              <a:buChar char="○"/>
            </a:pPr>
            <a:r>
              <a:rPr lang="en" sz="1100">
                <a:solidFill>
                  <a:srgbClr val="188038"/>
                </a:solidFill>
              </a:rPr>
              <a:t>Dense</a:t>
            </a:r>
            <a:r>
              <a:rPr lang="en" sz="1100">
                <a:solidFill>
                  <a:schemeClr val="dk1"/>
                </a:solidFill>
              </a:rPr>
              <a:t> (14 neuronas, activación </a:t>
            </a:r>
            <a:r>
              <a:rPr b="1" lang="en" sz="1100">
                <a:solidFill>
                  <a:schemeClr val="dk1"/>
                </a:solidFill>
              </a:rPr>
              <a:t>Linear</a:t>
            </a:r>
            <a:r>
              <a:rPr lang="en" sz="1100">
                <a:solidFill>
                  <a:schemeClr val="dk1"/>
                </a:solidFill>
              </a:rPr>
              <a:t>): Capa de salida para predecir los valores continuos (cm).</a:t>
            </a:r>
            <a:endParaRPr sz="1100">
              <a:solidFill>
                <a:schemeClr val="dk1"/>
              </a:solidFill>
            </a:endParaRPr>
          </a:p>
          <a:p>
            <a:pPr indent="0" lvl="0" marL="0" rtl="0" algn="l">
              <a:lnSpc>
                <a:spcPct val="150000"/>
              </a:lnSpc>
              <a:spcBef>
                <a:spcPts val="130"/>
              </a:spcBef>
              <a:spcAft>
                <a:spcPts val="0"/>
              </a:spcAft>
              <a:buNone/>
            </a:pPr>
            <a:r>
              <a:rPr b="1" lang="en" sz="1300">
                <a:solidFill>
                  <a:schemeClr val="dk1"/>
                </a:solidFill>
              </a:rPr>
              <a:t>Data Augmentation</a:t>
            </a:r>
            <a:endParaRPr b="1" sz="1300">
              <a:solidFill>
                <a:schemeClr val="dk1"/>
              </a:solidFill>
            </a:endParaRPr>
          </a:p>
          <a:p>
            <a:pPr indent="0" lvl="0" marL="0" rtl="0" algn="l">
              <a:lnSpc>
                <a:spcPct val="150000"/>
              </a:lnSpc>
              <a:spcBef>
                <a:spcPts val="130"/>
              </a:spcBef>
              <a:spcAft>
                <a:spcPts val="0"/>
              </a:spcAft>
              <a:buNone/>
            </a:pPr>
            <a:r>
              <a:rPr lang="en" sz="1100">
                <a:solidFill>
                  <a:schemeClr val="dk1"/>
                </a:solidFill>
              </a:rPr>
              <a:t>Para cumplir con el requisito de robustez , se implementó un generador de datos dinámico con transformaciones geométricas específicas para simular condiciones reales de captura:</a:t>
            </a:r>
            <a:endParaRPr sz="1100">
              <a:solidFill>
                <a:schemeClr val="dk1"/>
              </a:solidFill>
            </a:endParaRPr>
          </a:p>
          <a:p>
            <a:pPr indent="-298450" lvl="0" marL="457200" rtl="0" algn="l">
              <a:lnSpc>
                <a:spcPct val="150000"/>
              </a:lnSpc>
              <a:spcBef>
                <a:spcPts val="130"/>
              </a:spcBef>
              <a:spcAft>
                <a:spcPts val="0"/>
              </a:spcAft>
              <a:buClr>
                <a:schemeClr val="dk1"/>
              </a:buClr>
              <a:buSzPts val="1100"/>
              <a:buChar char="●"/>
            </a:pPr>
            <a:r>
              <a:rPr b="1" lang="en" sz="1100">
                <a:solidFill>
                  <a:schemeClr val="dk1"/>
                </a:solidFill>
              </a:rPr>
              <a:t>Rotación (+- 5°):</a:t>
            </a:r>
            <a:r>
              <a:rPr lang="en" sz="1100">
                <a:solidFill>
                  <a:schemeClr val="dk1"/>
                </a:solidFill>
              </a:rPr>
              <a:t> Simula ligeros desniveles en la cámara.</a:t>
            </a:r>
            <a:endParaRPr sz="1100">
              <a:solidFill>
                <a:schemeClr val="dk1"/>
              </a:solidFill>
            </a:endParaRPr>
          </a:p>
          <a:p>
            <a:pPr indent="-298450" lvl="0" marL="457200" rtl="0" algn="l">
              <a:lnSpc>
                <a:spcPct val="150000"/>
              </a:lnSpc>
              <a:spcBef>
                <a:spcPts val="130"/>
              </a:spcBef>
              <a:spcAft>
                <a:spcPts val="0"/>
              </a:spcAft>
              <a:buClr>
                <a:schemeClr val="dk1"/>
              </a:buClr>
              <a:buSzPts val="1100"/>
              <a:buChar char="●"/>
            </a:pPr>
            <a:r>
              <a:rPr b="1" lang="en" sz="1100">
                <a:solidFill>
                  <a:schemeClr val="dk1"/>
                </a:solidFill>
              </a:rPr>
              <a:t>Zoom (0.05):</a:t>
            </a:r>
            <a:r>
              <a:rPr lang="en" sz="1100">
                <a:solidFill>
                  <a:schemeClr val="dk1"/>
                </a:solidFill>
              </a:rPr>
              <a:t> Simula variaciones en la distancia del sujeto.</a:t>
            </a:r>
            <a:endParaRPr sz="1100">
              <a:solidFill>
                <a:schemeClr val="dk1"/>
              </a:solidFill>
            </a:endParaRPr>
          </a:p>
          <a:p>
            <a:pPr indent="-298450" lvl="0" marL="457200" rtl="0" algn="l">
              <a:lnSpc>
                <a:spcPct val="150000"/>
              </a:lnSpc>
              <a:spcBef>
                <a:spcPts val="130"/>
              </a:spcBef>
              <a:spcAft>
                <a:spcPts val="0"/>
              </a:spcAft>
              <a:buClr>
                <a:schemeClr val="dk1"/>
              </a:buClr>
              <a:buSzPts val="1100"/>
              <a:buChar char="●"/>
            </a:pPr>
            <a:r>
              <a:rPr b="1" lang="en" sz="1100">
                <a:solidFill>
                  <a:schemeClr val="dk1"/>
                </a:solidFill>
              </a:rPr>
              <a:t>Desplazamiento (Shift):</a:t>
            </a:r>
            <a:r>
              <a:rPr lang="en" sz="1100">
                <a:solidFill>
                  <a:schemeClr val="dk1"/>
                </a:solidFill>
              </a:rPr>
              <a:t> Simula que el sujeto no esté perfectamente centrado.</a:t>
            </a:r>
            <a:endParaRPr sz="1100">
              <a:solidFill>
                <a:schemeClr val="dk1"/>
              </a:solidFill>
            </a:endParaRPr>
          </a:p>
          <a:p>
            <a:pPr indent="-298450" lvl="0" marL="457200" rtl="0" algn="l">
              <a:lnSpc>
                <a:spcPct val="150000"/>
              </a:lnSpc>
              <a:spcBef>
                <a:spcPts val="130"/>
              </a:spcBef>
              <a:spcAft>
                <a:spcPts val="130"/>
              </a:spcAft>
              <a:buClr>
                <a:schemeClr val="dk1"/>
              </a:buClr>
              <a:buSzPts val="1100"/>
              <a:buChar char="●"/>
            </a:pPr>
            <a:r>
              <a:rPr b="1" lang="en" sz="1100">
                <a:solidFill>
                  <a:schemeClr val="dk1"/>
                </a:solidFill>
              </a:rPr>
              <a:t>Flip Horizontal:</a:t>
            </a:r>
            <a:r>
              <a:rPr lang="en" sz="1100">
                <a:solidFill>
                  <a:schemeClr val="dk1"/>
                </a:solidFill>
              </a:rPr>
              <a:t> Aprovecha la simetría lateral humana para enriquecer el entrenamiento.</a:t>
            </a: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06" name="Google Shape;206;p24"/>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207" name="Google Shape;207;p24"/>
          <p:cNvSpPr txBox="1"/>
          <p:nvPr/>
        </p:nvSpPr>
        <p:spPr>
          <a:xfrm>
            <a:off x="165600" y="151925"/>
            <a:ext cx="4840800" cy="1817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0"/>
              </a:spcAft>
              <a:buNone/>
            </a:pPr>
            <a:r>
              <a:rPr b="1" lang="en" u="sng">
                <a:solidFill>
                  <a:schemeClr val="dk1"/>
                </a:solidFill>
              </a:rPr>
              <a:t>RESULTADOS </a:t>
            </a:r>
            <a:endParaRPr b="1" u="sng">
              <a:solidFill>
                <a:schemeClr val="dk1"/>
              </a:solidFill>
            </a:endParaRPr>
          </a:p>
          <a:p>
            <a:pPr indent="0" lvl="0" marL="0" rtl="0" algn="l">
              <a:lnSpc>
                <a:spcPct val="115000"/>
              </a:lnSpc>
              <a:spcBef>
                <a:spcPts val="1200"/>
              </a:spcBef>
              <a:spcAft>
                <a:spcPts val="0"/>
              </a:spcAft>
              <a:buNone/>
            </a:pPr>
            <a:r>
              <a:rPr lang="en" sz="1000">
                <a:solidFill>
                  <a:schemeClr val="dk1"/>
                </a:solidFill>
              </a:rPr>
              <a:t>El modelo fue entrenado durante 10 épocas utilizando el optimizador </a:t>
            </a:r>
            <a:r>
              <a:rPr b="1" lang="en" sz="1000">
                <a:solidFill>
                  <a:schemeClr val="dk1"/>
                </a:solidFill>
              </a:rPr>
              <a:t>Adam</a:t>
            </a:r>
            <a:r>
              <a:rPr lang="en" sz="1000">
                <a:solidFill>
                  <a:schemeClr val="dk1"/>
                </a:solidFill>
              </a:rPr>
              <a:t> (Learning Rate = 0.001) y la función de pérdida </a:t>
            </a:r>
            <a:r>
              <a:rPr b="1" lang="en" sz="1000">
                <a:solidFill>
                  <a:schemeClr val="dk1"/>
                </a:solidFill>
              </a:rPr>
              <a:t>MSE</a:t>
            </a:r>
            <a:r>
              <a:rPr lang="en" sz="1000">
                <a:solidFill>
                  <a:schemeClr val="dk1"/>
                </a:solidFill>
              </a:rPr>
              <a:t> (Mean Squared Error).</a:t>
            </a:r>
            <a:endParaRPr sz="1000">
              <a:solidFill>
                <a:schemeClr val="dk1"/>
              </a:solidFill>
            </a:endParaRPr>
          </a:p>
          <a:p>
            <a:pPr indent="0" lvl="0" marL="0" rtl="0" algn="l">
              <a:lnSpc>
                <a:spcPct val="115000"/>
              </a:lnSpc>
              <a:spcBef>
                <a:spcPts val="1400"/>
              </a:spcBef>
              <a:spcAft>
                <a:spcPts val="0"/>
              </a:spcAft>
              <a:buNone/>
            </a:pPr>
            <a:r>
              <a:rPr b="1" lang="en" sz="1200">
                <a:solidFill>
                  <a:schemeClr val="dk1"/>
                </a:solidFill>
              </a:rPr>
              <a:t>Evaluación de Desempeño (Métricas)</a:t>
            </a:r>
            <a:endParaRPr b="1" sz="1200">
              <a:solidFill>
                <a:schemeClr val="dk1"/>
              </a:solidFill>
            </a:endParaRPr>
          </a:p>
          <a:p>
            <a:pPr indent="0" lvl="0" marL="0" rtl="0" algn="l">
              <a:lnSpc>
                <a:spcPct val="115000"/>
              </a:lnSpc>
              <a:spcBef>
                <a:spcPts val="1200"/>
              </a:spcBef>
              <a:spcAft>
                <a:spcPts val="1200"/>
              </a:spcAft>
              <a:buNone/>
            </a:pPr>
            <a:r>
              <a:rPr lang="en" sz="1000">
                <a:solidFill>
                  <a:schemeClr val="dk1"/>
                </a:solidFill>
              </a:rPr>
              <a:t>Se evaluó el modelo utilizando datos de validación no vistos durante el entrenamiento :</a:t>
            </a:r>
            <a:endParaRPr sz="1000">
              <a:solidFill>
                <a:schemeClr val="dk1"/>
              </a:solidFill>
            </a:endParaRPr>
          </a:p>
        </p:txBody>
      </p:sp>
      <p:pic>
        <p:nvPicPr>
          <p:cNvPr id="208" name="Google Shape;208;p24"/>
          <p:cNvPicPr preferRelativeResize="0"/>
          <p:nvPr/>
        </p:nvPicPr>
        <p:blipFill>
          <a:blip r:embed="rId4">
            <a:alphaModFix/>
          </a:blip>
          <a:stretch>
            <a:fillRect/>
          </a:stretch>
        </p:blipFill>
        <p:spPr>
          <a:xfrm>
            <a:off x="83750" y="2145925"/>
            <a:ext cx="5724851" cy="2359275"/>
          </a:xfrm>
          <a:prstGeom prst="rect">
            <a:avLst/>
          </a:prstGeom>
          <a:noFill/>
          <a:ln>
            <a:noFill/>
          </a:ln>
        </p:spPr>
      </p:pic>
      <p:pic>
        <p:nvPicPr>
          <p:cNvPr id="209" name="Google Shape;209;p24"/>
          <p:cNvPicPr preferRelativeResize="0"/>
          <p:nvPr/>
        </p:nvPicPr>
        <p:blipFill>
          <a:blip r:embed="rId5">
            <a:alphaModFix/>
          </a:blip>
          <a:stretch>
            <a:fillRect/>
          </a:stretch>
        </p:blipFill>
        <p:spPr>
          <a:xfrm>
            <a:off x="5808600" y="2400918"/>
            <a:ext cx="3276274" cy="1849275"/>
          </a:xfrm>
          <a:prstGeom prst="rect">
            <a:avLst/>
          </a:prstGeom>
          <a:noFill/>
          <a:ln>
            <a:noFill/>
          </a:ln>
        </p:spPr>
      </p:pic>
      <p:pic>
        <p:nvPicPr>
          <p:cNvPr id="210" name="Google Shape;210;p24"/>
          <p:cNvPicPr preferRelativeResize="0"/>
          <p:nvPr/>
        </p:nvPicPr>
        <p:blipFill>
          <a:blip r:embed="rId6">
            <a:alphaModFix/>
          </a:blip>
          <a:stretch>
            <a:fillRect/>
          </a:stretch>
        </p:blipFill>
        <p:spPr>
          <a:xfrm>
            <a:off x="4826175" y="422200"/>
            <a:ext cx="4120749" cy="1228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5"/>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16" name="Google Shape;216;p25"/>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pic>
        <p:nvPicPr>
          <p:cNvPr id="217" name="Google Shape;217;p25"/>
          <p:cNvPicPr preferRelativeResize="0"/>
          <p:nvPr/>
        </p:nvPicPr>
        <p:blipFill>
          <a:blip r:embed="rId4">
            <a:alphaModFix/>
          </a:blip>
          <a:stretch>
            <a:fillRect/>
          </a:stretch>
        </p:blipFill>
        <p:spPr>
          <a:xfrm>
            <a:off x="152400" y="1187000"/>
            <a:ext cx="8839200" cy="24252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23" name="Google Shape;223;p26"/>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224" name="Google Shape;224;p26"/>
          <p:cNvSpPr txBox="1"/>
          <p:nvPr/>
        </p:nvSpPr>
        <p:spPr>
          <a:xfrm>
            <a:off x="400950" y="420450"/>
            <a:ext cx="8342100" cy="430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en" sz="1500" u="sng">
                <a:solidFill>
                  <a:schemeClr val="dk1"/>
                </a:solidFill>
              </a:rPr>
              <a:t>Análisis Crítico de Resultados y Recomendaciones</a:t>
            </a:r>
            <a:endParaRPr b="1" sz="1500" u="sng">
              <a:solidFill>
                <a:schemeClr val="dk1"/>
              </a:solidFill>
            </a:endParaRPr>
          </a:p>
          <a:p>
            <a:pPr indent="-292100" lvl="0" marL="457200" rtl="0" algn="just">
              <a:lnSpc>
                <a:spcPct val="115000"/>
              </a:lnSpc>
              <a:spcBef>
                <a:spcPts val="1200"/>
              </a:spcBef>
              <a:spcAft>
                <a:spcPts val="0"/>
              </a:spcAft>
              <a:buClr>
                <a:schemeClr val="dk1"/>
              </a:buClr>
              <a:buSzPts val="1000"/>
              <a:buChar char="●"/>
            </a:pPr>
            <a:r>
              <a:rPr b="1" lang="en" sz="1000">
                <a:solidFill>
                  <a:schemeClr val="dk1"/>
                </a:solidFill>
              </a:rPr>
              <a:t>Validación de la Arquitectura Ligera:</a:t>
            </a:r>
            <a:r>
              <a:rPr lang="en" sz="1000">
                <a:solidFill>
                  <a:schemeClr val="dk1"/>
                </a:solidFill>
              </a:rPr>
              <a:t> El desempeño obtenido con </a:t>
            </a:r>
            <a:r>
              <a:rPr b="1" lang="en" sz="1000">
                <a:solidFill>
                  <a:schemeClr val="dk1"/>
                </a:solidFill>
              </a:rPr>
              <a:t>MobileNetV2</a:t>
            </a:r>
            <a:r>
              <a:rPr lang="en" sz="1000">
                <a:solidFill>
                  <a:schemeClr val="dk1"/>
                </a:solidFill>
              </a:rPr>
              <a:t> (MAE ~4.94 cm) demuestra que no es necesario utilizar arquitecturas masivas para problemas de geometría de siluetas. La red logró extraer eficazmente las relaciones espaciales del cuerpo humano, validando su uso para aplicaciones en tiempo real donde la latencia es crítica. </a:t>
            </a:r>
            <a:endParaRPr sz="1000">
              <a:solidFill>
                <a:schemeClr val="dk1"/>
              </a:solidFill>
            </a:endParaRPr>
          </a:p>
          <a:p>
            <a:pPr indent="0" lvl="0" marL="457200" rtl="0" algn="just">
              <a:lnSpc>
                <a:spcPct val="115000"/>
              </a:lnSpc>
              <a:spcBef>
                <a:spcPts val="1000"/>
              </a:spcBef>
              <a:spcAft>
                <a:spcPts val="0"/>
              </a:spcAft>
              <a:buNone/>
            </a:pPr>
            <a:r>
              <a:t/>
            </a:r>
            <a:endParaRPr sz="1000">
              <a:solidFill>
                <a:schemeClr val="dk1"/>
              </a:solidFill>
            </a:endParaRPr>
          </a:p>
          <a:p>
            <a:pPr indent="-292100" lvl="0" marL="457200" rtl="0" algn="just">
              <a:lnSpc>
                <a:spcPct val="115000"/>
              </a:lnSpc>
              <a:spcBef>
                <a:spcPts val="1000"/>
              </a:spcBef>
              <a:spcAft>
                <a:spcPts val="0"/>
              </a:spcAft>
              <a:buClr>
                <a:schemeClr val="dk1"/>
              </a:buClr>
              <a:buSzPts val="1000"/>
              <a:buChar char="●"/>
            </a:pPr>
            <a:r>
              <a:rPr b="1" lang="en" sz="1000">
                <a:solidFill>
                  <a:schemeClr val="dk1"/>
                </a:solidFill>
              </a:rPr>
              <a:t>Generalización Robusta (Val &lt; Train):</a:t>
            </a:r>
            <a:r>
              <a:rPr lang="en" sz="1000">
                <a:solidFill>
                  <a:schemeClr val="dk1"/>
                </a:solidFill>
              </a:rPr>
              <a:t> Se observó que el error de validación (4.94 cm) fue menor que el error de entrenamiento (7.96 cm). Esto es un indicador positivo de que las técnicas de regularización (Dropout y Data Augmentation fuerte) funcionaron correctamente: el modelo aprendió a generalizar sobre datos "limpios" (validación) a pesar de entrenar con datos "difíciles" (aumentados), evitando el sobreajuste (overfitting). </a:t>
            </a:r>
            <a:endParaRPr sz="1000">
              <a:solidFill>
                <a:schemeClr val="dk1"/>
              </a:solidFill>
            </a:endParaRPr>
          </a:p>
          <a:p>
            <a:pPr indent="0" lvl="0" marL="457200" rtl="0" algn="just">
              <a:lnSpc>
                <a:spcPct val="115000"/>
              </a:lnSpc>
              <a:spcBef>
                <a:spcPts val="1000"/>
              </a:spcBef>
              <a:spcAft>
                <a:spcPts val="0"/>
              </a:spcAft>
              <a:buNone/>
            </a:pPr>
            <a:r>
              <a:t/>
            </a:r>
            <a:endParaRPr sz="1000">
              <a:solidFill>
                <a:schemeClr val="dk1"/>
              </a:solidFill>
            </a:endParaRPr>
          </a:p>
          <a:p>
            <a:pPr indent="-292100" lvl="0" marL="457200" rtl="0" algn="just">
              <a:lnSpc>
                <a:spcPct val="115000"/>
              </a:lnSpc>
              <a:spcBef>
                <a:spcPts val="1000"/>
              </a:spcBef>
              <a:spcAft>
                <a:spcPts val="0"/>
              </a:spcAft>
              <a:buClr>
                <a:schemeClr val="dk1"/>
              </a:buClr>
              <a:buSzPts val="1000"/>
              <a:buChar char="●"/>
            </a:pPr>
            <a:r>
              <a:rPr b="1" lang="en" sz="1000">
                <a:solidFill>
                  <a:schemeClr val="dk1"/>
                </a:solidFill>
              </a:rPr>
              <a:t>Viabilidad Operativa:</a:t>
            </a:r>
            <a:r>
              <a:rPr lang="en" sz="1000">
                <a:solidFill>
                  <a:schemeClr val="dk1"/>
                </a:solidFill>
              </a:rPr>
              <a:t> Un error medio de </a:t>
            </a:r>
            <a:r>
              <a:rPr b="1" lang="en" sz="1000">
                <a:solidFill>
                  <a:schemeClr val="dk1"/>
                </a:solidFill>
              </a:rPr>
              <a:t>&lt; 5 cm</a:t>
            </a:r>
            <a:r>
              <a:rPr lang="en" sz="1000">
                <a:solidFill>
                  <a:schemeClr val="dk1"/>
                </a:solidFill>
              </a:rPr>
              <a:t> es aceptable para la categorización en rangos (tallas S, M, L, XL), ya que los intervalos de tallaje industrial suelen superar este margen. Para aplicaciones de sastrería médica de alta precisión, se recomendaría una fase de </a:t>
            </a:r>
            <a:r>
              <a:rPr i="1" lang="en" sz="1000">
                <a:solidFill>
                  <a:schemeClr val="dk1"/>
                </a:solidFill>
              </a:rPr>
              <a:t>Fine-Tuning</a:t>
            </a:r>
            <a:r>
              <a:rPr lang="en" sz="1000">
                <a:solidFill>
                  <a:schemeClr val="dk1"/>
                </a:solidFill>
              </a:rPr>
              <a:t> descongelando las últimas capas convolucionales.</a:t>
            </a:r>
            <a:endParaRPr sz="1000">
              <a:solidFill>
                <a:schemeClr val="dk1"/>
              </a:solidFill>
            </a:endParaRPr>
          </a:p>
          <a:p>
            <a:pPr indent="-292100" lvl="0" marL="457200" rtl="0" algn="just">
              <a:lnSpc>
                <a:spcPct val="115000"/>
              </a:lnSpc>
              <a:spcBef>
                <a:spcPts val="1200"/>
              </a:spcBef>
              <a:spcAft>
                <a:spcPts val="0"/>
              </a:spcAft>
              <a:buClr>
                <a:schemeClr val="dk1"/>
              </a:buClr>
              <a:buSzPts val="1000"/>
              <a:buChar char="●"/>
            </a:pPr>
            <a:r>
              <a:rPr b="1" lang="en" sz="1000">
                <a:solidFill>
                  <a:schemeClr val="dk1"/>
                </a:solidFill>
              </a:rPr>
              <a:t>Convergencia y Épocas:</a:t>
            </a:r>
            <a:r>
              <a:rPr lang="en" sz="1000">
                <a:solidFill>
                  <a:schemeClr val="dk1"/>
                </a:solidFill>
              </a:rPr>
              <a:t> </a:t>
            </a:r>
            <a:r>
              <a:rPr lang="en" sz="1100">
                <a:solidFill>
                  <a:schemeClr val="dk1"/>
                </a:solidFill>
              </a:rPr>
              <a:t>El descenso continuo del error de validación en la última época evidencia que el modelo no alcanzó su convergencia total por límites de cómputo. Se proyecta que extender el entrenamiento a 30-50 épocas con </a:t>
            </a:r>
            <a:r>
              <a:rPr i="1" lang="en" sz="1100">
                <a:solidFill>
                  <a:schemeClr val="dk1"/>
                </a:solidFill>
              </a:rPr>
              <a:t>Early Stopping</a:t>
            </a:r>
            <a:r>
              <a:rPr lang="en" sz="1100">
                <a:solidFill>
                  <a:schemeClr val="dk1"/>
                </a:solidFill>
              </a:rPr>
              <a:t> reduciría el error un 15-20% adicional.</a:t>
            </a:r>
            <a:endParaRPr sz="1000">
              <a:solidFill>
                <a:schemeClr val="dk1"/>
              </a:solidFill>
            </a:endParaRPr>
          </a:p>
          <a:p>
            <a:pPr indent="0" lvl="0" marL="0" rtl="0" algn="just">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30" name="Google Shape;230;p27"/>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pic>
        <p:nvPicPr>
          <p:cNvPr id="231" name="Google Shape;231;p27" title="Diseño sin título (2).png"/>
          <p:cNvPicPr preferRelativeResize="0"/>
          <p:nvPr/>
        </p:nvPicPr>
        <p:blipFill rotWithShape="1">
          <a:blip r:embed="rId4">
            <a:alphaModFix amt="60000"/>
          </a:blip>
          <a:srcRect b="4339" l="0" r="0" t="4294"/>
          <a:stretch/>
        </p:blipFill>
        <p:spPr>
          <a:xfrm>
            <a:off x="0" y="0"/>
            <a:ext cx="9144000" cy="4699501"/>
          </a:xfrm>
          <a:prstGeom prst="rect">
            <a:avLst/>
          </a:prstGeom>
          <a:noFill/>
          <a:ln>
            <a:noFill/>
          </a:ln>
        </p:spPr>
      </p:pic>
      <p:sp>
        <p:nvSpPr>
          <p:cNvPr id="232" name="Google Shape;232;p27"/>
          <p:cNvSpPr/>
          <p:nvPr/>
        </p:nvSpPr>
        <p:spPr>
          <a:xfrm>
            <a:off x="2307900" y="2009100"/>
            <a:ext cx="4528200" cy="681300"/>
          </a:xfrm>
          <a:prstGeom prst="roundRect">
            <a:avLst>
              <a:gd fmla="val 21570" name="adj"/>
            </a:avLst>
          </a:prstGeom>
          <a:solidFill>
            <a:srgbClr val="BFC8D9"/>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chemeClr val="dk1"/>
              </a:buClr>
              <a:buSzPts val="1125"/>
              <a:buFont typeface="Arial"/>
              <a:buNone/>
            </a:pPr>
            <a:r>
              <a:rPr b="1" lang="en" sz="1124">
                <a:solidFill>
                  <a:srgbClr val="0C265D"/>
                </a:solidFill>
                <a:latin typeface="Comfortaa"/>
                <a:ea typeface="Comfortaa"/>
                <a:cs typeface="Comfortaa"/>
                <a:sym typeface="Comfortaa"/>
              </a:rPr>
              <a:t> APLICACIÓN DEL MODELO PRE ENTRENADO </a:t>
            </a:r>
            <a:r>
              <a:rPr b="1" lang="en" sz="1224">
                <a:solidFill>
                  <a:srgbClr val="990000"/>
                </a:solidFill>
                <a:latin typeface="Comfortaa"/>
                <a:ea typeface="Comfortaa"/>
                <a:cs typeface="Comfortaa"/>
                <a:sym typeface="Comfortaa"/>
              </a:rPr>
              <a:t>EFFICIENTNETB0</a:t>
            </a:r>
            <a:endParaRPr b="0" i="0" sz="1149" u="none" cap="none" strike="noStrike">
              <a:solidFill>
                <a:srgbClr val="99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38" name="Google Shape;238;p28"/>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239" name="Google Shape;239;p28"/>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I</a:t>
            </a:r>
            <a:r>
              <a:rPr b="1" lang="en" sz="1344">
                <a:solidFill>
                  <a:srgbClr val="0C265D"/>
                </a:solidFill>
                <a:latin typeface="Comfortaa"/>
                <a:ea typeface="Comfortaa"/>
                <a:cs typeface="Comfortaa"/>
                <a:sym typeface="Comfortaa"/>
              </a:rPr>
              <a:t>NPUT - MODELO EFFICIENTNETB0</a:t>
            </a:r>
            <a:endParaRPr b="1" i="0" sz="1244" u="none" cap="none" strike="noStrike">
              <a:solidFill>
                <a:srgbClr val="0C265D"/>
              </a:solidFill>
              <a:latin typeface="Comfortaa"/>
              <a:ea typeface="Comfortaa"/>
              <a:cs typeface="Comfortaa"/>
              <a:sym typeface="Comfortaa"/>
            </a:endParaRPr>
          </a:p>
        </p:txBody>
      </p:sp>
      <p:cxnSp>
        <p:nvCxnSpPr>
          <p:cNvPr id="240" name="Google Shape;240;p28"/>
          <p:cNvCxnSpPr/>
          <p:nvPr/>
        </p:nvCxnSpPr>
        <p:spPr>
          <a:xfrm>
            <a:off x="180600" y="454650"/>
            <a:ext cx="8782800" cy="12300"/>
          </a:xfrm>
          <a:prstGeom prst="straightConnector1">
            <a:avLst/>
          </a:prstGeom>
          <a:noFill/>
          <a:ln cap="flat" cmpd="sng" w="9525">
            <a:solidFill>
              <a:schemeClr val="dk1"/>
            </a:solidFill>
            <a:prstDash val="solid"/>
            <a:round/>
            <a:headEnd len="med" w="med" type="oval"/>
            <a:tailEnd len="med" w="med" type="oval"/>
          </a:ln>
        </p:spPr>
      </p:cxnSp>
      <p:sp>
        <p:nvSpPr>
          <p:cNvPr id="241" name="Google Shape;241;p28"/>
          <p:cNvSpPr txBox="1"/>
          <p:nvPr/>
        </p:nvSpPr>
        <p:spPr>
          <a:xfrm>
            <a:off x="142375" y="654225"/>
            <a:ext cx="8289900" cy="18261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Datos</a:t>
            </a:r>
            <a:r>
              <a:rPr b="1" lang="en" sz="1100">
                <a:solidFill>
                  <a:schemeClr val="dk1"/>
                </a:solidFill>
                <a:latin typeface="Comfortaa"/>
                <a:ea typeface="Comfortaa"/>
                <a:cs typeface="Comfortaa"/>
                <a:sym typeface="Comfortaa"/>
              </a:rPr>
              <a:t>: </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rPr b="1" lang="en" sz="1100">
                <a:solidFill>
                  <a:schemeClr val="dk1"/>
                </a:solidFill>
                <a:latin typeface="Comfortaa"/>
                <a:ea typeface="Comfortaa"/>
                <a:cs typeface="Comfortaa"/>
                <a:sym typeface="Comfortaa"/>
              </a:rPr>
              <a:t>Imágenes de personas reales pasados a siluetas en blanco y negro (vista frontal y lateral) de 720x240 píxeles.</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Pre procesamiento de las imágenes:</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885825" marR="0" rtl="0" algn="l">
              <a:lnSpc>
                <a:spcPct val="100000"/>
              </a:lnSpc>
              <a:spcBef>
                <a:spcPts val="0"/>
              </a:spcBef>
              <a:spcAft>
                <a:spcPts val="0"/>
              </a:spcAft>
              <a:buClr>
                <a:schemeClr val="dk1"/>
              </a:buClr>
              <a:buSzPts val="1100"/>
              <a:buFont typeface="Comfortaa"/>
              <a:buAutoNum type="arabicPeriod"/>
            </a:pPr>
            <a:r>
              <a:rPr b="1" lang="en" sz="1100">
                <a:solidFill>
                  <a:schemeClr val="dk1"/>
                </a:solidFill>
                <a:latin typeface="Comfortaa"/>
                <a:ea typeface="Comfortaa"/>
                <a:cs typeface="Comfortaa"/>
                <a:sym typeface="Comfortaa"/>
              </a:rPr>
              <a:t>Ajuste de tamaño: imágenes se redimensionan a 224x224 píxeles.</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885825" marR="0" rtl="0" algn="l">
              <a:lnSpc>
                <a:spcPct val="100000"/>
              </a:lnSpc>
              <a:spcBef>
                <a:spcPts val="0"/>
              </a:spcBef>
              <a:spcAft>
                <a:spcPts val="0"/>
              </a:spcAft>
              <a:buClr>
                <a:schemeClr val="dk1"/>
              </a:buClr>
              <a:buSzPts val="1100"/>
              <a:buFont typeface="Comfortaa"/>
              <a:buAutoNum type="arabicPeriod"/>
            </a:pPr>
            <a:r>
              <a:rPr b="1" lang="en" sz="1100">
                <a:solidFill>
                  <a:schemeClr val="dk1"/>
                </a:solidFill>
                <a:latin typeface="Comfortaa"/>
                <a:ea typeface="Comfortaa"/>
                <a:cs typeface="Comfortaa"/>
                <a:sym typeface="Comfortaa"/>
              </a:rPr>
              <a:t>Augmentation: se aplican técnicas de augmentation leves: pequeñas rotaciones, desplazamiento, zoom y espejo horizontal.</a:t>
            </a:r>
            <a:endParaRPr b="1" i="0" sz="1100" u="none" cap="none" strike="noStrike">
              <a:solidFill>
                <a:schemeClr val="dk1"/>
              </a:solidFill>
              <a:latin typeface="Comfortaa"/>
              <a:ea typeface="Comfortaa"/>
              <a:cs typeface="Comfortaa"/>
              <a:sym typeface="Comfortaa"/>
            </a:endParaRPr>
          </a:p>
        </p:txBody>
      </p:sp>
      <p:sp>
        <p:nvSpPr>
          <p:cNvPr id="242" name="Google Shape;242;p28"/>
          <p:cNvSpPr txBox="1"/>
          <p:nvPr/>
        </p:nvSpPr>
        <p:spPr>
          <a:xfrm>
            <a:off x="180600" y="2736375"/>
            <a:ext cx="8251800" cy="13182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Justificación de la elección de este modelo:</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828675" marR="0" rtl="0" algn="l">
              <a:lnSpc>
                <a:spcPct val="100000"/>
              </a:lnSpc>
              <a:spcBef>
                <a:spcPts val="0"/>
              </a:spcBef>
              <a:spcAft>
                <a:spcPts val="0"/>
              </a:spcAft>
              <a:buClr>
                <a:schemeClr val="dk1"/>
              </a:buClr>
              <a:buSzPts val="1100"/>
              <a:buFont typeface="Comfortaa"/>
              <a:buAutoNum type="arabicPeriod"/>
            </a:pPr>
            <a:r>
              <a:rPr b="1" lang="en" sz="1100">
                <a:solidFill>
                  <a:schemeClr val="dk1"/>
                </a:solidFill>
                <a:latin typeface="Comfortaa"/>
                <a:ea typeface="Comfortaa"/>
                <a:cs typeface="Comfortaa"/>
                <a:sym typeface="Comfortaa"/>
              </a:rPr>
              <a:t>Elegimos este modelo porque ofrece un excelente equilibrio entre precisión y eficiencia computacional. A diferencia de arquitecturas más grandes. </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828675" marR="0" rtl="0" algn="l">
              <a:lnSpc>
                <a:spcPct val="100000"/>
              </a:lnSpc>
              <a:spcBef>
                <a:spcPts val="0"/>
              </a:spcBef>
              <a:spcAft>
                <a:spcPts val="0"/>
              </a:spcAft>
              <a:buClr>
                <a:schemeClr val="dk1"/>
              </a:buClr>
              <a:buSzPts val="1100"/>
              <a:buFont typeface="Comfortaa"/>
              <a:buAutoNum type="arabicPeriod"/>
            </a:pPr>
            <a:r>
              <a:rPr b="1" lang="en" sz="1100">
                <a:solidFill>
                  <a:schemeClr val="dk1"/>
                </a:solidFill>
                <a:latin typeface="Comfortaa"/>
                <a:ea typeface="Comfortaa"/>
                <a:cs typeface="Comfortaa"/>
                <a:sym typeface="Comfortaa"/>
              </a:rPr>
              <a:t>EfficientNetB0 logra buenos resultados con un número reducido de parámetros, lo que lo hace ideal para datasets de tamaño medio como el nuestro y reduce el riesgo de sobreajuste.</a:t>
            </a:r>
            <a:endParaRPr b="1" sz="1100">
              <a:solidFill>
                <a:schemeClr val="dk1"/>
              </a:solidFill>
              <a:latin typeface="Comfortaa"/>
              <a:ea typeface="Comfortaa"/>
              <a:cs typeface="Comfortaa"/>
              <a:sym typeface="Comforta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9"/>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48" name="Google Shape;248;p29"/>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249" name="Google Shape;249;p29"/>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RESULTADOS</a:t>
            </a:r>
            <a:r>
              <a:rPr b="1" lang="en" sz="1344">
                <a:solidFill>
                  <a:srgbClr val="0C265D"/>
                </a:solidFill>
                <a:latin typeface="Comfortaa"/>
                <a:ea typeface="Comfortaa"/>
                <a:cs typeface="Comfortaa"/>
                <a:sym typeface="Comfortaa"/>
              </a:rPr>
              <a:t> - ERROR (MAE) - MODELO EFFICIENTNETB0</a:t>
            </a:r>
            <a:endParaRPr b="1" i="0" sz="1244" u="none" cap="none" strike="noStrike">
              <a:solidFill>
                <a:srgbClr val="0C265D"/>
              </a:solidFill>
              <a:latin typeface="Comfortaa"/>
              <a:ea typeface="Comfortaa"/>
              <a:cs typeface="Comfortaa"/>
              <a:sym typeface="Comfortaa"/>
            </a:endParaRPr>
          </a:p>
        </p:txBody>
      </p:sp>
      <p:cxnSp>
        <p:nvCxnSpPr>
          <p:cNvPr id="250" name="Google Shape;250;p29"/>
          <p:cNvCxnSpPr/>
          <p:nvPr/>
        </p:nvCxnSpPr>
        <p:spPr>
          <a:xfrm>
            <a:off x="180600" y="454650"/>
            <a:ext cx="8782800" cy="12300"/>
          </a:xfrm>
          <a:prstGeom prst="straightConnector1">
            <a:avLst/>
          </a:prstGeom>
          <a:noFill/>
          <a:ln cap="flat" cmpd="sng" w="9525">
            <a:solidFill>
              <a:schemeClr val="dk1"/>
            </a:solidFill>
            <a:prstDash val="solid"/>
            <a:round/>
            <a:headEnd len="med" w="med" type="oval"/>
            <a:tailEnd len="med" w="med" type="oval"/>
          </a:ln>
        </p:spPr>
      </p:cxnSp>
      <p:sp>
        <p:nvSpPr>
          <p:cNvPr id="251" name="Google Shape;251;p29"/>
          <p:cNvSpPr txBox="1"/>
          <p:nvPr/>
        </p:nvSpPr>
        <p:spPr>
          <a:xfrm>
            <a:off x="142375" y="654225"/>
            <a:ext cx="8289900" cy="3024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0" lvl="0" marL="0" rtl="0" algn="l">
              <a:lnSpc>
                <a:spcPct val="115000"/>
              </a:lnSpc>
              <a:spcBef>
                <a:spcPts val="1200"/>
              </a:spcBef>
              <a:spcAft>
                <a:spcPts val="1200"/>
              </a:spcAft>
              <a:buNone/>
            </a:pPr>
            <a:r>
              <a:t/>
            </a:r>
            <a:endParaRPr b="1" sz="1100">
              <a:solidFill>
                <a:srgbClr val="0000FF"/>
              </a:solidFill>
              <a:latin typeface="Comfortaa"/>
              <a:ea typeface="Comfortaa"/>
              <a:cs typeface="Comfortaa"/>
              <a:sym typeface="Comfortaa"/>
            </a:endParaRPr>
          </a:p>
        </p:txBody>
      </p:sp>
      <p:sp>
        <p:nvSpPr>
          <p:cNvPr id="252" name="Google Shape;252;p29"/>
          <p:cNvSpPr txBox="1"/>
          <p:nvPr/>
        </p:nvSpPr>
        <p:spPr>
          <a:xfrm>
            <a:off x="302775" y="1162275"/>
            <a:ext cx="4117800" cy="28419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Se observa la evolución del MAE tanto en entrenamiento como en validación.</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Se aprecia una caída muy pronunciada del error durante las primeras épocas, estabilizándose entre la 3era y 4ta época.</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Esto se interpreta en que nuestro modelo aprende rápidamente la correlación entre la forma de las siluetas y las medidas corporales.</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La estabilización del error ocurre alrededor de los 4-5cm.</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El modelo generaliza bien, no presenta sobreajuste.</a:t>
            </a:r>
            <a:endParaRPr b="1" sz="1100">
              <a:solidFill>
                <a:schemeClr val="dk1"/>
              </a:solidFill>
              <a:latin typeface="Comfortaa"/>
              <a:ea typeface="Comfortaa"/>
              <a:cs typeface="Comfortaa"/>
              <a:sym typeface="Comfortaa"/>
            </a:endParaRPr>
          </a:p>
        </p:txBody>
      </p:sp>
      <p:pic>
        <p:nvPicPr>
          <p:cNvPr id="253" name="Google Shape;253;p29"/>
          <p:cNvPicPr preferRelativeResize="0"/>
          <p:nvPr/>
        </p:nvPicPr>
        <p:blipFill>
          <a:blip r:embed="rId4">
            <a:alphaModFix/>
          </a:blip>
          <a:stretch>
            <a:fillRect/>
          </a:stretch>
        </p:blipFill>
        <p:spPr>
          <a:xfrm>
            <a:off x="4636150" y="778175"/>
            <a:ext cx="4063474" cy="350185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0"/>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59" name="Google Shape;259;p30"/>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260" name="Google Shape;260;p30"/>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RESULTADOS - PÉRDIDA (LOSS) - MODELO EFFICIENTNETB0</a:t>
            </a:r>
            <a:endParaRPr b="1" i="0" sz="1244" u="none" cap="none" strike="noStrike">
              <a:solidFill>
                <a:srgbClr val="0C265D"/>
              </a:solidFill>
              <a:latin typeface="Comfortaa"/>
              <a:ea typeface="Comfortaa"/>
              <a:cs typeface="Comfortaa"/>
              <a:sym typeface="Comfortaa"/>
            </a:endParaRPr>
          </a:p>
        </p:txBody>
      </p:sp>
      <p:cxnSp>
        <p:nvCxnSpPr>
          <p:cNvPr id="261" name="Google Shape;261;p30"/>
          <p:cNvCxnSpPr/>
          <p:nvPr/>
        </p:nvCxnSpPr>
        <p:spPr>
          <a:xfrm>
            <a:off x="180600" y="454650"/>
            <a:ext cx="8782800" cy="12300"/>
          </a:xfrm>
          <a:prstGeom prst="straightConnector1">
            <a:avLst/>
          </a:prstGeom>
          <a:noFill/>
          <a:ln cap="flat" cmpd="sng" w="9525">
            <a:solidFill>
              <a:schemeClr val="dk1"/>
            </a:solidFill>
            <a:prstDash val="solid"/>
            <a:round/>
            <a:headEnd len="med" w="med" type="oval"/>
            <a:tailEnd len="med" w="med" type="oval"/>
          </a:ln>
        </p:spPr>
      </p:cxnSp>
      <p:sp>
        <p:nvSpPr>
          <p:cNvPr id="262" name="Google Shape;262;p30"/>
          <p:cNvSpPr txBox="1"/>
          <p:nvPr/>
        </p:nvSpPr>
        <p:spPr>
          <a:xfrm>
            <a:off x="142375" y="654225"/>
            <a:ext cx="8289900" cy="3024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0" lvl="0" marL="0" rtl="0" algn="l">
              <a:lnSpc>
                <a:spcPct val="115000"/>
              </a:lnSpc>
              <a:spcBef>
                <a:spcPts val="1200"/>
              </a:spcBef>
              <a:spcAft>
                <a:spcPts val="1200"/>
              </a:spcAft>
              <a:buNone/>
            </a:pPr>
            <a:r>
              <a:t/>
            </a:r>
            <a:endParaRPr b="1" sz="1100">
              <a:solidFill>
                <a:srgbClr val="0000FF"/>
              </a:solidFill>
              <a:latin typeface="Comfortaa"/>
              <a:ea typeface="Comfortaa"/>
              <a:cs typeface="Comfortaa"/>
              <a:sym typeface="Comfortaa"/>
            </a:endParaRPr>
          </a:p>
        </p:txBody>
      </p:sp>
      <p:sp>
        <p:nvSpPr>
          <p:cNvPr id="263" name="Google Shape;263;p30"/>
          <p:cNvSpPr txBox="1"/>
          <p:nvPr/>
        </p:nvSpPr>
        <p:spPr>
          <a:xfrm>
            <a:off x="312800" y="1483125"/>
            <a:ext cx="4117800" cy="19953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Se observa la evolución del MSE tanto en entrenamiento como en validación.</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S</a:t>
            </a:r>
            <a:r>
              <a:rPr b="1" lang="en" sz="1100">
                <a:solidFill>
                  <a:schemeClr val="dk1"/>
                </a:solidFill>
                <a:latin typeface="Comfortaa"/>
                <a:ea typeface="Comfortaa"/>
                <a:cs typeface="Comfortaa"/>
                <a:sym typeface="Comfortaa"/>
              </a:rPr>
              <a:t>e repite el mismo patrón que en el MAE: una reducción rápida seguida de una convergencia estable, con curvas de entrenamiento y validación paralelas.</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Esto se interpreta en que </a:t>
            </a:r>
            <a:r>
              <a:rPr b="1" lang="en" sz="1100">
                <a:solidFill>
                  <a:schemeClr val="dk1"/>
                </a:solidFill>
                <a:latin typeface="Comfortaa"/>
                <a:ea typeface="Comfortaa"/>
                <a:cs typeface="Comfortaa"/>
                <a:sym typeface="Comfortaa"/>
              </a:rPr>
              <a:t>el entrenamiento fue estable, con una tasa de aprendizaje adecuada y sin comportamientos erráticos.</a:t>
            </a:r>
            <a:endParaRPr b="1" sz="1100">
              <a:solidFill>
                <a:schemeClr val="dk1"/>
              </a:solidFill>
              <a:latin typeface="Comfortaa"/>
              <a:ea typeface="Comfortaa"/>
              <a:cs typeface="Comfortaa"/>
              <a:sym typeface="Comfortaa"/>
            </a:endParaRPr>
          </a:p>
        </p:txBody>
      </p:sp>
      <p:pic>
        <p:nvPicPr>
          <p:cNvPr id="264" name="Google Shape;264;p30"/>
          <p:cNvPicPr preferRelativeResize="0"/>
          <p:nvPr/>
        </p:nvPicPr>
        <p:blipFill>
          <a:blip r:embed="rId4">
            <a:alphaModFix/>
          </a:blip>
          <a:stretch>
            <a:fillRect/>
          </a:stretch>
        </p:blipFill>
        <p:spPr>
          <a:xfrm>
            <a:off x="4557950" y="864188"/>
            <a:ext cx="4160398" cy="34380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1"/>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70" name="Google Shape;270;p31"/>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271" name="Google Shape;271;p31"/>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RESULTADOS - ERROR PORCENTUAL MEDIO (MAPE) - MODELO EFFICIENTNETB0</a:t>
            </a:r>
            <a:endParaRPr b="1" i="0" sz="1244" u="none" cap="none" strike="noStrike">
              <a:solidFill>
                <a:srgbClr val="0C265D"/>
              </a:solidFill>
              <a:latin typeface="Comfortaa"/>
              <a:ea typeface="Comfortaa"/>
              <a:cs typeface="Comfortaa"/>
              <a:sym typeface="Comfortaa"/>
            </a:endParaRPr>
          </a:p>
        </p:txBody>
      </p:sp>
      <p:cxnSp>
        <p:nvCxnSpPr>
          <p:cNvPr id="272" name="Google Shape;272;p31"/>
          <p:cNvCxnSpPr/>
          <p:nvPr/>
        </p:nvCxnSpPr>
        <p:spPr>
          <a:xfrm>
            <a:off x="180600" y="454650"/>
            <a:ext cx="8782800" cy="12300"/>
          </a:xfrm>
          <a:prstGeom prst="straightConnector1">
            <a:avLst/>
          </a:prstGeom>
          <a:noFill/>
          <a:ln cap="flat" cmpd="sng" w="9525">
            <a:solidFill>
              <a:schemeClr val="dk1"/>
            </a:solidFill>
            <a:prstDash val="solid"/>
            <a:round/>
            <a:headEnd len="med" w="med" type="oval"/>
            <a:tailEnd len="med" w="med" type="oval"/>
          </a:ln>
        </p:spPr>
      </p:cxnSp>
      <p:sp>
        <p:nvSpPr>
          <p:cNvPr id="273" name="Google Shape;273;p31"/>
          <p:cNvSpPr txBox="1"/>
          <p:nvPr/>
        </p:nvSpPr>
        <p:spPr>
          <a:xfrm>
            <a:off x="142375" y="654225"/>
            <a:ext cx="8289900" cy="3024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0" lvl="0" marL="0" rtl="0" algn="l">
              <a:lnSpc>
                <a:spcPct val="115000"/>
              </a:lnSpc>
              <a:spcBef>
                <a:spcPts val="1200"/>
              </a:spcBef>
              <a:spcAft>
                <a:spcPts val="1200"/>
              </a:spcAft>
              <a:buNone/>
            </a:pPr>
            <a:r>
              <a:t/>
            </a:r>
            <a:endParaRPr b="1" sz="1100">
              <a:solidFill>
                <a:srgbClr val="0000FF"/>
              </a:solidFill>
              <a:latin typeface="Comfortaa"/>
              <a:ea typeface="Comfortaa"/>
              <a:cs typeface="Comfortaa"/>
              <a:sym typeface="Comfortaa"/>
            </a:endParaRPr>
          </a:p>
        </p:txBody>
      </p:sp>
      <p:sp>
        <p:nvSpPr>
          <p:cNvPr id="274" name="Google Shape;274;p31"/>
          <p:cNvSpPr txBox="1"/>
          <p:nvPr/>
        </p:nvSpPr>
        <p:spPr>
          <a:xfrm>
            <a:off x="588525" y="3237213"/>
            <a:ext cx="8054100" cy="13182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Al analizar los resultados por medida corporal, se observa que las medidas globales, como altura o longitud de piernas, presentan errores porcentuales más bajos, mientras que medidas más pequeñas, </a:t>
            </a:r>
            <a:r>
              <a:rPr b="1" lang="en" sz="1100">
                <a:solidFill>
                  <a:schemeClr val="dk1"/>
                </a:solidFill>
                <a:latin typeface="Comfortaa"/>
                <a:ea typeface="Comfortaa"/>
                <a:cs typeface="Comfortaa"/>
                <a:sym typeface="Comfortaa"/>
              </a:rPr>
              <a:t>cómo</a:t>
            </a:r>
            <a:r>
              <a:rPr b="1" lang="en" sz="1100">
                <a:solidFill>
                  <a:schemeClr val="dk1"/>
                </a:solidFill>
                <a:latin typeface="Comfortaa"/>
                <a:ea typeface="Comfortaa"/>
                <a:cs typeface="Comfortaa"/>
                <a:sym typeface="Comfortaa"/>
              </a:rPr>
              <a:t> muñeca o tobillo, resultan más difíciles de estimar.</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Esto es esperable, ya que las medidas grandes dependen principalmente de la estructura global del cuerpo, mientras que las pequeñas requieren mayor precisión en detalles finos, lo cual es más complejo a partir de siluetas 2D.</a:t>
            </a:r>
            <a:endParaRPr b="1" sz="1100">
              <a:solidFill>
                <a:schemeClr val="dk1"/>
              </a:solidFill>
              <a:latin typeface="Comfortaa"/>
              <a:ea typeface="Comfortaa"/>
              <a:cs typeface="Comfortaa"/>
              <a:sym typeface="Comfortaa"/>
            </a:endParaRPr>
          </a:p>
        </p:txBody>
      </p:sp>
      <p:pic>
        <p:nvPicPr>
          <p:cNvPr id="275" name="Google Shape;275;p31"/>
          <p:cNvPicPr preferRelativeResize="0"/>
          <p:nvPr/>
        </p:nvPicPr>
        <p:blipFill>
          <a:blip r:embed="rId4">
            <a:alphaModFix/>
          </a:blip>
          <a:stretch>
            <a:fillRect/>
          </a:stretch>
        </p:blipFill>
        <p:spPr>
          <a:xfrm>
            <a:off x="214475" y="700950"/>
            <a:ext cx="8701949" cy="2392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81" name="Google Shape;281;p32"/>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282" name="Google Shape;282;p32"/>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VENTAJAS Y LIMITACIONES</a:t>
            </a:r>
            <a:r>
              <a:rPr b="1" lang="en" sz="1344">
                <a:solidFill>
                  <a:srgbClr val="0C265D"/>
                </a:solidFill>
                <a:latin typeface="Comfortaa"/>
                <a:ea typeface="Comfortaa"/>
                <a:cs typeface="Comfortaa"/>
                <a:sym typeface="Comfortaa"/>
              </a:rPr>
              <a:t>- MODELO EFFICIENTNETB0</a:t>
            </a:r>
            <a:endParaRPr b="1" i="0" sz="1244" u="none" cap="none" strike="noStrike">
              <a:solidFill>
                <a:srgbClr val="0C265D"/>
              </a:solidFill>
              <a:latin typeface="Comfortaa"/>
              <a:ea typeface="Comfortaa"/>
              <a:cs typeface="Comfortaa"/>
              <a:sym typeface="Comfortaa"/>
            </a:endParaRPr>
          </a:p>
        </p:txBody>
      </p:sp>
      <p:cxnSp>
        <p:nvCxnSpPr>
          <p:cNvPr id="283" name="Google Shape;283;p32"/>
          <p:cNvCxnSpPr/>
          <p:nvPr/>
        </p:nvCxnSpPr>
        <p:spPr>
          <a:xfrm>
            <a:off x="180600" y="454650"/>
            <a:ext cx="8782800" cy="12300"/>
          </a:xfrm>
          <a:prstGeom prst="straightConnector1">
            <a:avLst/>
          </a:prstGeom>
          <a:noFill/>
          <a:ln cap="flat" cmpd="sng" w="9525">
            <a:solidFill>
              <a:schemeClr val="dk1"/>
            </a:solidFill>
            <a:prstDash val="solid"/>
            <a:round/>
            <a:headEnd len="med" w="med" type="oval"/>
            <a:tailEnd len="med" w="med" type="oval"/>
          </a:ln>
        </p:spPr>
      </p:cxnSp>
      <p:sp>
        <p:nvSpPr>
          <p:cNvPr id="284" name="Google Shape;284;p32"/>
          <p:cNvSpPr txBox="1"/>
          <p:nvPr/>
        </p:nvSpPr>
        <p:spPr>
          <a:xfrm>
            <a:off x="142375" y="654225"/>
            <a:ext cx="8289900" cy="11490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Ventajas del Método</a:t>
            </a:r>
            <a:r>
              <a:rPr b="1" lang="en" sz="1100">
                <a:solidFill>
                  <a:schemeClr val="dk1"/>
                </a:solidFill>
                <a:latin typeface="Comfortaa"/>
                <a:ea typeface="Comfortaa"/>
                <a:cs typeface="Comfortaa"/>
                <a:sym typeface="Comfortaa"/>
              </a:rPr>
              <a:t>:</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885825" marR="0" rtl="0" algn="l">
              <a:lnSpc>
                <a:spcPct val="100000"/>
              </a:lnSpc>
              <a:spcBef>
                <a:spcPts val="0"/>
              </a:spcBef>
              <a:spcAft>
                <a:spcPts val="0"/>
              </a:spcAft>
              <a:buClr>
                <a:schemeClr val="dk1"/>
              </a:buClr>
              <a:buSzPts val="1100"/>
              <a:buFont typeface="Comfortaa"/>
              <a:buAutoNum type="arabicPeriod"/>
            </a:pPr>
            <a:r>
              <a:rPr b="1" lang="en" sz="1100">
                <a:solidFill>
                  <a:schemeClr val="dk1"/>
                </a:solidFill>
                <a:latin typeface="Comfortaa"/>
                <a:ea typeface="Comfortaa"/>
                <a:cs typeface="Comfortaa"/>
                <a:sym typeface="Comfortaa"/>
              </a:rPr>
              <a:t>S</a:t>
            </a:r>
            <a:r>
              <a:rPr b="1" lang="en" sz="1100">
                <a:solidFill>
                  <a:schemeClr val="dk1"/>
                </a:solidFill>
                <a:latin typeface="Comfortaa"/>
                <a:ea typeface="Comfortaa"/>
                <a:cs typeface="Comfortaa"/>
                <a:sym typeface="Comfortaa"/>
              </a:rPr>
              <a:t>e trata de una solución no invasiva, de bajo costo, escalable y que funciona únicamente con imágenes simples, sin necesidad de equipamiento especializado.</a:t>
            </a:r>
            <a:endParaRPr b="1" sz="1100">
              <a:solidFill>
                <a:schemeClr val="dk1"/>
              </a:solidFill>
              <a:latin typeface="Comfortaa"/>
              <a:ea typeface="Comfortaa"/>
              <a:cs typeface="Comfortaa"/>
              <a:sym typeface="Comfortaa"/>
            </a:endParaRPr>
          </a:p>
          <a:p>
            <a:pPr indent="-298450" lvl="0" marL="885825" marR="0" rtl="0" algn="l">
              <a:lnSpc>
                <a:spcPct val="100000"/>
              </a:lnSpc>
              <a:spcBef>
                <a:spcPts val="0"/>
              </a:spcBef>
              <a:spcAft>
                <a:spcPts val="0"/>
              </a:spcAft>
              <a:buClr>
                <a:schemeClr val="dk1"/>
              </a:buClr>
              <a:buSzPts val="1100"/>
              <a:buFont typeface="Comfortaa"/>
              <a:buAutoNum type="arabicPeriod"/>
            </a:pPr>
            <a:r>
              <a:rPr b="1" lang="en" sz="1100">
                <a:solidFill>
                  <a:schemeClr val="dk1"/>
                </a:solidFill>
                <a:latin typeface="Comfortaa"/>
                <a:ea typeface="Comfortaa"/>
                <a:cs typeface="Comfortaa"/>
                <a:sym typeface="Comfortaa"/>
              </a:rPr>
              <a:t>Es relativamente eficiente para su costo, por lo que tiene viabilidad como solución factible.</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i="0" sz="1100" u="none" cap="none" strike="noStrike">
              <a:solidFill>
                <a:schemeClr val="dk1"/>
              </a:solidFill>
              <a:latin typeface="Comfortaa"/>
              <a:ea typeface="Comfortaa"/>
              <a:cs typeface="Comfortaa"/>
              <a:sym typeface="Comfortaa"/>
            </a:endParaRPr>
          </a:p>
        </p:txBody>
      </p:sp>
      <p:sp>
        <p:nvSpPr>
          <p:cNvPr id="285" name="Google Shape;285;p32"/>
          <p:cNvSpPr txBox="1"/>
          <p:nvPr/>
        </p:nvSpPr>
        <p:spPr>
          <a:xfrm>
            <a:off x="180600" y="2069950"/>
            <a:ext cx="8289900" cy="13182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Limitaciones </a:t>
            </a:r>
            <a:r>
              <a:rPr b="1" lang="en" sz="1100">
                <a:solidFill>
                  <a:schemeClr val="dk1"/>
                </a:solidFill>
                <a:latin typeface="Comfortaa"/>
                <a:ea typeface="Comfortaa"/>
                <a:cs typeface="Comfortaa"/>
                <a:sym typeface="Comfortaa"/>
              </a:rPr>
              <a:t>del Método:</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885825" marR="0" rtl="0" algn="l">
              <a:lnSpc>
                <a:spcPct val="100000"/>
              </a:lnSpc>
              <a:spcBef>
                <a:spcPts val="0"/>
              </a:spcBef>
              <a:spcAft>
                <a:spcPts val="0"/>
              </a:spcAft>
              <a:buClr>
                <a:schemeClr val="dk1"/>
              </a:buClr>
              <a:buSzPts val="1100"/>
              <a:buFont typeface="Comfortaa"/>
              <a:buAutoNum type="arabicPeriod"/>
            </a:pPr>
            <a:r>
              <a:rPr b="1" lang="en" sz="1100">
                <a:solidFill>
                  <a:schemeClr val="dk1"/>
                </a:solidFill>
                <a:latin typeface="Comfortaa"/>
                <a:ea typeface="Comfortaa"/>
                <a:cs typeface="Comfortaa"/>
                <a:sym typeface="Comfortaa"/>
              </a:rPr>
              <a:t>E</a:t>
            </a:r>
            <a:r>
              <a:rPr b="1" lang="en" sz="1100">
                <a:solidFill>
                  <a:schemeClr val="dk1"/>
                </a:solidFill>
                <a:latin typeface="Comfortaa"/>
                <a:ea typeface="Comfortaa"/>
                <a:cs typeface="Comfortaa"/>
                <a:sym typeface="Comfortaa"/>
              </a:rPr>
              <a:t>l modelo puede verse afectado por la postura del sujeto, la calidad de la silueta o el uso de ropa muy suelta.</a:t>
            </a:r>
            <a:endParaRPr b="1" sz="1100">
              <a:solidFill>
                <a:schemeClr val="dk1"/>
              </a:solidFill>
              <a:latin typeface="Comfortaa"/>
              <a:ea typeface="Comfortaa"/>
              <a:cs typeface="Comfortaa"/>
              <a:sym typeface="Comfortaa"/>
            </a:endParaRPr>
          </a:p>
          <a:p>
            <a:pPr indent="-298450" lvl="0" marL="885825" marR="0" rtl="0" algn="l">
              <a:lnSpc>
                <a:spcPct val="100000"/>
              </a:lnSpc>
              <a:spcBef>
                <a:spcPts val="0"/>
              </a:spcBef>
              <a:spcAft>
                <a:spcPts val="0"/>
              </a:spcAft>
              <a:buClr>
                <a:schemeClr val="dk1"/>
              </a:buClr>
              <a:buSzPts val="1100"/>
              <a:buFont typeface="Comfortaa"/>
              <a:buAutoNum type="arabicPeriod"/>
            </a:pPr>
            <a:r>
              <a:rPr b="1" lang="en" sz="1100">
                <a:solidFill>
                  <a:schemeClr val="dk1"/>
                </a:solidFill>
                <a:latin typeface="Comfortaa"/>
                <a:ea typeface="Comfortaa"/>
                <a:cs typeface="Comfortaa"/>
                <a:sym typeface="Comfortaa"/>
              </a:rPr>
              <a:t>No posee el nivel de precisión milimétrica que obtendríamos con por ejemplo un escáner 3d.</a:t>
            </a:r>
            <a:endParaRPr b="1" sz="1100">
              <a:solidFill>
                <a:schemeClr val="dk1"/>
              </a:solidFill>
              <a:latin typeface="Comfortaa"/>
              <a:ea typeface="Comfortaa"/>
              <a:cs typeface="Comfortaa"/>
              <a:sym typeface="Comfortaa"/>
            </a:endParaRPr>
          </a:p>
          <a:p>
            <a:pPr indent="-298450" lvl="0" marL="885825" marR="0" rtl="0" algn="l">
              <a:lnSpc>
                <a:spcPct val="100000"/>
              </a:lnSpc>
              <a:spcBef>
                <a:spcPts val="0"/>
              </a:spcBef>
              <a:spcAft>
                <a:spcPts val="0"/>
              </a:spcAft>
              <a:buClr>
                <a:schemeClr val="dk1"/>
              </a:buClr>
              <a:buSzPts val="1100"/>
              <a:buFont typeface="Comfortaa"/>
              <a:buAutoNum type="arabicPeriod"/>
            </a:pPr>
            <a:r>
              <a:rPr b="1" lang="en" sz="1100">
                <a:solidFill>
                  <a:schemeClr val="dk1"/>
                </a:solidFill>
                <a:latin typeface="Comfortaa"/>
                <a:ea typeface="Comfortaa"/>
                <a:cs typeface="Comfortaa"/>
                <a:sym typeface="Comfortaa"/>
              </a:rPr>
              <a:t>El dataset es limitado en la variabilidad corporal extrema (obesidad mórbida, enanismo, entre otros)</a:t>
            </a:r>
            <a:endParaRPr b="1" sz="1100">
              <a:solidFill>
                <a:schemeClr val="dk1"/>
              </a:solidFill>
              <a:latin typeface="Comfortaa"/>
              <a:ea typeface="Comfortaa"/>
              <a:cs typeface="Comfortaa"/>
              <a:sym typeface="Comforta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3"/>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91" name="Google Shape;291;p33"/>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pic>
        <p:nvPicPr>
          <p:cNvPr id="292" name="Google Shape;292;p33" title="Diseño sin título (2).png"/>
          <p:cNvPicPr preferRelativeResize="0"/>
          <p:nvPr/>
        </p:nvPicPr>
        <p:blipFill rotWithShape="1">
          <a:blip r:embed="rId4">
            <a:alphaModFix amt="60000"/>
          </a:blip>
          <a:srcRect b="4339" l="0" r="0" t="4294"/>
          <a:stretch/>
        </p:blipFill>
        <p:spPr>
          <a:xfrm>
            <a:off x="0" y="0"/>
            <a:ext cx="9144000" cy="4699501"/>
          </a:xfrm>
          <a:prstGeom prst="rect">
            <a:avLst/>
          </a:prstGeom>
          <a:noFill/>
          <a:ln>
            <a:noFill/>
          </a:ln>
        </p:spPr>
      </p:pic>
      <p:sp>
        <p:nvSpPr>
          <p:cNvPr id="293" name="Google Shape;293;p33"/>
          <p:cNvSpPr/>
          <p:nvPr/>
        </p:nvSpPr>
        <p:spPr>
          <a:xfrm>
            <a:off x="2307900" y="2009100"/>
            <a:ext cx="4528200" cy="681300"/>
          </a:xfrm>
          <a:prstGeom prst="roundRect">
            <a:avLst>
              <a:gd fmla="val 21570" name="adj"/>
            </a:avLst>
          </a:prstGeom>
          <a:solidFill>
            <a:srgbClr val="BFC8D9"/>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chemeClr val="dk1"/>
              </a:buClr>
              <a:buSzPts val="1125"/>
              <a:buFont typeface="Arial"/>
              <a:buNone/>
            </a:pPr>
            <a:r>
              <a:rPr b="1" lang="en" sz="1124">
                <a:solidFill>
                  <a:srgbClr val="0C265D"/>
                </a:solidFill>
                <a:latin typeface="Comfortaa"/>
                <a:ea typeface="Comfortaa"/>
                <a:cs typeface="Comfortaa"/>
                <a:sym typeface="Comfortaa"/>
              </a:rPr>
              <a:t>ESTIMACIÓN DE MEDIDAS CORPORALES A PARTIR DE SILUETAS (VISTA FRONTAL Y LATERAL) MEDIANTE </a:t>
            </a:r>
            <a:r>
              <a:rPr b="1" lang="en" sz="1224">
                <a:solidFill>
                  <a:srgbClr val="990000"/>
                </a:solidFill>
                <a:latin typeface="Comfortaa"/>
                <a:ea typeface="Comfortaa"/>
                <a:cs typeface="Comfortaa"/>
                <a:sym typeface="Comfortaa"/>
              </a:rPr>
              <a:t>RESNET50 ENTRENADO</a:t>
            </a:r>
            <a:endParaRPr b="0" i="0" sz="1149" u="none" cap="none" strike="noStrike">
              <a:solidFill>
                <a:srgbClr val="99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4"/>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299" name="Google Shape;299;p34"/>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300" name="Google Shape;300;p34"/>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ENTRENAMIENTO : INPUT - MODELO RESNET 50</a:t>
            </a:r>
            <a:endParaRPr b="1" i="0" sz="1244" u="none" cap="none" strike="noStrike">
              <a:solidFill>
                <a:srgbClr val="0C265D"/>
              </a:solidFill>
              <a:latin typeface="Comfortaa"/>
              <a:ea typeface="Comfortaa"/>
              <a:cs typeface="Comfortaa"/>
              <a:sym typeface="Comfortaa"/>
            </a:endParaRPr>
          </a:p>
        </p:txBody>
      </p:sp>
      <p:cxnSp>
        <p:nvCxnSpPr>
          <p:cNvPr id="301" name="Google Shape;301;p34"/>
          <p:cNvCxnSpPr/>
          <p:nvPr/>
        </p:nvCxnSpPr>
        <p:spPr>
          <a:xfrm>
            <a:off x="180600" y="454650"/>
            <a:ext cx="8782800" cy="12300"/>
          </a:xfrm>
          <a:prstGeom prst="straightConnector1">
            <a:avLst/>
          </a:prstGeom>
          <a:noFill/>
          <a:ln cap="flat" cmpd="sng" w="9525">
            <a:solidFill>
              <a:schemeClr val="dk1"/>
            </a:solidFill>
            <a:prstDash val="solid"/>
            <a:round/>
            <a:headEnd len="med" w="med" type="oval"/>
            <a:tailEnd len="med" w="med" type="oval"/>
          </a:ln>
        </p:spPr>
      </p:cxnSp>
      <p:sp>
        <p:nvSpPr>
          <p:cNvPr id="302" name="Google Shape;302;p34"/>
          <p:cNvSpPr txBox="1"/>
          <p:nvPr/>
        </p:nvSpPr>
        <p:spPr>
          <a:xfrm>
            <a:off x="142375" y="654213"/>
            <a:ext cx="4744200" cy="38580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1"/>
              </a:buClr>
              <a:buSzPts val="1100"/>
              <a:buFont typeface="Comfortaa"/>
              <a:buChar char="●"/>
            </a:pPr>
            <a:r>
              <a:rPr b="1" lang="en" sz="1100">
                <a:solidFill>
                  <a:srgbClr val="0000FF"/>
                </a:solidFill>
                <a:latin typeface="Comfortaa"/>
                <a:ea typeface="Comfortaa"/>
                <a:cs typeface="Comfortaa"/>
                <a:sym typeface="Comfortaa"/>
              </a:rPr>
              <a:t>DATOS: </a:t>
            </a:r>
            <a:endParaRPr b="1" sz="1100">
              <a:solidFill>
                <a:srgbClr val="0000FF"/>
              </a:solidFill>
              <a:latin typeface="Comfortaa"/>
              <a:ea typeface="Comfortaa"/>
              <a:cs typeface="Comfortaa"/>
              <a:sym typeface="Comfortaa"/>
            </a:endParaRPr>
          </a:p>
          <a:p>
            <a:pPr indent="0" lvl="0" marL="457200" marR="0" rtl="0" algn="l">
              <a:lnSpc>
                <a:spcPct val="100000"/>
              </a:lnSpc>
              <a:spcBef>
                <a:spcPts val="0"/>
              </a:spcBef>
              <a:spcAft>
                <a:spcPts val="0"/>
              </a:spcAft>
              <a:buNone/>
            </a:pPr>
            <a:r>
              <a:rPr b="1" lang="en" sz="1100">
                <a:solidFill>
                  <a:schemeClr val="dk1"/>
                </a:solidFill>
                <a:latin typeface="Comfortaa"/>
                <a:ea typeface="Comfortaa"/>
                <a:cs typeface="Comfortaa"/>
                <a:sym typeface="Comfortaa"/>
              </a:rPr>
              <a:t>IMÁGENES DE PERSONAS REALES PASADOS A SILUETAS EN BLANCO Y NEGRO (VISTA FRONTAL Y LATERAL) DE 720X240 PÍXELES.</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rgbClr val="176B22"/>
              </a:solidFill>
              <a:latin typeface="Comfortaa"/>
              <a:ea typeface="Comfortaa"/>
              <a:cs typeface="Comfortaa"/>
              <a:sym typeface="Comfortaa"/>
            </a:endParaRPr>
          </a:p>
          <a:p>
            <a:pPr indent="-298450" lvl="0" marL="457200" marR="0" rtl="0" algn="l">
              <a:lnSpc>
                <a:spcPct val="100000"/>
              </a:lnSpc>
              <a:spcBef>
                <a:spcPts val="0"/>
              </a:spcBef>
              <a:spcAft>
                <a:spcPts val="0"/>
              </a:spcAft>
              <a:buClr>
                <a:srgbClr val="990000"/>
              </a:buClr>
              <a:buSzPts val="1100"/>
              <a:buFont typeface="Comfortaa"/>
              <a:buChar char="●"/>
            </a:pPr>
            <a:r>
              <a:rPr b="1" lang="en" sz="1100">
                <a:solidFill>
                  <a:srgbClr val="990000"/>
                </a:solidFill>
                <a:latin typeface="Comfortaa"/>
                <a:ea typeface="Comfortaa"/>
                <a:cs typeface="Comfortaa"/>
                <a:sym typeface="Comfortaa"/>
              </a:rPr>
              <a:t>PROCESAMIENTO DE LAS IMÁGENES CON </a:t>
            </a:r>
            <a:r>
              <a:rPr b="1" lang="en" sz="1100">
                <a:solidFill>
                  <a:srgbClr val="990000"/>
                </a:solidFill>
                <a:latin typeface="Comfortaa"/>
                <a:ea typeface="Comfortaa"/>
                <a:cs typeface="Comfortaa"/>
                <a:sym typeface="Comfortaa"/>
              </a:rPr>
              <a:t>RESNET 50</a:t>
            </a:r>
            <a:r>
              <a:rPr b="1" lang="en" sz="1100">
                <a:solidFill>
                  <a:srgbClr val="990000"/>
                </a:solidFill>
                <a:latin typeface="Comfortaa"/>
                <a:ea typeface="Comfortaa"/>
                <a:cs typeface="Comfortaa"/>
                <a:sym typeface="Comfortaa"/>
              </a:rPr>
              <a:t>:</a:t>
            </a:r>
            <a:endParaRPr b="1" sz="1100">
              <a:solidFill>
                <a:srgbClr val="990000"/>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rgbClr val="0000FF"/>
              </a:solidFill>
              <a:latin typeface="Comfortaa"/>
              <a:ea typeface="Comfortaa"/>
              <a:cs typeface="Comfortaa"/>
              <a:sym typeface="Comfortaa"/>
            </a:endParaRPr>
          </a:p>
          <a:p>
            <a:pPr indent="-298450" lvl="0" marL="885825" marR="0" rtl="0" algn="l">
              <a:lnSpc>
                <a:spcPct val="100000"/>
              </a:lnSpc>
              <a:spcBef>
                <a:spcPts val="0"/>
              </a:spcBef>
              <a:spcAft>
                <a:spcPts val="0"/>
              </a:spcAft>
              <a:buClr>
                <a:srgbClr val="176B22"/>
              </a:buClr>
              <a:buSzPts val="1100"/>
              <a:buFont typeface="Comfortaa"/>
              <a:buAutoNum type="arabicPeriod"/>
            </a:pPr>
            <a:r>
              <a:rPr b="1" lang="en" sz="1100">
                <a:solidFill>
                  <a:srgbClr val="0000FF"/>
                </a:solidFill>
                <a:latin typeface="Comfortaa"/>
                <a:ea typeface="Comfortaa"/>
                <a:cs typeface="Comfortaa"/>
                <a:sym typeface="Comfortaa"/>
              </a:rPr>
              <a:t>AJUSTE DE TAMAÑO: </a:t>
            </a:r>
            <a:r>
              <a:rPr b="1" lang="en" sz="1100">
                <a:solidFill>
                  <a:schemeClr val="dk1"/>
                </a:solidFill>
                <a:latin typeface="Comfortaa"/>
                <a:ea typeface="Comfortaa"/>
                <a:cs typeface="Comfortaa"/>
                <a:sym typeface="Comfortaa"/>
              </a:rPr>
              <a:t>IMÁGENES SE REDIMENSIONAN A 224X224 PÍXELES (TAMAÑO ESTÁNDAR PARA MEJORAR RENDIMIENTO COMPUTACIONAL EN RESNET).</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885825" marR="0" rtl="0" algn="l">
              <a:lnSpc>
                <a:spcPct val="100000"/>
              </a:lnSpc>
              <a:spcBef>
                <a:spcPts val="0"/>
              </a:spcBef>
              <a:spcAft>
                <a:spcPts val="0"/>
              </a:spcAft>
              <a:buClr>
                <a:srgbClr val="176B22"/>
              </a:buClr>
              <a:buSzPts val="1100"/>
              <a:buFont typeface="Comfortaa"/>
              <a:buAutoNum type="arabicPeriod"/>
            </a:pPr>
            <a:r>
              <a:rPr b="1" lang="en" sz="1100">
                <a:solidFill>
                  <a:srgbClr val="0000FF"/>
                </a:solidFill>
                <a:latin typeface="Comfortaa"/>
                <a:ea typeface="Comfortaa"/>
                <a:cs typeface="Comfortaa"/>
                <a:sym typeface="Comfortaa"/>
              </a:rPr>
              <a:t>NORMALIZACIÓN:</a:t>
            </a:r>
            <a:r>
              <a:rPr b="1" lang="en" sz="1100">
                <a:solidFill>
                  <a:schemeClr val="dk1"/>
                </a:solidFill>
                <a:latin typeface="Comfortaa"/>
                <a:ea typeface="Comfortaa"/>
                <a:cs typeface="Comfortaa"/>
                <a:sym typeface="Comfortaa"/>
              </a:rPr>
              <a:t> SE NORMALIZA DIVIDIENDO CADA PÍXEL ENTRE 255 (PARA ESTABILIZAR EL ENTRENAMIENTO Y MEJORANDO LA CONVERGENCIA DEL MODELO).</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298450" lvl="0" marL="885825" marR="0" rtl="0" algn="l">
              <a:lnSpc>
                <a:spcPct val="100000"/>
              </a:lnSpc>
              <a:spcBef>
                <a:spcPts val="0"/>
              </a:spcBef>
              <a:spcAft>
                <a:spcPts val="0"/>
              </a:spcAft>
              <a:buClr>
                <a:srgbClr val="176B22"/>
              </a:buClr>
              <a:buSzPts val="1100"/>
              <a:buFont typeface="Comfortaa"/>
              <a:buAutoNum type="arabicPeriod"/>
            </a:pPr>
            <a:r>
              <a:rPr b="1" lang="en" sz="1100">
                <a:solidFill>
                  <a:srgbClr val="0000FF"/>
                </a:solidFill>
                <a:latin typeface="Comfortaa"/>
                <a:ea typeface="Comfortaa"/>
                <a:cs typeface="Comfortaa"/>
                <a:sym typeface="Comfortaa"/>
              </a:rPr>
              <a:t>GENERACIÓN DE IMÁGENES DE 2 CAPAS:</a:t>
            </a:r>
            <a:r>
              <a:rPr b="1" lang="en" sz="1100">
                <a:solidFill>
                  <a:schemeClr val="dk1"/>
                </a:solidFill>
                <a:latin typeface="Comfortaa"/>
                <a:ea typeface="Comfortaa"/>
                <a:cs typeface="Comfortaa"/>
                <a:sym typeface="Comfortaa"/>
              </a:rPr>
              <a:t> VISTA FRONTAL + LATERAL SE COMBINAN PARA CREAR UNA ENTRADA DE 2 CANALES, SIMULANDO UNA PERCEPCIÓN TRIDIMENSIONAL.</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900"/>
              <a:buFont typeface="Arial"/>
              <a:buNone/>
            </a:pPr>
            <a:r>
              <a:t/>
            </a:r>
            <a:endParaRPr b="1" i="0" sz="1100" u="none" cap="none" strike="noStrike">
              <a:solidFill>
                <a:srgbClr val="0000FF"/>
              </a:solidFill>
              <a:latin typeface="Comfortaa"/>
              <a:ea typeface="Comfortaa"/>
              <a:cs typeface="Comfortaa"/>
              <a:sym typeface="Comfortaa"/>
            </a:endParaRPr>
          </a:p>
        </p:txBody>
      </p:sp>
      <p:graphicFrame>
        <p:nvGraphicFramePr>
          <p:cNvPr id="303" name="Google Shape;303;p34"/>
          <p:cNvGraphicFramePr/>
          <p:nvPr/>
        </p:nvGraphicFramePr>
        <p:xfrm>
          <a:off x="5178888" y="3715688"/>
          <a:ext cx="3000000" cy="3000000"/>
        </p:xfrm>
        <a:graphic>
          <a:graphicData uri="http://schemas.openxmlformats.org/drawingml/2006/table">
            <a:tbl>
              <a:tblPr>
                <a:noFill/>
                <a:tableStyleId>{F86E95A1-E1CC-4BC4-808D-2EC83E1E0585}</a:tableStyleId>
              </a:tblPr>
              <a:tblGrid>
                <a:gridCol w="767000"/>
                <a:gridCol w="1223500"/>
                <a:gridCol w="957675"/>
                <a:gridCol w="836325"/>
              </a:tblGrid>
              <a:tr h="226800">
                <a:tc>
                  <a:txBody>
                    <a:bodyPr/>
                    <a:lstStyle/>
                    <a:p>
                      <a:pPr indent="0" lvl="0" marL="0" marR="0" rtl="0" algn="ctr">
                        <a:lnSpc>
                          <a:spcPct val="100000"/>
                        </a:lnSpc>
                        <a:spcBef>
                          <a:spcPts val="0"/>
                        </a:spcBef>
                        <a:spcAft>
                          <a:spcPts val="0"/>
                        </a:spcAft>
                        <a:buClr>
                          <a:srgbClr val="000000"/>
                        </a:buClr>
                        <a:buSzPts val="600"/>
                        <a:buFont typeface="Arial"/>
                        <a:buNone/>
                      </a:pPr>
                      <a:r>
                        <a:t/>
                      </a:r>
                      <a:endParaRPr b="1" sz="600" u="none" cap="none" strike="noStrike">
                        <a:latin typeface="Comfortaa"/>
                        <a:ea typeface="Comfortaa"/>
                        <a:cs typeface="Comfortaa"/>
                        <a:sym typeface="Comfortaa"/>
                      </a:endParaRPr>
                    </a:p>
                  </a:txBody>
                  <a:tcPr marT="91425" marB="91425" marR="91425" marL="91425" anchor="ctr">
                    <a:lnL cap="flat" cmpd="sng" w="9525">
                      <a:solidFill>
                        <a:srgbClr val="E3E3E3"/>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E3E3E3"/>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latin typeface="Comfortaa"/>
                          <a:ea typeface="Comfortaa"/>
                          <a:cs typeface="Comfortaa"/>
                          <a:sym typeface="Comfortaa"/>
                        </a:rPr>
                        <a:t>ENTRENAMIENTO</a:t>
                      </a:r>
                      <a:endParaRPr b="1" sz="600" u="none" cap="none" strike="noStrike">
                        <a:latin typeface="Comfortaa"/>
                        <a:ea typeface="Comfortaa"/>
                        <a:cs typeface="Comfortaa"/>
                        <a:sym typeface="Comfortaa"/>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latin typeface="Comfortaa"/>
                          <a:ea typeface="Comfortaa"/>
                          <a:cs typeface="Comfortaa"/>
                          <a:sym typeface="Comfortaa"/>
                        </a:rPr>
                        <a:t>TEST-A</a:t>
                      </a:r>
                      <a:endParaRPr b="1" sz="600" u="none" cap="none" strike="noStrike">
                        <a:latin typeface="Comfortaa"/>
                        <a:ea typeface="Comfortaa"/>
                        <a:cs typeface="Comfortaa"/>
                        <a:sym typeface="Comfortaa"/>
                      </a:endParaRPr>
                    </a:p>
                  </a:txBody>
                  <a:tcPr marT="91425" marB="91425" marR="91425" marL="91425" anchor="ctr">
                    <a:lnL cap="flat" cmpd="sng" w="9525">
                      <a:solidFill>
                        <a:srgbClr val="9E9E9E"/>
                      </a:solidFill>
                      <a:prstDash val="solid"/>
                      <a:round/>
                      <a:headEnd len="sm" w="sm" type="none"/>
                      <a:tailEnd len="sm" w="sm" type="none"/>
                    </a:lnL>
                    <a:solidFill>
                      <a:schemeClr val="lt2"/>
                    </a:solidFill>
                  </a:tcPr>
                </a:tc>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latin typeface="Comfortaa"/>
                          <a:ea typeface="Comfortaa"/>
                          <a:cs typeface="Comfortaa"/>
                          <a:sym typeface="Comfortaa"/>
                        </a:rPr>
                        <a:t>TEST-B</a:t>
                      </a:r>
                      <a:endParaRPr b="1" sz="600" u="none" cap="none" strike="noStrike">
                        <a:latin typeface="Comfortaa"/>
                        <a:ea typeface="Comfortaa"/>
                        <a:cs typeface="Comfortaa"/>
                        <a:sym typeface="Comfortaa"/>
                      </a:endParaRPr>
                    </a:p>
                  </a:txBody>
                  <a:tcPr marT="91425" marB="91425" marR="91425" marL="91425" anchor="ctr">
                    <a:solidFill>
                      <a:schemeClr val="lt2"/>
                    </a:solidFill>
                  </a:tcPr>
                </a:tc>
              </a:tr>
              <a:tr h="226800">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latin typeface="Comfortaa"/>
                          <a:ea typeface="Comfortaa"/>
                          <a:cs typeface="Comfortaa"/>
                          <a:sym typeface="Comfortaa"/>
                        </a:rPr>
                        <a:t>SUJETOS</a:t>
                      </a:r>
                      <a:endParaRPr b="1" sz="600" u="none" cap="none" strike="noStrike">
                        <a:latin typeface="Comfortaa"/>
                        <a:ea typeface="Comfortaa"/>
                        <a:cs typeface="Comfortaa"/>
                        <a:sym typeface="Comfortaa"/>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2018</a:t>
                      </a:r>
                      <a:endParaRPr b="1" sz="700" u="none" cap="none" strike="noStrike">
                        <a:latin typeface="Comfortaa"/>
                        <a:ea typeface="Comfortaa"/>
                        <a:cs typeface="Comfortaa"/>
                        <a:sym typeface="Comfortaa"/>
                      </a:endParaRPr>
                    </a:p>
                  </a:txBody>
                  <a:tcPr marT="91425" marB="91425" marR="91425" marL="91425" anchor="ctr">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87</a:t>
                      </a:r>
                      <a:endParaRPr b="1" sz="700" u="none" cap="none" strike="noStrike">
                        <a:latin typeface="Comfortaa"/>
                        <a:ea typeface="Comfortaa"/>
                        <a:cs typeface="Comfortaa"/>
                        <a:sym typeface="Comforta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400</a:t>
                      </a:r>
                      <a:endParaRPr b="1" sz="700" u="none" cap="none" strike="noStrike">
                        <a:latin typeface="Comfortaa"/>
                        <a:ea typeface="Comfortaa"/>
                        <a:cs typeface="Comfortaa"/>
                        <a:sym typeface="Comfortaa"/>
                      </a:endParaRPr>
                    </a:p>
                  </a:txBody>
                  <a:tcPr marT="91425" marB="91425" marR="91425" marL="91425" anchor="ctr"/>
                </a:tc>
              </a:tr>
              <a:tr h="226800">
                <a:tc>
                  <a:txBody>
                    <a:bodyPr/>
                    <a:lstStyle/>
                    <a:p>
                      <a:pPr indent="0" lvl="0" marL="0" marR="0" rtl="0" algn="ctr">
                        <a:lnSpc>
                          <a:spcPct val="100000"/>
                        </a:lnSpc>
                        <a:spcBef>
                          <a:spcPts val="0"/>
                        </a:spcBef>
                        <a:spcAft>
                          <a:spcPts val="0"/>
                        </a:spcAft>
                        <a:buClr>
                          <a:srgbClr val="000000"/>
                        </a:buClr>
                        <a:buSzPts val="600"/>
                        <a:buFont typeface="Arial"/>
                        <a:buNone/>
                      </a:pPr>
                      <a:r>
                        <a:rPr b="1" lang="en" sz="600" u="none" cap="none" strike="noStrike">
                          <a:latin typeface="Comfortaa"/>
                          <a:ea typeface="Comfortaa"/>
                          <a:cs typeface="Comfortaa"/>
                          <a:sym typeface="Comfortaa"/>
                        </a:rPr>
                        <a:t>SILUETAS</a:t>
                      </a:r>
                      <a:endParaRPr b="1" sz="600" u="none" cap="none" strike="noStrike">
                        <a:latin typeface="Comfortaa"/>
                        <a:ea typeface="Comfortaa"/>
                        <a:cs typeface="Comfortaa"/>
                        <a:sym typeface="Comfortaa"/>
                      </a:endParaRPr>
                    </a:p>
                  </a:txBody>
                  <a:tcPr marT="91425" marB="91425" marR="91425" marL="91425" anchor="ctr">
                    <a:lnT cap="flat" cmpd="sng" w="9525">
                      <a:solidFill>
                        <a:srgbClr val="9E9E9E"/>
                      </a:solidFill>
                      <a:prstDash val="solid"/>
                      <a:round/>
                      <a:headEnd len="sm" w="sm" type="none"/>
                      <a:tailEnd len="sm" w="sm" type="none"/>
                    </a:lnT>
                    <a:solidFill>
                      <a:schemeClr val="lt2"/>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6134</a:t>
                      </a:r>
                      <a:endParaRPr b="1" sz="700" u="none" cap="none" strike="noStrike">
                        <a:latin typeface="Comfortaa"/>
                        <a:ea typeface="Comfortaa"/>
                        <a:cs typeface="Comfortaa"/>
                        <a:sym typeface="Comforta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1684</a:t>
                      </a:r>
                      <a:endParaRPr b="1" sz="700" u="none" cap="none" strike="noStrike">
                        <a:latin typeface="Comfortaa"/>
                        <a:ea typeface="Comfortaa"/>
                        <a:cs typeface="Comfortaa"/>
                        <a:sym typeface="Comforta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latin typeface="Comfortaa"/>
                          <a:ea typeface="Comfortaa"/>
                          <a:cs typeface="Comfortaa"/>
                          <a:sym typeface="Comfortaa"/>
                        </a:rPr>
                        <a:t>1160</a:t>
                      </a:r>
                      <a:endParaRPr b="1" sz="700" u="none" cap="none" strike="noStrike">
                        <a:latin typeface="Comfortaa"/>
                        <a:ea typeface="Comfortaa"/>
                        <a:cs typeface="Comfortaa"/>
                        <a:sym typeface="Comfortaa"/>
                      </a:endParaRPr>
                    </a:p>
                  </a:txBody>
                  <a:tcPr marT="91425" marB="91425" marR="91425" marL="91425" anchor="ctr"/>
                </a:tc>
              </a:tr>
            </a:tbl>
          </a:graphicData>
        </a:graphic>
      </p:graphicFrame>
      <p:sp>
        <p:nvSpPr>
          <p:cNvPr id="304" name="Google Shape;304;p34"/>
          <p:cNvSpPr txBox="1"/>
          <p:nvPr/>
        </p:nvSpPr>
        <p:spPr>
          <a:xfrm>
            <a:off x="5332500" y="3346388"/>
            <a:ext cx="347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Comfortaa"/>
                <a:ea typeface="Comfortaa"/>
                <a:cs typeface="Comfortaa"/>
                <a:sym typeface="Comfortaa"/>
              </a:rPr>
              <a:t>TABLA DE DISTRIBUCIÓN DE SUJETOS Y SILUETAS EN LAS FASES DE ENTRENAMIENTO Y PRUEBA EN EL CONJUNTO DE DATOS BODYM</a:t>
            </a:r>
            <a:endParaRPr b="0" i="0" sz="1300" u="none" cap="none" strike="noStrike">
              <a:solidFill>
                <a:schemeClr val="dk1"/>
              </a:solidFill>
              <a:latin typeface="Arial"/>
              <a:ea typeface="Arial"/>
              <a:cs typeface="Arial"/>
              <a:sym typeface="Arial"/>
            </a:endParaRPr>
          </a:p>
        </p:txBody>
      </p:sp>
      <p:pic>
        <p:nvPicPr>
          <p:cNvPr id="305" name="Google Shape;305;p34"/>
          <p:cNvPicPr preferRelativeResize="0"/>
          <p:nvPr/>
        </p:nvPicPr>
        <p:blipFill rotWithShape="1">
          <a:blip r:embed="rId4">
            <a:alphaModFix/>
          </a:blip>
          <a:srcRect b="0" l="0" r="0" t="0"/>
          <a:stretch/>
        </p:blipFill>
        <p:spPr>
          <a:xfrm>
            <a:off x="5480769" y="632394"/>
            <a:ext cx="3047947" cy="2714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5"/>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311" name="Google Shape;311;p35"/>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sp>
        <p:nvSpPr>
          <p:cNvPr id="312" name="Google Shape;312;p35"/>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ARQUITECTURA</a:t>
            </a:r>
            <a:r>
              <a:rPr b="1" lang="en" sz="1344">
                <a:solidFill>
                  <a:srgbClr val="0C265D"/>
                </a:solidFill>
                <a:latin typeface="Comfortaa"/>
                <a:ea typeface="Comfortaa"/>
                <a:cs typeface="Comfortaa"/>
                <a:sym typeface="Comfortaa"/>
              </a:rPr>
              <a:t> RESNET 50</a:t>
            </a:r>
            <a:endParaRPr b="1" i="0" sz="1244" u="none" cap="none" strike="noStrike">
              <a:solidFill>
                <a:srgbClr val="0C265D"/>
              </a:solidFill>
              <a:latin typeface="Comfortaa"/>
              <a:ea typeface="Comfortaa"/>
              <a:cs typeface="Comfortaa"/>
              <a:sym typeface="Comfortaa"/>
            </a:endParaRPr>
          </a:p>
        </p:txBody>
      </p:sp>
      <p:cxnSp>
        <p:nvCxnSpPr>
          <p:cNvPr id="313" name="Google Shape;313;p35"/>
          <p:cNvCxnSpPr/>
          <p:nvPr/>
        </p:nvCxnSpPr>
        <p:spPr>
          <a:xfrm>
            <a:off x="180600" y="454650"/>
            <a:ext cx="8782800" cy="12300"/>
          </a:xfrm>
          <a:prstGeom prst="straightConnector1">
            <a:avLst/>
          </a:prstGeom>
          <a:noFill/>
          <a:ln cap="flat" cmpd="sng" w="9525">
            <a:solidFill>
              <a:schemeClr val="dk1"/>
            </a:solidFill>
            <a:prstDash val="solid"/>
            <a:round/>
            <a:headEnd len="med" w="med" type="oval"/>
            <a:tailEnd len="med" w="med" type="oval"/>
          </a:ln>
        </p:spPr>
      </p:cxnSp>
      <p:sp>
        <p:nvSpPr>
          <p:cNvPr id="314" name="Google Shape;314;p35"/>
          <p:cNvSpPr txBox="1"/>
          <p:nvPr/>
        </p:nvSpPr>
        <p:spPr>
          <a:xfrm>
            <a:off x="314125" y="484875"/>
            <a:ext cx="3972300" cy="41967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990000"/>
                </a:solidFill>
                <a:latin typeface="Comfortaa"/>
                <a:ea typeface="Comfortaa"/>
                <a:cs typeface="Comfortaa"/>
                <a:sym typeface="Comfortaa"/>
              </a:rPr>
              <a:t>ENTRADA DE DATOS: </a:t>
            </a:r>
            <a:r>
              <a:rPr b="1" lang="en" sz="1100">
                <a:solidFill>
                  <a:schemeClr val="dk2"/>
                </a:solidFill>
                <a:latin typeface="Comfortaa"/>
                <a:ea typeface="Comfortaa"/>
                <a:cs typeface="Comfortaa"/>
                <a:sym typeface="Comfortaa"/>
              </a:rPr>
              <a:t>IMÁGENES DE 720X240 PÍXELES AJUSTADAS A 224X224 PÍXELES.</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rgbClr val="0000FF"/>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990000"/>
                </a:solidFill>
                <a:latin typeface="Comfortaa"/>
                <a:ea typeface="Comfortaa"/>
                <a:cs typeface="Comfortaa"/>
                <a:sym typeface="Comfortaa"/>
              </a:rPr>
              <a:t>CAPAS CONVOLUCIONALES Y MAX-POOLING:</a:t>
            </a:r>
            <a:r>
              <a:rPr b="1" lang="en" sz="1100">
                <a:solidFill>
                  <a:srgbClr val="0000FF"/>
                </a:solidFill>
                <a:latin typeface="Comfortaa"/>
                <a:ea typeface="Comfortaa"/>
                <a:cs typeface="Comfortaa"/>
                <a:sym typeface="Comfortaa"/>
              </a:rPr>
              <a:t> </a:t>
            </a:r>
            <a:r>
              <a:rPr b="1" lang="en" sz="1100">
                <a:solidFill>
                  <a:schemeClr val="dk2"/>
                </a:solidFill>
                <a:latin typeface="Comfortaa"/>
                <a:ea typeface="Comfortaa"/>
                <a:cs typeface="Comfortaa"/>
                <a:sym typeface="Comfortaa"/>
              </a:rPr>
              <a:t>CAPAS CONVOLUCIONALES CON FILTROS 3X3 Y ACTIVACIÓN RELU (AÑADE NO LINEALIDAD) + MAX-POOLING (REDUCE EL TAMAÑO DE LAS CARACTERÍSTICAS Y EL NÚMERO DE PARÁMETROS).</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rgbClr val="0000FF"/>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990000"/>
                </a:solidFill>
                <a:latin typeface="Comfortaa"/>
                <a:ea typeface="Comfortaa"/>
                <a:cs typeface="Comfortaa"/>
                <a:sym typeface="Comfortaa"/>
              </a:rPr>
              <a:t>FLATTEN: </a:t>
            </a:r>
            <a:r>
              <a:rPr b="1" lang="en" sz="1100">
                <a:solidFill>
                  <a:schemeClr val="dk2"/>
                </a:solidFill>
                <a:latin typeface="Comfortaa"/>
                <a:ea typeface="Comfortaa"/>
                <a:cs typeface="Comfortaa"/>
                <a:sym typeface="Comfortaa"/>
              </a:rPr>
              <a:t>CONVIERTE EL TENSOR TRIDIMENSIONAL EN UN VECTOR UNIDIMENSIONAL MEDIANTE UN PROMEDIO GLOBAL (GLOBAL AVERAGE POOLING) ANTES DE LA ÚLTIMA CAPA.</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rgbClr val="0000FF"/>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990000"/>
                </a:solidFill>
                <a:latin typeface="Comfortaa"/>
                <a:ea typeface="Comfortaa"/>
                <a:cs typeface="Comfortaa"/>
                <a:sym typeface="Comfortaa"/>
              </a:rPr>
              <a:t>DENSE:</a:t>
            </a:r>
            <a:endParaRPr b="1" sz="1100">
              <a:solidFill>
                <a:srgbClr val="990000"/>
              </a:solidFill>
              <a:latin typeface="Comfortaa"/>
              <a:ea typeface="Comfortaa"/>
              <a:cs typeface="Comfortaa"/>
              <a:sym typeface="Comfortaa"/>
            </a:endParaRPr>
          </a:p>
          <a:p>
            <a:pPr indent="-298450" lvl="0" marL="771525" marR="0" rtl="0" algn="l">
              <a:lnSpc>
                <a:spcPct val="100000"/>
              </a:lnSpc>
              <a:spcBef>
                <a:spcPts val="0"/>
              </a:spcBef>
              <a:spcAft>
                <a:spcPts val="0"/>
              </a:spcAft>
              <a:buClr>
                <a:schemeClr val="dk2"/>
              </a:buClr>
              <a:buSzPts val="1100"/>
              <a:buFont typeface="Comfortaa"/>
              <a:buChar char="●"/>
            </a:pPr>
            <a:r>
              <a:rPr b="1" lang="en" sz="1100">
                <a:solidFill>
                  <a:srgbClr val="D74154"/>
                </a:solidFill>
                <a:latin typeface="Comfortaa"/>
                <a:ea typeface="Comfortaa"/>
                <a:cs typeface="Comfortaa"/>
                <a:sym typeface="Comfortaa"/>
              </a:rPr>
              <a:t>1ERA CAPA:</a:t>
            </a:r>
            <a:r>
              <a:rPr b="1" lang="en" sz="1100">
                <a:solidFill>
                  <a:srgbClr val="0000FF"/>
                </a:solidFill>
                <a:latin typeface="Comfortaa"/>
                <a:ea typeface="Comfortaa"/>
                <a:cs typeface="Comfortaa"/>
                <a:sym typeface="Comfortaa"/>
              </a:rPr>
              <a:t> </a:t>
            </a:r>
            <a:r>
              <a:rPr b="1" lang="en" sz="1100">
                <a:solidFill>
                  <a:schemeClr val="dk2"/>
                </a:solidFill>
                <a:latin typeface="Comfortaa"/>
                <a:ea typeface="Comfortaa"/>
                <a:cs typeface="Comfortaa"/>
                <a:sym typeface="Comfortaa"/>
              </a:rPr>
              <a:t>1024 NEURONAS + RELU + DROPOUT</a:t>
            </a:r>
            <a:endParaRPr b="1" sz="1100">
              <a:solidFill>
                <a:schemeClr val="dk2"/>
              </a:solidFill>
              <a:latin typeface="Comfortaa"/>
              <a:ea typeface="Comfortaa"/>
              <a:cs typeface="Comfortaa"/>
              <a:sym typeface="Comfortaa"/>
            </a:endParaRPr>
          </a:p>
          <a:p>
            <a:pPr indent="-298450" lvl="0" marL="771525" marR="0" rtl="0" algn="l">
              <a:lnSpc>
                <a:spcPct val="100000"/>
              </a:lnSpc>
              <a:spcBef>
                <a:spcPts val="0"/>
              </a:spcBef>
              <a:spcAft>
                <a:spcPts val="0"/>
              </a:spcAft>
              <a:buClr>
                <a:schemeClr val="dk2"/>
              </a:buClr>
              <a:buSzPts val="1100"/>
              <a:buFont typeface="Comfortaa"/>
              <a:buChar char="●"/>
            </a:pPr>
            <a:r>
              <a:rPr b="1" lang="en" sz="1100">
                <a:solidFill>
                  <a:srgbClr val="D74154"/>
                </a:solidFill>
                <a:latin typeface="Comfortaa"/>
                <a:ea typeface="Comfortaa"/>
                <a:cs typeface="Comfortaa"/>
                <a:sym typeface="Comfortaa"/>
              </a:rPr>
              <a:t>2DA CAPA:</a:t>
            </a:r>
            <a:r>
              <a:rPr b="1" lang="en" sz="1100">
                <a:solidFill>
                  <a:srgbClr val="0000FF"/>
                </a:solidFill>
                <a:latin typeface="Comfortaa"/>
                <a:ea typeface="Comfortaa"/>
                <a:cs typeface="Comfortaa"/>
                <a:sym typeface="Comfortaa"/>
              </a:rPr>
              <a:t> </a:t>
            </a:r>
            <a:r>
              <a:rPr b="1" lang="en" sz="1100">
                <a:solidFill>
                  <a:schemeClr val="dk2"/>
                </a:solidFill>
                <a:latin typeface="Comfortaa"/>
                <a:ea typeface="Comfortaa"/>
                <a:cs typeface="Comfortaa"/>
                <a:sym typeface="Comfortaa"/>
              </a:rPr>
              <a:t>512 NEURONAS + RELU + DROPOUT</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rgbClr val="0000FF"/>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990000"/>
                </a:solidFill>
                <a:latin typeface="Comfortaa"/>
                <a:ea typeface="Comfortaa"/>
                <a:cs typeface="Comfortaa"/>
                <a:sym typeface="Comfortaa"/>
              </a:rPr>
              <a:t>OUTPUT:</a:t>
            </a:r>
            <a:r>
              <a:rPr b="1" lang="en" sz="1100">
                <a:solidFill>
                  <a:srgbClr val="0000FF"/>
                </a:solidFill>
                <a:latin typeface="Comfortaa"/>
                <a:ea typeface="Comfortaa"/>
                <a:cs typeface="Comfortaa"/>
                <a:sym typeface="Comfortaa"/>
              </a:rPr>
              <a:t> </a:t>
            </a:r>
            <a:r>
              <a:rPr b="1" lang="en" sz="1100">
                <a:solidFill>
                  <a:schemeClr val="dk2"/>
                </a:solidFill>
                <a:latin typeface="Comfortaa"/>
                <a:ea typeface="Comfortaa"/>
                <a:cs typeface="Comfortaa"/>
                <a:sym typeface="Comfortaa"/>
              </a:rPr>
              <a:t>14 (IGUAL AL NÚMERO DE MEDIDAS CORPORALES).</a:t>
            </a:r>
            <a:endParaRPr b="1" sz="1100">
              <a:solidFill>
                <a:schemeClr val="dk2"/>
              </a:solidFill>
              <a:latin typeface="Comfortaa"/>
              <a:ea typeface="Comfortaa"/>
              <a:cs typeface="Comfortaa"/>
              <a:sym typeface="Comfortaa"/>
            </a:endParaRPr>
          </a:p>
        </p:txBody>
      </p:sp>
      <p:sp>
        <p:nvSpPr>
          <p:cNvPr id="315" name="Google Shape;315;p35"/>
          <p:cNvSpPr txBox="1"/>
          <p:nvPr/>
        </p:nvSpPr>
        <p:spPr>
          <a:xfrm>
            <a:off x="4510825" y="484875"/>
            <a:ext cx="4213200" cy="40272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660000"/>
                </a:solidFill>
                <a:latin typeface="Comfortaa"/>
                <a:ea typeface="Comfortaa"/>
                <a:cs typeface="Comfortaa"/>
                <a:sym typeface="Comfortaa"/>
              </a:rPr>
              <a:t>IMAGEN DE ENTRADA (224X224): </a:t>
            </a:r>
            <a:r>
              <a:rPr b="1" lang="en" sz="1100">
                <a:solidFill>
                  <a:schemeClr val="dk2"/>
                </a:solidFill>
                <a:latin typeface="Comfortaa"/>
                <a:ea typeface="Comfortaa"/>
                <a:cs typeface="Comfortaa"/>
                <a:sym typeface="Comfortaa"/>
              </a:rPr>
              <a:t>TAMAÑO DE ENTRADA DE LA IMAGEN.</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rgbClr val="660000"/>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660000"/>
                </a:solidFill>
                <a:latin typeface="Comfortaa"/>
                <a:ea typeface="Comfortaa"/>
                <a:cs typeface="Comfortaa"/>
                <a:sym typeface="Comfortaa"/>
              </a:rPr>
              <a:t>CAPA CONVOLUCIONAL INICIAL: </a:t>
            </a:r>
            <a:r>
              <a:rPr b="1" lang="en" sz="1100">
                <a:solidFill>
                  <a:schemeClr val="dk2"/>
                </a:solidFill>
                <a:latin typeface="Comfortaa"/>
                <a:ea typeface="Comfortaa"/>
                <a:cs typeface="Comfortaa"/>
                <a:sym typeface="Comfortaa"/>
              </a:rPr>
              <a:t>CONVOLUCIÓN 7X7, STRIDE 2, SALIDA DE 112X112X64.</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rgbClr val="660000"/>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660000"/>
                </a:solidFill>
                <a:latin typeface="Comfortaa"/>
                <a:ea typeface="Comfortaa"/>
                <a:cs typeface="Comfortaa"/>
                <a:sym typeface="Comfortaa"/>
              </a:rPr>
              <a:t>CAPA MAX-POOLING: </a:t>
            </a:r>
            <a:r>
              <a:rPr b="1" lang="en" sz="1100">
                <a:solidFill>
                  <a:schemeClr val="dk2"/>
                </a:solidFill>
                <a:latin typeface="Comfortaa"/>
                <a:ea typeface="Comfortaa"/>
                <a:cs typeface="Comfortaa"/>
                <a:sym typeface="Comfortaa"/>
              </a:rPr>
              <a:t>MAX POOLING 3X3, REDUCIENDO LA SALIDA A 56X56X64.</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rgbClr val="660000"/>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660000"/>
                </a:solidFill>
                <a:latin typeface="Comfortaa"/>
                <a:ea typeface="Comfortaa"/>
                <a:cs typeface="Comfortaa"/>
                <a:sym typeface="Comfortaa"/>
              </a:rPr>
              <a:t>BLOQUES RESIDUALES:</a:t>
            </a:r>
            <a:endParaRPr b="1" sz="1100">
              <a:solidFill>
                <a:srgbClr val="660000"/>
              </a:solidFill>
              <a:latin typeface="Comfortaa"/>
              <a:ea typeface="Comfortaa"/>
              <a:cs typeface="Comfortaa"/>
              <a:sym typeface="Comfortaa"/>
            </a:endParaRPr>
          </a:p>
          <a:p>
            <a:pPr indent="0" lvl="0" marL="457200" marR="0" rtl="0" algn="l">
              <a:lnSpc>
                <a:spcPct val="100000"/>
              </a:lnSpc>
              <a:spcBef>
                <a:spcPts val="0"/>
              </a:spcBef>
              <a:spcAft>
                <a:spcPts val="0"/>
              </a:spcAft>
              <a:buNone/>
            </a:pPr>
            <a:r>
              <a:rPr b="1" lang="en" sz="1100">
                <a:solidFill>
                  <a:srgbClr val="D74154"/>
                </a:solidFill>
                <a:latin typeface="Comfortaa"/>
                <a:ea typeface="Comfortaa"/>
                <a:cs typeface="Comfortaa"/>
                <a:sym typeface="Comfortaa"/>
              </a:rPr>
              <a:t>ETAPA 1:</a:t>
            </a:r>
            <a:r>
              <a:rPr b="1" lang="en" sz="1100">
                <a:solidFill>
                  <a:schemeClr val="dk2"/>
                </a:solidFill>
                <a:latin typeface="Comfortaa"/>
                <a:ea typeface="Comfortaa"/>
                <a:cs typeface="Comfortaa"/>
                <a:sym typeface="Comfortaa"/>
              </a:rPr>
              <a:t> 56X56X256</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rPr b="1" lang="en" sz="1100">
                <a:solidFill>
                  <a:srgbClr val="D74154"/>
                </a:solidFill>
                <a:latin typeface="Comfortaa"/>
                <a:ea typeface="Comfortaa"/>
                <a:cs typeface="Comfortaa"/>
                <a:sym typeface="Comfortaa"/>
              </a:rPr>
              <a:t>ETAPA 2:</a:t>
            </a:r>
            <a:r>
              <a:rPr b="1" lang="en" sz="1100">
                <a:solidFill>
                  <a:schemeClr val="dk2"/>
                </a:solidFill>
                <a:latin typeface="Comfortaa"/>
                <a:ea typeface="Comfortaa"/>
                <a:cs typeface="Comfortaa"/>
                <a:sym typeface="Comfortaa"/>
              </a:rPr>
              <a:t> 28X28X512</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rPr b="1" lang="en" sz="1100">
                <a:solidFill>
                  <a:srgbClr val="D74154"/>
                </a:solidFill>
                <a:latin typeface="Comfortaa"/>
                <a:ea typeface="Comfortaa"/>
                <a:cs typeface="Comfortaa"/>
                <a:sym typeface="Comfortaa"/>
              </a:rPr>
              <a:t>ETAPA 3:</a:t>
            </a:r>
            <a:r>
              <a:rPr b="1" lang="en" sz="1100">
                <a:solidFill>
                  <a:schemeClr val="dk2"/>
                </a:solidFill>
                <a:latin typeface="Comfortaa"/>
                <a:ea typeface="Comfortaa"/>
                <a:cs typeface="Comfortaa"/>
                <a:sym typeface="Comfortaa"/>
              </a:rPr>
              <a:t> 14X14X1024</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rPr b="1" lang="en" sz="1100">
                <a:solidFill>
                  <a:srgbClr val="D74154"/>
                </a:solidFill>
                <a:latin typeface="Comfortaa"/>
                <a:ea typeface="Comfortaa"/>
                <a:cs typeface="Comfortaa"/>
                <a:sym typeface="Comfortaa"/>
              </a:rPr>
              <a:t>ETAPA 4:</a:t>
            </a:r>
            <a:r>
              <a:rPr b="1" lang="en" sz="1100">
                <a:solidFill>
                  <a:schemeClr val="dk2"/>
                </a:solidFill>
                <a:latin typeface="Comfortaa"/>
                <a:ea typeface="Comfortaa"/>
                <a:cs typeface="Comfortaa"/>
                <a:sym typeface="Comfortaa"/>
              </a:rPr>
              <a:t> 7X7X2048</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2"/>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660000"/>
                </a:solidFill>
                <a:latin typeface="Comfortaa"/>
                <a:ea typeface="Comfortaa"/>
                <a:cs typeface="Comfortaa"/>
                <a:sym typeface="Comfortaa"/>
              </a:rPr>
              <a:t>GLOBAL AVERAGE POOLING: </a:t>
            </a:r>
            <a:r>
              <a:rPr b="1" lang="en" sz="1100">
                <a:solidFill>
                  <a:schemeClr val="dk2"/>
                </a:solidFill>
                <a:latin typeface="Comfortaa"/>
                <a:ea typeface="Comfortaa"/>
                <a:cs typeface="Comfortaa"/>
                <a:sym typeface="Comfortaa"/>
              </a:rPr>
              <a:t>CONVIERTE LA SALIDA A 1X1X2048.</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rgbClr val="660000"/>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AutoNum type="arabicPeriod"/>
            </a:pPr>
            <a:r>
              <a:rPr b="1" lang="en" sz="1100">
                <a:solidFill>
                  <a:srgbClr val="660000"/>
                </a:solidFill>
                <a:latin typeface="Comfortaa"/>
                <a:ea typeface="Comfortaa"/>
                <a:cs typeface="Comfortaa"/>
                <a:sym typeface="Comfortaa"/>
              </a:rPr>
              <a:t>CAPAS DENSAS:</a:t>
            </a:r>
            <a:endParaRPr b="1" sz="1100">
              <a:solidFill>
                <a:srgbClr val="660000"/>
              </a:solidFill>
              <a:latin typeface="Comfortaa"/>
              <a:ea typeface="Comfortaa"/>
              <a:cs typeface="Comfortaa"/>
              <a:sym typeface="Comfortaa"/>
            </a:endParaRPr>
          </a:p>
          <a:p>
            <a:pPr indent="0" lvl="0" marL="457200" marR="0" rtl="0" algn="l">
              <a:lnSpc>
                <a:spcPct val="100000"/>
              </a:lnSpc>
              <a:spcBef>
                <a:spcPts val="0"/>
              </a:spcBef>
              <a:spcAft>
                <a:spcPts val="0"/>
              </a:spcAft>
              <a:buNone/>
            </a:pPr>
            <a:r>
              <a:rPr b="1" lang="en" sz="1100">
                <a:solidFill>
                  <a:srgbClr val="D74154"/>
                </a:solidFill>
                <a:latin typeface="Comfortaa"/>
                <a:ea typeface="Comfortaa"/>
                <a:cs typeface="Comfortaa"/>
                <a:sym typeface="Comfortaa"/>
              </a:rPr>
              <a:t>DENSE 1:</a:t>
            </a:r>
            <a:r>
              <a:rPr b="1" lang="en" sz="1100">
                <a:solidFill>
                  <a:schemeClr val="dk2"/>
                </a:solidFill>
                <a:latin typeface="Comfortaa"/>
                <a:ea typeface="Comfortaa"/>
                <a:cs typeface="Comfortaa"/>
                <a:sym typeface="Comfortaa"/>
              </a:rPr>
              <a:t> 1024 NEURONAS + RELU + DROPOUT (0.5)</a:t>
            </a:r>
            <a:endParaRPr b="1" sz="1100">
              <a:solidFill>
                <a:schemeClr val="dk2"/>
              </a:solidFill>
              <a:latin typeface="Comfortaa"/>
              <a:ea typeface="Comfortaa"/>
              <a:cs typeface="Comfortaa"/>
              <a:sym typeface="Comfortaa"/>
            </a:endParaRPr>
          </a:p>
          <a:p>
            <a:pPr indent="0" lvl="0" marL="457200" marR="0" rtl="0" algn="l">
              <a:lnSpc>
                <a:spcPct val="100000"/>
              </a:lnSpc>
              <a:spcBef>
                <a:spcPts val="0"/>
              </a:spcBef>
              <a:spcAft>
                <a:spcPts val="0"/>
              </a:spcAft>
              <a:buNone/>
            </a:pPr>
            <a:r>
              <a:rPr b="1" lang="en" sz="1100">
                <a:solidFill>
                  <a:srgbClr val="D74154"/>
                </a:solidFill>
                <a:latin typeface="Comfortaa"/>
                <a:ea typeface="Comfortaa"/>
                <a:cs typeface="Comfortaa"/>
                <a:sym typeface="Comfortaa"/>
              </a:rPr>
              <a:t>DENSE 2: </a:t>
            </a:r>
            <a:r>
              <a:rPr b="1" lang="en" sz="1100">
                <a:solidFill>
                  <a:schemeClr val="dk2"/>
                </a:solidFill>
                <a:latin typeface="Comfortaa"/>
                <a:ea typeface="Comfortaa"/>
                <a:cs typeface="Comfortaa"/>
                <a:sym typeface="Comfortaa"/>
              </a:rPr>
              <a:t>512 NEURONAS + RELU + DROPOUT (0.5)</a:t>
            </a:r>
            <a:endParaRPr b="1" sz="1100">
              <a:solidFill>
                <a:schemeClr val="dk2"/>
              </a:solidFill>
              <a:latin typeface="Comfortaa"/>
              <a:ea typeface="Comfortaa"/>
              <a:cs typeface="Comfortaa"/>
              <a:sym typeface="Comforta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6"/>
          <p:cNvSpPr txBox="1"/>
          <p:nvPr/>
        </p:nvSpPr>
        <p:spPr>
          <a:xfrm>
            <a:off x="38575" y="-23925"/>
            <a:ext cx="8818500" cy="591000"/>
          </a:xfrm>
          <a:prstGeom prst="rect">
            <a:avLst/>
          </a:prstGeom>
          <a:noFill/>
          <a:ln>
            <a:noFill/>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i="0" lang="en" sz="1044" u="none" cap="none" strike="noStrike">
                <a:solidFill>
                  <a:srgbClr val="0C265D"/>
                </a:solidFill>
                <a:latin typeface="Comfortaa"/>
                <a:ea typeface="Comfortaa"/>
                <a:cs typeface="Comfortaa"/>
                <a:sym typeface="Comfortaa"/>
              </a:rPr>
              <a:t>             </a:t>
            </a:r>
            <a:r>
              <a:rPr b="1" i="0" lang="en" sz="843" u="none" cap="none" strike="noStrike">
                <a:solidFill>
                  <a:srgbClr val="0C265D"/>
                </a:solidFill>
                <a:latin typeface="Comfortaa"/>
                <a:ea typeface="Comfortaa"/>
                <a:cs typeface="Comfortaa"/>
                <a:sym typeface="Comfortaa"/>
              </a:rPr>
              <a:t>  </a:t>
            </a:r>
            <a:r>
              <a:rPr b="1" i="0" lang="en" sz="843" u="none" cap="none" strike="noStrike">
                <a:solidFill>
                  <a:schemeClr val="accent5"/>
                </a:solidFill>
                <a:latin typeface="Comfortaa"/>
                <a:ea typeface="Comfortaa"/>
                <a:cs typeface="Comfortaa"/>
                <a:sym typeface="Comfortaa"/>
              </a:rPr>
              <a:t>ANÁLISIS DE RESULTADOS</a:t>
            </a:r>
            <a:endParaRPr b="1" i="0" sz="843" u="none" cap="none" strike="noStrike">
              <a:solidFill>
                <a:schemeClr val="accent5"/>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44"/>
              <a:buFont typeface="Arial"/>
              <a:buNone/>
            </a:pPr>
            <a:r>
              <a:t/>
            </a:r>
            <a:endParaRPr b="1" i="0" sz="444" u="none" cap="none" strike="noStrike">
              <a:solidFill>
                <a:srgbClr val="0C265D"/>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44"/>
              <a:buFont typeface="Arial"/>
              <a:buNone/>
            </a:pPr>
            <a:r>
              <a:rPr b="1" i="0" lang="en" sz="1200" u="none" cap="none" strike="noStrike">
                <a:solidFill>
                  <a:srgbClr val="0C265D"/>
                </a:solidFill>
                <a:latin typeface="Comfortaa"/>
                <a:ea typeface="Comfortaa"/>
                <a:cs typeface="Comfortaa"/>
                <a:sym typeface="Comfortaa"/>
              </a:rPr>
              <a:t>	   ENTRENAMIENTO RESNET 50</a:t>
            </a:r>
            <a:endParaRPr b="1" i="0" sz="1044" u="none" cap="none" strike="noStrike">
              <a:solidFill>
                <a:srgbClr val="0C265D"/>
              </a:solidFill>
              <a:latin typeface="Comfortaa"/>
              <a:ea typeface="Comfortaa"/>
              <a:cs typeface="Comfortaa"/>
              <a:sym typeface="Comfortaa"/>
            </a:endParaRPr>
          </a:p>
        </p:txBody>
      </p:sp>
      <p:sp>
        <p:nvSpPr>
          <p:cNvPr id="321" name="Google Shape;321;p36"/>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322" name="Google Shape;322;p36"/>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cxnSp>
        <p:nvCxnSpPr>
          <p:cNvPr id="323" name="Google Shape;323;p36"/>
          <p:cNvCxnSpPr/>
          <p:nvPr/>
        </p:nvCxnSpPr>
        <p:spPr>
          <a:xfrm>
            <a:off x="180600" y="537375"/>
            <a:ext cx="8782800" cy="12300"/>
          </a:xfrm>
          <a:prstGeom prst="straightConnector1">
            <a:avLst/>
          </a:prstGeom>
          <a:noFill/>
          <a:ln cap="flat" cmpd="sng" w="9525">
            <a:solidFill>
              <a:schemeClr val="dk1"/>
            </a:solidFill>
            <a:prstDash val="solid"/>
            <a:round/>
            <a:headEnd len="med" w="med" type="oval"/>
            <a:tailEnd len="med" w="med" type="oval"/>
          </a:ln>
        </p:spPr>
      </p:cxnSp>
      <p:sp>
        <p:nvSpPr>
          <p:cNvPr id="324" name="Google Shape;324;p36"/>
          <p:cNvSpPr txBox="1"/>
          <p:nvPr/>
        </p:nvSpPr>
        <p:spPr>
          <a:xfrm>
            <a:off x="241800" y="645825"/>
            <a:ext cx="4842300" cy="40272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0" lvl="0" marL="0" marR="0" rtl="0" algn="l">
              <a:lnSpc>
                <a:spcPct val="100000"/>
              </a:lnSpc>
              <a:spcBef>
                <a:spcPts val="0"/>
              </a:spcBef>
              <a:spcAft>
                <a:spcPts val="0"/>
              </a:spcAft>
              <a:buClr>
                <a:srgbClr val="000000"/>
              </a:buClr>
              <a:buSzPts val="900"/>
              <a:buFont typeface="Arial"/>
              <a:buNone/>
            </a:pPr>
            <a:r>
              <a:rPr b="1" i="0" lang="en" sz="1100" u="none" cap="none" strike="noStrike">
                <a:solidFill>
                  <a:srgbClr val="176B22"/>
                </a:solidFill>
                <a:latin typeface="Comfortaa"/>
                <a:ea typeface="Comfortaa"/>
                <a:cs typeface="Comfortaa"/>
                <a:sym typeface="Comfortaa"/>
              </a:rPr>
              <a:t>CONFIGURACIÓN DEL MODELO :</a:t>
            </a:r>
            <a:endParaRPr b="1" i="0" sz="1100" u="none" cap="none" strike="noStrike">
              <a:solidFill>
                <a:srgbClr val="176B22"/>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Char char="●"/>
            </a:pPr>
            <a:r>
              <a:rPr b="1" i="0" lang="en" sz="1100" u="none" cap="none" strike="noStrike">
                <a:solidFill>
                  <a:srgbClr val="990000"/>
                </a:solidFill>
                <a:latin typeface="Comfortaa"/>
                <a:ea typeface="Comfortaa"/>
                <a:cs typeface="Comfortaa"/>
                <a:sym typeface="Comfortaa"/>
              </a:rPr>
              <a:t>ARQUITECTURA BASE :</a:t>
            </a:r>
            <a:r>
              <a:rPr b="1" i="0" lang="en" sz="1100" u="none" cap="none" strike="noStrike">
                <a:solidFill>
                  <a:srgbClr val="0000FF"/>
                </a:solidFill>
                <a:latin typeface="Comfortaa"/>
                <a:ea typeface="Comfortaa"/>
                <a:cs typeface="Comfortaa"/>
                <a:sym typeface="Comfortaa"/>
              </a:rPr>
              <a:t> </a:t>
            </a:r>
            <a:r>
              <a:rPr b="1" i="0" lang="en" sz="1100" u="none" cap="none" strike="noStrike">
                <a:solidFill>
                  <a:schemeClr val="dk1"/>
                </a:solidFill>
                <a:latin typeface="Comfortaa"/>
                <a:ea typeface="Comfortaa"/>
                <a:cs typeface="Comfortaa"/>
                <a:sym typeface="Comfortaa"/>
              </a:rPr>
              <a:t>RESNET50, SIN PESOS PRE-ENTRENADOS (WEIGHTS=NONE)</a:t>
            </a:r>
            <a:endParaRPr b="1" i="0" sz="1100" u="none" cap="none" strike="noStrike">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Char char="●"/>
            </a:pPr>
            <a:r>
              <a:rPr b="1" i="0" lang="en" sz="1100" u="none" cap="none" strike="noStrike">
                <a:solidFill>
                  <a:srgbClr val="990000"/>
                </a:solidFill>
                <a:latin typeface="Comfortaa"/>
                <a:ea typeface="Comfortaa"/>
                <a:cs typeface="Comfortaa"/>
                <a:sym typeface="Comfortaa"/>
              </a:rPr>
              <a:t>LIBRERÍAS UTILIZADAS :</a:t>
            </a:r>
            <a:r>
              <a:rPr b="1" i="0" lang="en" sz="1100" u="none" cap="none" strike="noStrike">
                <a:solidFill>
                  <a:srgbClr val="0000FF"/>
                </a:solidFill>
                <a:latin typeface="Comfortaa"/>
                <a:ea typeface="Comfortaa"/>
                <a:cs typeface="Comfortaa"/>
                <a:sym typeface="Comfortaa"/>
              </a:rPr>
              <a:t> </a:t>
            </a:r>
            <a:r>
              <a:rPr b="1" i="0" lang="en" sz="1100" u="none" cap="none" strike="noStrike">
                <a:solidFill>
                  <a:schemeClr val="dk1"/>
                </a:solidFill>
                <a:latin typeface="Comfortaa"/>
                <a:ea typeface="Comfortaa"/>
                <a:cs typeface="Comfortaa"/>
                <a:sym typeface="Comfortaa"/>
              </a:rPr>
              <a:t>TENSORFLOW, KERAS</a:t>
            </a:r>
            <a:endParaRPr b="1" i="0" sz="1100" u="none" cap="none" strike="noStrike">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900"/>
              <a:buFont typeface="Arial"/>
              <a:buNone/>
            </a:pPr>
            <a:r>
              <a:t/>
            </a:r>
            <a:endParaRPr b="1" i="0" sz="1100" u="none" cap="none" strike="noStrike">
              <a:solidFill>
                <a:srgbClr val="0000FF"/>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900"/>
              <a:buFont typeface="Arial"/>
              <a:buNone/>
            </a:pPr>
            <a:r>
              <a:t/>
            </a:r>
            <a:endParaRPr b="1" i="0" sz="1100" u="none" cap="none" strike="noStrike">
              <a:solidFill>
                <a:srgbClr val="0000FF"/>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900"/>
              <a:buFont typeface="Arial"/>
              <a:buNone/>
            </a:pPr>
            <a:r>
              <a:rPr b="1" i="0" lang="en" sz="1100" u="none" cap="none" strike="noStrike">
                <a:solidFill>
                  <a:srgbClr val="176B22"/>
                </a:solidFill>
                <a:latin typeface="Comfortaa"/>
                <a:ea typeface="Comfortaa"/>
                <a:cs typeface="Comfortaa"/>
                <a:sym typeface="Comfortaa"/>
              </a:rPr>
              <a:t>COMPILACIÓN DEL MODELO :</a:t>
            </a:r>
            <a:endParaRPr b="1" i="0" sz="1100" u="none" cap="none" strike="noStrike">
              <a:solidFill>
                <a:srgbClr val="176B22"/>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Char char="●"/>
            </a:pPr>
            <a:r>
              <a:rPr b="1" i="0" lang="en" sz="1100" u="none" cap="none" strike="noStrike">
                <a:solidFill>
                  <a:srgbClr val="990000"/>
                </a:solidFill>
                <a:latin typeface="Comfortaa"/>
                <a:ea typeface="Comfortaa"/>
                <a:cs typeface="Comfortaa"/>
                <a:sym typeface="Comfortaa"/>
              </a:rPr>
              <a:t>FUNCIÓN DE PÉRDIDA (LOSS) :</a:t>
            </a:r>
            <a:r>
              <a:rPr b="1" i="0" lang="en" sz="1100" u="none" cap="none" strike="noStrike">
                <a:solidFill>
                  <a:srgbClr val="0000FF"/>
                </a:solidFill>
                <a:latin typeface="Comfortaa"/>
                <a:ea typeface="Comfortaa"/>
                <a:cs typeface="Comfortaa"/>
                <a:sym typeface="Comfortaa"/>
              </a:rPr>
              <a:t> </a:t>
            </a:r>
            <a:r>
              <a:rPr b="1" i="0" lang="en" sz="1100" u="none" cap="none" strike="noStrike">
                <a:solidFill>
                  <a:schemeClr val="dk1"/>
                </a:solidFill>
                <a:latin typeface="Comfortaa"/>
                <a:ea typeface="Comfortaa"/>
                <a:cs typeface="Comfortaa"/>
                <a:sym typeface="Comfortaa"/>
              </a:rPr>
              <a:t>SE UTILIZA EL ERROR CUADRÁTICO MEDIO (MSE) PARA PENALIZAR LOS ERRORES GRANDES MÁS QUE LOS PEQUEÑOS.</a:t>
            </a:r>
            <a:endParaRPr b="1" i="0" sz="1100" u="none" cap="none" strike="noStrike">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Char char="●"/>
            </a:pPr>
            <a:r>
              <a:rPr b="1" i="0" lang="en" sz="1100" u="none" cap="none" strike="noStrike">
                <a:solidFill>
                  <a:srgbClr val="990000"/>
                </a:solidFill>
                <a:latin typeface="Comfortaa"/>
                <a:ea typeface="Comfortaa"/>
                <a:cs typeface="Comfortaa"/>
                <a:sym typeface="Comfortaa"/>
              </a:rPr>
              <a:t>OPTIMIZADOR :</a:t>
            </a:r>
            <a:r>
              <a:rPr b="1" i="0" lang="en" sz="1100" u="none" cap="none" strike="noStrike">
                <a:solidFill>
                  <a:srgbClr val="0000FF"/>
                </a:solidFill>
                <a:latin typeface="Comfortaa"/>
                <a:ea typeface="Comfortaa"/>
                <a:cs typeface="Comfortaa"/>
                <a:sym typeface="Comfortaa"/>
              </a:rPr>
              <a:t> </a:t>
            </a:r>
            <a:r>
              <a:rPr b="1" i="0" lang="en" sz="1100" u="none" cap="none" strike="noStrike">
                <a:solidFill>
                  <a:schemeClr val="dk1"/>
                </a:solidFill>
                <a:latin typeface="Comfortaa"/>
                <a:ea typeface="Comfortaa"/>
                <a:cs typeface="Comfortaa"/>
                <a:sym typeface="Comfortaa"/>
              </a:rPr>
              <a:t>ADAM (RAPIDEZ DE CONVERGENCIA, AJUSTANDO AUTOMÁTICAMENTE LAS TASAS DE APRENDIZAJE DE CADA PARÁMETRO)</a:t>
            </a:r>
            <a:endParaRPr b="1" i="0" sz="1100" u="none" cap="none" strike="noStrike">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Char char="●"/>
            </a:pPr>
            <a:r>
              <a:rPr b="1" i="0" lang="en" sz="1100" u="none" cap="none" strike="noStrike">
                <a:solidFill>
                  <a:srgbClr val="990000"/>
                </a:solidFill>
                <a:latin typeface="Comfortaa"/>
                <a:ea typeface="Comfortaa"/>
                <a:cs typeface="Comfortaa"/>
                <a:sym typeface="Comfortaa"/>
              </a:rPr>
              <a:t>ACCURACY : </a:t>
            </a:r>
            <a:r>
              <a:rPr b="1" i="0" lang="en" sz="1100" u="none" cap="none" strike="noStrike">
                <a:solidFill>
                  <a:schemeClr val="dk1"/>
                </a:solidFill>
                <a:latin typeface="Comfortaa"/>
                <a:ea typeface="Comfortaa"/>
                <a:cs typeface="Comfortaa"/>
                <a:sym typeface="Comfortaa"/>
              </a:rPr>
              <a:t>VER EL NIVEL DE PRECISIÓN DEL MODELO</a:t>
            </a:r>
            <a:endParaRPr b="1" i="0" sz="1100" u="none" cap="none" strike="noStrike">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900"/>
              <a:buFont typeface="Arial"/>
              <a:buNone/>
            </a:pPr>
            <a:r>
              <a:t/>
            </a:r>
            <a:endParaRPr b="1" i="0" sz="1100" u="none" cap="none" strike="noStrike">
              <a:solidFill>
                <a:srgbClr val="0000FF"/>
              </a:solidFill>
              <a:latin typeface="Comfortaa"/>
              <a:ea typeface="Comfortaa"/>
              <a:cs typeface="Comfortaa"/>
              <a:sym typeface="Comfortaa"/>
            </a:endParaRPr>
          </a:p>
          <a:p>
            <a:pPr indent="0" lvl="0" marL="457200" marR="0" rtl="0" algn="l">
              <a:lnSpc>
                <a:spcPct val="100000"/>
              </a:lnSpc>
              <a:spcBef>
                <a:spcPts val="0"/>
              </a:spcBef>
              <a:spcAft>
                <a:spcPts val="0"/>
              </a:spcAft>
              <a:buClr>
                <a:srgbClr val="000000"/>
              </a:buClr>
              <a:buSzPts val="900"/>
              <a:buFont typeface="Arial"/>
              <a:buNone/>
            </a:pPr>
            <a:r>
              <a:t/>
            </a:r>
            <a:endParaRPr b="1" i="0" sz="1100" u="none" cap="none" strike="noStrike">
              <a:solidFill>
                <a:srgbClr val="0000FF"/>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900"/>
              <a:buFont typeface="Arial"/>
              <a:buNone/>
            </a:pPr>
            <a:r>
              <a:rPr b="1" i="0" lang="en" sz="1100" u="none" cap="none" strike="noStrike">
                <a:solidFill>
                  <a:srgbClr val="176B22"/>
                </a:solidFill>
                <a:latin typeface="Comfortaa"/>
                <a:ea typeface="Comfortaa"/>
                <a:cs typeface="Comfortaa"/>
                <a:sym typeface="Comfortaa"/>
              </a:rPr>
              <a:t>DEFINICIÓN DE PARÁMETROS DE ENTRENAMIENTO :</a:t>
            </a:r>
            <a:endParaRPr b="1" i="0" sz="1100" u="none" cap="none" strike="noStrike">
              <a:solidFill>
                <a:srgbClr val="176B22"/>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Char char="●"/>
            </a:pPr>
            <a:r>
              <a:rPr b="1" i="0" lang="en" sz="1100" u="none" cap="none" strike="noStrike">
                <a:solidFill>
                  <a:srgbClr val="990000"/>
                </a:solidFill>
                <a:latin typeface="Comfortaa"/>
                <a:ea typeface="Comfortaa"/>
                <a:cs typeface="Comfortaa"/>
                <a:sym typeface="Comfortaa"/>
              </a:rPr>
              <a:t>ÉPOCAS : </a:t>
            </a:r>
            <a:r>
              <a:rPr b="1" i="0" lang="en" sz="1100" u="none" cap="none" strike="noStrike">
                <a:solidFill>
                  <a:schemeClr val="dk1"/>
                </a:solidFill>
                <a:latin typeface="Comfortaa"/>
                <a:ea typeface="Comfortaa"/>
                <a:cs typeface="Comfortaa"/>
                <a:sym typeface="Comfortaa"/>
              </a:rPr>
              <a:t>1000</a:t>
            </a:r>
            <a:endParaRPr b="1" i="0" sz="1100" u="none" cap="none" strike="noStrike">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chemeClr val="dk2"/>
              </a:buClr>
              <a:buSzPts val="1100"/>
              <a:buFont typeface="Comfortaa"/>
              <a:buChar char="●"/>
            </a:pPr>
            <a:r>
              <a:rPr b="1" i="0" lang="en" sz="1100" u="none" cap="none" strike="noStrike">
                <a:solidFill>
                  <a:srgbClr val="990000"/>
                </a:solidFill>
                <a:latin typeface="Comfortaa"/>
                <a:ea typeface="Comfortaa"/>
                <a:cs typeface="Comfortaa"/>
                <a:sym typeface="Comfortaa"/>
              </a:rPr>
              <a:t>TAMAÑO DE LOTE (BATCH SIZE) :</a:t>
            </a:r>
            <a:r>
              <a:rPr b="1" i="0" lang="en" sz="1100" u="none" cap="none" strike="noStrike">
                <a:solidFill>
                  <a:srgbClr val="0000FF"/>
                </a:solidFill>
                <a:latin typeface="Comfortaa"/>
                <a:ea typeface="Comfortaa"/>
                <a:cs typeface="Comfortaa"/>
                <a:sym typeface="Comfortaa"/>
              </a:rPr>
              <a:t> </a:t>
            </a:r>
            <a:r>
              <a:rPr b="1" i="0" lang="en" sz="1100" u="none" cap="none" strike="noStrike">
                <a:solidFill>
                  <a:schemeClr val="dk1"/>
                </a:solidFill>
                <a:latin typeface="Comfortaa"/>
                <a:ea typeface="Comfortaa"/>
                <a:cs typeface="Comfortaa"/>
                <a:sym typeface="Comfortaa"/>
              </a:rPr>
              <a:t>32 (BALANCEA LA CARGA DE MEMORIA Y ESTABILIDAD DE ENTRENAMIENTO)</a:t>
            </a:r>
            <a:endParaRPr b="1" i="0" sz="1100" u="none" cap="none" strike="noStrike">
              <a:solidFill>
                <a:schemeClr val="dk1"/>
              </a:solidFill>
              <a:latin typeface="Comfortaa"/>
              <a:ea typeface="Comfortaa"/>
              <a:cs typeface="Comfortaa"/>
              <a:sym typeface="Comfortaa"/>
            </a:endParaRPr>
          </a:p>
          <a:p>
            <a:pPr indent="-298450" lvl="0" marL="457200" marR="0" rtl="0" algn="l">
              <a:lnSpc>
                <a:spcPct val="100000"/>
              </a:lnSpc>
              <a:spcBef>
                <a:spcPts val="0"/>
              </a:spcBef>
              <a:spcAft>
                <a:spcPts val="0"/>
              </a:spcAft>
              <a:buClr>
                <a:srgbClr val="990000"/>
              </a:buClr>
              <a:buSzPts val="1100"/>
              <a:buFont typeface="Comfortaa"/>
              <a:buChar char="●"/>
            </a:pPr>
            <a:r>
              <a:rPr b="1" i="0" lang="en" sz="1100" u="none" cap="none" strike="noStrike">
                <a:solidFill>
                  <a:srgbClr val="990000"/>
                </a:solidFill>
                <a:latin typeface="Comfortaa"/>
                <a:ea typeface="Comfortaa"/>
                <a:cs typeface="Comfortaa"/>
                <a:sym typeface="Comfortaa"/>
              </a:rPr>
              <a:t>EARLY STOPPING</a:t>
            </a:r>
            <a:endParaRPr b="1" i="0" sz="1100" u="none" cap="none" strike="noStrike">
              <a:solidFill>
                <a:srgbClr val="990000"/>
              </a:solidFill>
              <a:latin typeface="Comfortaa"/>
              <a:ea typeface="Comfortaa"/>
              <a:cs typeface="Comfortaa"/>
              <a:sym typeface="Comfortaa"/>
            </a:endParaRPr>
          </a:p>
          <a:p>
            <a:pPr indent="-298450" lvl="0" marL="457200" marR="0" rtl="0" algn="l">
              <a:lnSpc>
                <a:spcPct val="100000"/>
              </a:lnSpc>
              <a:spcBef>
                <a:spcPts val="0"/>
              </a:spcBef>
              <a:spcAft>
                <a:spcPts val="0"/>
              </a:spcAft>
              <a:buClr>
                <a:srgbClr val="990000"/>
              </a:buClr>
              <a:buSzPts val="1100"/>
              <a:buFont typeface="Comfortaa"/>
              <a:buChar char="●"/>
            </a:pPr>
            <a:r>
              <a:rPr b="1" i="0" lang="en" sz="1100" u="none" cap="none" strike="noStrike">
                <a:solidFill>
                  <a:srgbClr val="990000"/>
                </a:solidFill>
                <a:latin typeface="Comfortaa"/>
                <a:ea typeface="Comfortaa"/>
                <a:cs typeface="Comfortaa"/>
                <a:sym typeface="Comfortaa"/>
              </a:rPr>
              <a:t>REDUCCIÓN DE LA TASA DE ENTRENAMIENTO</a:t>
            </a:r>
            <a:endParaRPr b="1" i="0" sz="1100" u="none" cap="none" strike="noStrike">
              <a:solidFill>
                <a:srgbClr val="0000FF"/>
              </a:solidFill>
              <a:latin typeface="Comfortaa"/>
              <a:ea typeface="Comfortaa"/>
              <a:cs typeface="Comfortaa"/>
              <a:sym typeface="Comfortaa"/>
            </a:endParaRPr>
          </a:p>
        </p:txBody>
      </p:sp>
      <p:pic>
        <p:nvPicPr>
          <p:cNvPr id="325" name="Google Shape;325;p36"/>
          <p:cNvPicPr preferRelativeResize="0"/>
          <p:nvPr/>
        </p:nvPicPr>
        <p:blipFill rotWithShape="1">
          <a:blip r:embed="rId4">
            <a:alphaModFix/>
          </a:blip>
          <a:srcRect b="0" l="0" r="0" t="0"/>
          <a:stretch/>
        </p:blipFill>
        <p:spPr>
          <a:xfrm>
            <a:off x="5226924" y="703878"/>
            <a:ext cx="3630150" cy="1663825"/>
          </a:xfrm>
          <a:prstGeom prst="rect">
            <a:avLst/>
          </a:prstGeom>
          <a:noFill/>
          <a:ln>
            <a:noFill/>
          </a:ln>
        </p:spPr>
      </p:pic>
      <p:pic>
        <p:nvPicPr>
          <p:cNvPr descr="Una captura de pantalla de un celular&#10;&#10;Descripción generada automáticamente con confianza media" id="326" name="Google Shape;326;p36"/>
          <p:cNvPicPr preferRelativeResize="0"/>
          <p:nvPr/>
        </p:nvPicPr>
        <p:blipFill rotWithShape="1">
          <a:blip r:embed="rId5">
            <a:alphaModFix/>
          </a:blip>
          <a:srcRect b="0" l="0" r="0" t="0"/>
          <a:stretch/>
        </p:blipFill>
        <p:spPr>
          <a:xfrm>
            <a:off x="5226925" y="2468968"/>
            <a:ext cx="3630150" cy="211493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7"/>
          <p:cNvSpPr txBox="1"/>
          <p:nvPr/>
        </p:nvSpPr>
        <p:spPr>
          <a:xfrm>
            <a:off x="38575" y="-23925"/>
            <a:ext cx="8818500" cy="696900"/>
          </a:xfrm>
          <a:prstGeom prst="rect">
            <a:avLst/>
          </a:prstGeom>
          <a:noFill/>
          <a:ln>
            <a:noFill/>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i="0" lang="en" sz="1044" u="none" cap="none" strike="noStrike">
                <a:solidFill>
                  <a:srgbClr val="0C265D"/>
                </a:solidFill>
                <a:latin typeface="Comfortaa"/>
                <a:ea typeface="Comfortaa"/>
                <a:cs typeface="Comfortaa"/>
                <a:sym typeface="Comfortaa"/>
              </a:rPr>
              <a:t>             </a:t>
            </a:r>
            <a:r>
              <a:rPr b="1" i="0" lang="en" sz="843" u="none" cap="none" strike="noStrike">
                <a:solidFill>
                  <a:srgbClr val="0C265D"/>
                </a:solidFill>
                <a:latin typeface="Comfortaa"/>
                <a:ea typeface="Comfortaa"/>
                <a:cs typeface="Comfortaa"/>
                <a:sym typeface="Comfortaa"/>
              </a:rPr>
              <a:t>  </a:t>
            </a:r>
            <a:r>
              <a:rPr b="1" i="0" lang="en" sz="843" u="none" cap="none" strike="noStrike">
                <a:solidFill>
                  <a:schemeClr val="accent5"/>
                </a:solidFill>
                <a:latin typeface="Comfortaa"/>
                <a:ea typeface="Comfortaa"/>
                <a:cs typeface="Comfortaa"/>
                <a:sym typeface="Comfortaa"/>
              </a:rPr>
              <a:t>ANÁLISIS DE RESULTADOS </a:t>
            </a:r>
            <a:endParaRPr b="1" i="0" sz="843" u="none" cap="none" strike="noStrike">
              <a:solidFill>
                <a:schemeClr val="accent5"/>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44"/>
              <a:buFont typeface="Arial"/>
              <a:buNone/>
            </a:pPr>
            <a:r>
              <a:t/>
            </a:r>
            <a:endParaRPr b="1" i="0" sz="444" u="none" cap="none" strike="noStrike">
              <a:solidFill>
                <a:srgbClr val="0C265D"/>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44"/>
              <a:buFont typeface="Arial"/>
              <a:buNone/>
            </a:pPr>
            <a:r>
              <a:rPr b="1" i="0" lang="en" sz="843" u="none" cap="none" strike="noStrike">
                <a:solidFill>
                  <a:srgbClr val="0C265D"/>
                </a:solidFill>
                <a:latin typeface="Comfortaa"/>
                <a:ea typeface="Comfortaa"/>
                <a:cs typeface="Comfortaa"/>
                <a:sym typeface="Comfortaa"/>
              </a:rPr>
              <a:t>	  RESULTADOS DEL ENTRENAMIENTO RESNET 50 </a:t>
            </a:r>
            <a:endParaRPr b="1" i="0" sz="1044" u="none" cap="none" strike="noStrike">
              <a:solidFill>
                <a:srgbClr val="0C265D"/>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44"/>
              <a:buFont typeface="Arial"/>
              <a:buNone/>
            </a:pPr>
            <a:r>
              <a:t/>
            </a:r>
            <a:endParaRPr b="1" i="0" sz="1044" u="none" cap="none" strike="noStrike">
              <a:solidFill>
                <a:srgbClr val="0C265D"/>
              </a:solidFill>
              <a:latin typeface="Comfortaa"/>
              <a:ea typeface="Comfortaa"/>
              <a:cs typeface="Comfortaa"/>
              <a:sym typeface="Comfortaa"/>
            </a:endParaRPr>
          </a:p>
        </p:txBody>
      </p:sp>
      <p:sp>
        <p:nvSpPr>
          <p:cNvPr id="332" name="Google Shape;332;p37"/>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333" name="Google Shape;333;p37"/>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cxnSp>
        <p:nvCxnSpPr>
          <p:cNvPr id="334" name="Google Shape;334;p37"/>
          <p:cNvCxnSpPr/>
          <p:nvPr/>
        </p:nvCxnSpPr>
        <p:spPr>
          <a:xfrm>
            <a:off x="180600" y="537375"/>
            <a:ext cx="8782800" cy="12300"/>
          </a:xfrm>
          <a:prstGeom prst="straightConnector1">
            <a:avLst/>
          </a:prstGeom>
          <a:noFill/>
          <a:ln cap="flat" cmpd="sng" w="9525">
            <a:solidFill>
              <a:schemeClr val="dk1"/>
            </a:solidFill>
            <a:prstDash val="solid"/>
            <a:round/>
            <a:headEnd len="med" w="med" type="oval"/>
            <a:tailEnd len="med" w="med" type="oval"/>
          </a:ln>
        </p:spPr>
      </p:cxnSp>
      <p:pic>
        <p:nvPicPr>
          <p:cNvPr descr="Texto&#10;&#10;Descripción generada automáticamente" id="335" name="Google Shape;335;p37"/>
          <p:cNvPicPr preferRelativeResize="0"/>
          <p:nvPr/>
        </p:nvPicPr>
        <p:blipFill rotWithShape="1">
          <a:blip r:embed="rId4">
            <a:alphaModFix/>
          </a:blip>
          <a:srcRect b="0" l="0" r="0" t="0"/>
          <a:stretch/>
        </p:blipFill>
        <p:spPr>
          <a:xfrm>
            <a:off x="242719" y="714275"/>
            <a:ext cx="4688789" cy="1771577"/>
          </a:xfrm>
          <a:prstGeom prst="rect">
            <a:avLst/>
          </a:prstGeom>
          <a:noFill/>
          <a:ln>
            <a:noFill/>
          </a:ln>
        </p:spPr>
      </p:pic>
      <p:pic>
        <p:nvPicPr>
          <p:cNvPr id="336" name="Google Shape;336;p37"/>
          <p:cNvPicPr preferRelativeResize="0"/>
          <p:nvPr/>
        </p:nvPicPr>
        <p:blipFill rotWithShape="1">
          <a:blip r:embed="rId5">
            <a:alphaModFix/>
          </a:blip>
          <a:srcRect b="0" l="0" r="0" t="0"/>
          <a:stretch/>
        </p:blipFill>
        <p:spPr>
          <a:xfrm>
            <a:off x="241075" y="2568505"/>
            <a:ext cx="4692076" cy="1917870"/>
          </a:xfrm>
          <a:prstGeom prst="rect">
            <a:avLst/>
          </a:prstGeom>
          <a:noFill/>
          <a:ln>
            <a:noFill/>
          </a:ln>
        </p:spPr>
      </p:pic>
      <p:pic>
        <p:nvPicPr>
          <p:cNvPr descr="Gráfico&#10;&#10;Descripción generada automáticamente" id="337" name="Google Shape;337;p37"/>
          <p:cNvPicPr preferRelativeResize="0"/>
          <p:nvPr/>
        </p:nvPicPr>
        <p:blipFill rotWithShape="1">
          <a:blip r:embed="rId6">
            <a:alphaModFix/>
          </a:blip>
          <a:srcRect b="0" l="0" r="0" t="0"/>
          <a:stretch/>
        </p:blipFill>
        <p:spPr>
          <a:xfrm>
            <a:off x="4958775" y="714262"/>
            <a:ext cx="2036630" cy="1952075"/>
          </a:xfrm>
          <a:prstGeom prst="rect">
            <a:avLst/>
          </a:prstGeom>
          <a:noFill/>
          <a:ln>
            <a:noFill/>
          </a:ln>
        </p:spPr>
      </p:pic>
      <p:pic>
        <p:nvPicPr>
          <p:cNvPr descr="Gráfico&#10;&#10;Descripción generada automáticamente" id="338" name="Google Shape;338;p37"/>
          <p:cNvPicPr preferRelativeResize="0"/>
          <p:nvPr/>
        </p:nvPicPr>
        <p:blipFill rotWithShape="1">
          <a:blip r:embed="rId7">
            <a:alphaModFix/>
          </a:blip>
          <a:srcRect b="0" l="0" r="0" t="0"/>
          <a:stretch/>
        </p:blipFill>
        <p:spPr>
          <a:xfrm>
            <a:off x="5044000" y="2753438"/>
            <a:ext cx="1974620" cy="1809963"/>
          </a:xfrm>
          <a:prstGeom prst="rect">
            <a:avLst/>
          </a:prstGeom>
          <a:noFill/>
          <a:ln>
            <a:noFill/>
          </a:ln>
        </p:spPr>
      </p:pic>
      <p:sp>
        <p:nvSpPr>
          <p:cNvPr id="339" name="Google Shape;339;p37"/>
          <p:cNvSpPr txBox="1"/>
          <p:nvPr/>
        </p:nvSpPr>
        <p:spPr>
          <a:xfrm>
            <a:off x="7063700" y="1065450"/>
            <a:ext cx="1938900" cy="29652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165100" lvl="0" marL="171450" marR="0" rtl="0" algn="l">
              <a:lnSpc>
                <a:spcPct val="100000"/>
              </a:lnSpc>
              <a:spcBef>
                <a:spcPts val="0"/>
              </a:spcBef>
              <a:spcAft>
                <a:spcPts val="0"/>
              </a:spcAft>
              <a:buClr>
                <a:schemeClr val="dk1"/>
              </a:buClr>
              <a:buSzPts val="800"/>
              <a:buFont typeface="Comfortaa"/>
              <a:buChar char="●"/>
            </a:pPr>
            <a:r>
              <a:rPr b="1" lang="en" sz="800">
                <a:solidFill>
                  <a:schemeClr val="dk1"/>
                </a:solidFill>
                <a:latin typeface="Comfortaa"/>
                <a:ea typeface="Comfortaa"/>
                <a:cs typeface="Comfortaa"/>
                <a:sym typeface="Comfortaa"/>
              </a:rPr>
              <a:t>TRAINING LOSS: CAE RÁPIDO EN LAS PRIMERAS ÉPOCAS (EL MODELO CAPTA LOS PATRONES PRINCIPALES) Y LUEGO ENTRA EN UNA “MESETA”, LO QUE INDICA QUE EL ENTRENAMIENTO YA CONVERGIÓ Y LAS MEJORAS POSTERIORES SON MARGINALES.</a:t>
            </a:r>
            <a:endParaRPr b="1" sz="800">
              <a:solidFill>
                <a:schemeClr val="dk1"/>
              </a:solidFill>
              <a:latin typeface="Comfortaa"/>
              <a:ea typeface="Comfortaa"/>
              <a:cs typeface="Comfortaa"/>
              <a:sym typeface="Comfortaa"/>
            </a:endParaRPr>
          </a:p>
          <a:p>
            <a:pPr indent="-114300" lvl="0" marL="171450" marR="0" rtl="0" algn="l">
              <a:lnSpc>
                <a:spcPct val="100000"/>
              </a:lnSpc>
              <a:spcBef>
                <a:spcPts val="0"/>
              </a:spcBef>
              <a:spcAft>
                <a:spcPts val="0"/>
              </a:spcAft>
              <a:buNone/>
            </a:pPr>
            <a:r>
              <a:t/>
            </a:r>
            <a:endParaRPr b="1" sz="800">
              <a:solidFill>
                <a:schemeClr val="dk1"/>
              </a:solidFill>
              <a:latin typeface="Comfortaa"/>
              <a:ea typeface="Comfortaa"/>
              <a:cs typeface="Comfortaa"/>
              <a:sym typeface="Comfortaa"/>
            </a:endParaRPr>
          </a:p>
          <a:p>
            <a:pPr indent="-165100" lvl="0" marL="171450" marR="0" rtl="0" algn="l">
              <a:lnSpc>
                <a:spcPct val="100000"/>
              </a:lnSpc>
              <a:spcBef>
                <a:spcPts val="0"/>
              </a:spcBef>
              <a:spcAft>
                <a:spcPts val="0"/>
              </a:spcAft>
              <a:buClr>
                <a:schemeClr val="dk1"/>
              </a:buClr>
              <a:buSzPts val="800"/>
              <a:buFont typeface="Comfortaa"/>
              <a:buChar char="●"/>
            </a:pPr>
            <a:r>
              <a:rPr b="1" lang="en" sz="800">
                <a:solidFill>
                  <a:schemeClr val="dk1"/>
                </a:solidFill>
                <a:latin typeface="Comfortaa"/>
                <a:ea typeface="Comfortaa"/>
                <a:cs typeface="Comfortaa"/>
                <a:sym typeface="Comfortaa"/>
              </a:rPr>
              <a:t>TRAINING MAE: EL ERROR ABSOLUTO MEDIO DISMINUYE DE FORMA SOSTENIDA HASTA APROX. ~3, MOSTRANDO QUE LAS PREDICCIONES SE ACERCAN CADA VEZ MÁS A LOS VALORES REALES; DESPUÉS, EL DESCENSO ES MUY LENTO, POR LO QUE MÁS ÉPOCAS APORTAN POCA GANANCIA.</a:t>
            </a:r>
            <a:endParaRPr b="1" sz="800">
              <a:solidFill>
                <a:schemeClr val="dk1"/>
              </a:solidFill>
              <a:latin typeface="Comfortaa"/>
              <a:ea typeface="Comfortaa"/>
              <a:cs typeface="Comfortaa"/>
              <a:sym typeface="Comforta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8"/>
          <p:cNvSpPr txBox="1"/>
          <p:nvPr/>
        </p:nvSpPr>
        <p:spPr>
          <a:xfrm>
            <a:off x="38575" y="-23925"/>
            <a:ext cx="8818500" cy="888300"/>
          </a:xfrm>
          <a:prstGeom prst="rect">
            <a:avLst/>
          </a:prstGeom>
          <a:noFill/>
          <a:ln>
            <a:noFill/>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i="0" lang="en" sz="1044" u="none" cap="none" strike="noStrike">
                <a:solidFill>
                  <a:srgbClr val="0C265D"/>
                </a:solidFill>
                <a:latin typeface="Comfortaa"/>
                <a:ea typeface="Comfortaa"/>
                <a:cs typeface="Comfortaa"/>
                <a:sym typeface="Comfortaa"/>
              </a:rPr>
              <a:t>             </a:t>
            </a:r>
            <a:r>
              <a:rPr b="1" i="0" lang="en" sz="843" u="none" cap="none" strike="noStrike">
                <a:solidFill>
                  <a:srgbClr val="0C265D"/>
                </a:solidFill>
                <a:latin typeface="Comfortaa"/>
                <a:ea typeface="Comfortaa"/>
                <a:cs typeface="Comfortaa"/>
                <a:sym typeface="Comfortaa"/>
              </a:rPr>
              <a:t>  </a:t>
            </a:r>
            <a:r>
              <a:rPr b="1" i="0" lang="en" sz="843" u="none" cap="none" strike="noStrike">
                <a:solidFill>
                  <a:schemeClr val="accent5"/>
                </a:solidFill>
                <a:latin typeface="Comfortaa"/>
                <a:ea typeface="Comfortaa"/>
                <a:cs typeface="Comfortaa"/>
                <a:sym typeface="Comfortaa"/>
              </a:rPr>
              <a:t>ANÁLISIS DE RESULTADOS</a:t>
            </a:r>
            <a:endParaRPr b="1" i="0" sz="843" u="none" cap="none" strike="noStrike">
              <a:solidFill>
                <a:schemeClr val="accent5"/>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44"/>
              <a:buFont typeface="Arial"/>
              <a:buNone/>
            </a:pPr>
            <a:r>
              <a:t/>
            </a:r>
            <a:endParaRPr b="1" i="0" sz="444" u="none" cap="none" strike="noStrike">
              <a:solidFill>
                <a:srgbClr val="0C265D"/>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44"/>
              <a:buFont typeface="Arial"/>
              <a:buNone/>
            </a:pPr>
            <a:r>
              <a:rPr b="1" i="0" lang="en" sz="843" u="none" cap="none" strike="noStrike">
                <a:solidFill>
                  <a:srgbClr val="0C265D"/>
                </a:solidFill>
                <a:latin typeface="Comfortaa"/>
                <a:ea typeface="Comfortaa"/>
                <a:cs typeface="Comfortaa"/>
                <a:sym typeface="Comfortaa"/>
              </a:rPr>
              <a:t>	   </a:t>
            </a:r>
            <a:r>
              <a:rPr b="1" i="0" lang="en" sz="1044" u="none" cap="none" strike="noStrike">
                <a:solidFill>
                  <a:srgbClr val="0C265D"/>
                </a:solidFill>
                <a:latin typeface="Comfortaa"/>
                <a:ea typeface="Comfortaa"/>
                <a:cs typeface="Comfortaa"/>
                <a:sym typeface="Comfortaa"/>
              </a:rPr>
              <a:t>RESULTADOS DEL ENTRENAMIENTO RESNET 50 </a:t>
            </a:r>
            <a:endParaRPr b="1" i="0" sz="1044" u="none" cap="none" strike="noStrike">
              <a:solidFill>
                <a:srgbClr val="0C265D"/>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44"/>
              <a:buFont typeface="Arial"/>
              <a:buNone/>
            </a:pPr>
            <a:r>
              <a:t/>
            </a:r>
            <a:endParaRPr b="1" i="0" sz="1044" u="none" cap="none" strike="noStrike">
              <a:solidFill>
                <a:srgbClr val="0C265D"/>
              </a:solidFill>
              <a:latin typeface="Comfortaa"/>
              <a:ea typeface="Comfortaa"/>
              <a:cs typeface="Comfortaa"/>
              <a:sym typeface="Comfortaa"/>
            </a:endParaRPr>
          </a:p>
          <a:p>
            <a:pPr indent="0" lvl="0" marL="0" marR="0" rtl="0" algn="l">
              <a:lnSpc>
                <a:spcPct val="100000"/>
              </a:lnSpc>
              <a:spcBef>
                <a:spcPts val="0"/>
              </a:spcBef>
              <a:spcAft>
                <a:spcPts val="0"/>
              </a:spcAft>
              <a:buClr>
                <a:srgbClr val="000000"/>
              </a:buClr>
              <a:buSzPts val="1644"/>
              <a:buFont typeface="Arial"/>
              <a:buNone/>
            </a:pPr>
            <a:r>
              <a:t/>
            </a:r>
            <a:endParaRPr b="1" i="0" sz="1044" u="none" cap="none" strike="noStrike">
              <a:solidFill>
                <a:srgbClr val="0C265D"/>
              </a:solidFill>
              <a:latin typeface="Comfortaa"/>
              <a:ea typeface="Comfortaa"/>
              <a:cs typeface="Comfortaa"/>
              <a:sym typeface="Comfortaa"/>
            </a:endParaRPr>
          </a:p>
        </p:txBody>
      </p:sp>
      <p:sp>
        <p:nvSpPr>
          <p:cNvPr id="345" name="Google Shape;345;p38"/>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346" name="Google Shape;346;p38"/>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cxnSp>
        <p:nvCxnSpPr>
          <p:cNvPr id="347" name="Google Shape;347;p38"/>
          <p:cNvCxnSpPr/>
          <p:nvPr/>
        </p:nvCxnSpPr>
        <p:spPr>
          <a:xfrm>
            <a:off x="180600" y="531575"/>
            <a:ext cx="8782800" cy="12300"/>
          </a:xfrm>
          <a:prstGeom prst="straightConnector1">
            <a:avLst/>
          </a:prstGeom>
          <a:noFill/>
          <a:ln cap="flat" cmpd="sng" w="9525">
            <a:solidFill>
              <a:schemeClr val="dk1"/>
            </a:solidFill>
            <a:prstDash val="solid"/>
            <a:round/>
            <a:headEnd len="med" w="med" type="oval"/>
            <a:tailEnd len="med" w="med" type="oval"/>
          </a:ln>
        </p:spPr>
      </p:cxnSp>
      <p:pic>
        <p:nvPicPr>
          <p:cNvPr id="348" name="Google Shape;348;p38"/>
          <p:cNvPicPr preferRelativeResize="0"/>
          <p:nvPr/>
        </p:nvPicPr>
        <p:blipFill rotWithShape="1">
          <a:blip r:embed="rId4">
            <a:alphaModFix/>
          </a:blip>
          <a:srcRect b="0" l="0" r="0" t="0"/>
          <a:stretch/>
        </p:blipFill>
        <p:spPr>
          <a:xfrm>
            <a:off x="3976200" y="629262"/>
            <a:ext cx="2302776" cy="2589100"/>
          </a:xfrm>
          <a:prstGeom prst="rect">
            <a:avLst/>
          </a:prstGeom>
          <a:noFill/>
          <a:ln>
            <a:noFill/>
          </a:ln>
        </p:spPr>
      </p:pic>
      <p:pic>
        <p:nvPicPr>
          <p:cNvPr id="349" name="Google Shape;349;p38"/>
          <p:cNvPicPr preferRelativeResize="0"/>
          <p:nvPr/>
        </p:nvPicPr>
        <p:blipFill rotWithShape="1">
          <a:blip r:embed="rId5">
            <a:alphaModFix/>
          </a:blip>
          <a:srcRect b="0" l="0" r="0" t="0"/>
          <a:stretch/>
        </p:blipFill>
        <p:spPr>
          <a:xfrm>
            <a:off x="6278975" y="654988"/>
            <a:ext cx="2695024" cy="2075696"/>
          </a:xfrm>
          <a:prstGeom prst="rect">
            <a:avLst/>
          </a:prstGeom>
          <a:noFill/>
          <a:ln>
            <a:noFill/>
          </a:ln>
        </p:spPr>
      </p:pic>
      <p:sp>
        <p:nvSpPr>
          <p:cNvPr id="350" name="Google Shape;350;p38"/>
          <p:cNvSpPr txBox="1"/>
          <p:nvPr/>
        </p:nvSpPr>
        <p:spPr>
          <a:xfrm>
            <a:off x="38575" y="3187913"/>
            <a:ext cx="8986500" cy="14874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79400" lvl="0" marL="457200" marR="0" rtl="0" algn="just">
              <a:lnSpc>
                <a:spcPct val="100000"/>
              </a:lnSpc>
              <a:spcBef>
                <a:spcPts val="0"/>
              </a:spcBef>
              <a:spcAft>
                <a:spcPts val="0"/>
              </a:spcAft>
              <a:buClr>
                <a:schemeClr val="dk1"/>
              </a:buClr>
              <a:buSzPts val="800"/>
              <a:buFont typeface="Comfortaa"/>
              <a:buChar char="●"/>
            </a:pPr>
            <a:r>
              <a:rPr b="1" lang="en" sz="800">
                <a:solidFill>
                  <a:schemeClr val="dk1"/>
                </a:solidFill>
                <a:latin typeface="Comfortaa"/>
                <a:ea typeface="Comfortaa"/>
                <a:cs typeface="Comfortaa"/>
                <a:sym typeface="Comfortaa"/>
              </a:rPr>
              <a:t>ACCURACY PROMEDIO: 97.74% → DESEMPEÑO GENERAL SÓLIDO EN TESTA.</a:t>
            </a:r>
            <a:endParaRPr b="1" sz="800">
              <a:solidFill>
                <a:schemeClr val="dk1"/>
              </a:solidFill>
              <a:latin typeface="Comfortaa"/>
              <a:ea typeface="Comfortaa"/>
              <a:cs typeface="Comfortaa"/>
              <a:sym typeface="Comfortaa"/>
            </a:endParaRPr>
          </a:p>
          <a:p>
            <a:pPr indent="0" lvl="0" marL="457200" marR="0" rtl="0" algn="just">
              <a:lnSpc>
                <a:spcPct val="100000"/>
              </a:lnSpc>
              <a:spcBef>
                <a:spcPts val="0"/>
              </a:spcBef>
              <a:spcAft>
                <a:spcPts val="0"/>
              </a:spcAft>
              <a:buNone/>
            </a:pPr>
            <a:r>
              <a:t/>
            </a:r>
            <a:endParaRPr b="1" sz="800">
              <a:solidFill>
                <a:schemeClr val="dk1"/>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lang="en" sz="800">
                <a:solidFill>
                  <a:schemeClr val="dk1"/>
                </a:solidFill>
                <a:latin typeface="Comfortaa"/>
                <a:ea typeface="Comfortaa"/>
                <a:cs typeface="Comfortaa"/>
                <a:sym typeface="Comfortaa"/>
              </a:rPr>
              <a:t>MEJOR PREDICCIÓN (100%): ARM-LENGTH, CHEST, HEIGHT, HIP, LEG-LENGTH, SHOULDER-BREADTH, WAIST.</a:t>
            </a:r>
            <a:endParaRPr b="1" sz="800">
              <a:solidFill>
                <a:schemeClr val="dk1"/>
              </a:solidFill>
              <a:latin typeface="Comfortaa"/>
              <a:ea typeface="Comfortaa"/>
              <a:cs typeface="Comfortaa"/>
              <a:sym typeface="Comfortaa"/>
            </a:endParaRPr>
          </a:p>
          <a:p>
            <a:pPr indent="0" lvl="0" marL="457200" marR="0" rtl="0" algn="just">
              <a:lnSpc>
                <a:spcPct val="100000"/>
              </a:lnSpc>
              <a:spcBef>
                <a:spcPts val="0"/>
              </a:spcBef>
              <a:spcAft>
                <a:spcPts val="0"/>
              </a:spcAft>
              <a:buNone/>
            </a:pPr>
            <a:r>
              <a:t/>
            </a:r>
            <a:endParaRPr b="1" sz="800">
              <a:solidFill>
                <a:schemeClr val="dk1"/>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lang="en" sz="800">
                <a:solidFill>
                  <a:schemeClr val="dk1"/>
                </a:solidFill>
                <a:latin typeface="Comfortaa"/>
                <a:ea typeface="Comfortaa"/>
                <a:cs typeface="Comfortaa"/>
                <a:sym typeface="Comfortaa"/>
              </a:rPr>
              <a:t>MEDIDAS MÁS DIFÍCILES: BICEP (86.99%) Y TAMBIÉN ANKLE, CALF, FOREARM, THIGH, WRIST (90–99%).</a:t>
            </a:r>
            <a:endParaRPr b="1" sz="800">
              <a:solidFill>
                <a:schemeClr val="dk1"/>
              </a:solidFill>
              <a:latin typeface="Comfortaa"/>
              <a:ea typeface="Comfortaa"/>
              <a:cs typeface="Comfortaa"/>
              <a:sym typeface="Comfortaa"/>
            </a:endParaRPr>
          </a:p>
          <a:p>
            <a:pPr indent="0" lvl="0" marL="457200" marR="0" rtl="0" algn="just">
              <a:lnSpc>
                <a:spcPct val="100000"/>
              </a:lnSpc>
              <a:spcBef>
                <a:spcPts val="0"/>
              </a:spcBef>
              <a:spcAft>
                <a:spcPts val="0"/>
              </a:spcAft>
              <a:buNone/>
            </a:pPr>
            <a:r>
              <a:t/>
            </a:r>
            <a:endParaRPr b="1" sz="800">
              <a:solidFill>
                <a:schemeClr val="dk1"/>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lang="en" sz="800">
                <a:solidFill>
                  <a:schemeClr val="dk1"/>
                </a:solidFill>
                <a:latin typeface="Comfortaa"/>
                <a:ea typeface="Comfortaa"/>
                <a:cs typeface="Comfortaa"/>
                <a:sym typeface="Comfortaa"/>
              </a:rPr>
              <a:t>ERROR (MAE / VARIABILIDAD): BICEP Y CALF TIENEN MAYOR ERROR Y DISPERSIÓN → MENOS CONSISTENCIA.</a:t>
            </a:r>
            <a:endParaRPr b="1" sz="800">
              <a:solidFill>
                <a:schemeClr val="dk1"/>
              </a:solidFill>
              <a:latin typeface="Comfortaa"/>
              <a:ea typeface="Comfortaa"/>
              <a:cs typeface="Comfortaa"/>
              <a:sym typeface="Comfortaa"/>
            </a:endParaRPr>
          </a:p>
          <a:p>
            <a:pPr indent="0" lvl="0" marL="457200" marR="0" rtl="0" algn="just">
              <a:lnSpc>
                <a:spcPct val="100000"/>
              </a:lnSpc>
              <a:spcBef>
                <a:spcPts val="0"/>
              </a:spcBef>
              <a:spcAft>
                <a:spcPts val="0"/>
              </a:spcAft>
              <a:buNone/>
            </a:pPr>
            <a:r>
              <a:t/>
            </a:r>
            <a:endParaRPr b="1" sz="800">
              <a:solidFill>
                <a:schemeClr val="dk1"/>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lang="en" sz="800">
                <a:solidFill>
                  <a:schemeClr val="dk1"/>
                </a:solidFill>
                <a:latin typeface="Comfortaa"/>
                <a:ea typeface="Comfortaa"/>
                <a:cs typeface="Comfortaa"/>
                <a:sym typeface="Comfortaa"/>
              </a:rPr>
              <a:t>HEATMAP / OUTLIERS: ERRORES EXTREMOS SE CONCENTRAN SOBRE TODO EN BICEP Y CALF.</a:t>
            </a:r>
            <a:endParaRPr b="1" sz="800">
              <a:solidFill>
                <a:schemeClr val="dk1"/>
              </a:solidFill>
              <a:latin typeface="Comfortaa"/>
              <a:ea typeface="Comfortaa"/>
              <a:cs typeface="Comfortaa"/>
              <a:sym typeface="Comfortaa"/>
            </a:endParaRPr>
          </a:p>
          <a:p>
            <a:pPr indent="0" lvl="0" marL="457200" marR="0" rtl="0" algn="just">
              <a:lnSpc>
                <a:spcPct val="100000"/>
              </a:lnSpc>
              <a:spcBef>
                <a:spcPts val="0"/>
              </a:spcBef>
              <a:spcAft>
                <a:spcPts val="0"/>
              </a:spcAft>
              <a:buNone/>
            </a:pPr>
            <a:r>
              <a:t/>
            </a:r>
            <a:endParaRPr b="1" sz="800">
              <a:solidFill>
                <a:schemeClr val="dk1"/>
              </a:solidFill>
              <a:latin typeface="Comfortaa"/>
              <a:ea typeface="Comfortaa"/>
              <a:cs typeface="Comfortaa"/>
              <a:sym typeface="Comfortaa"/>
            </a:endParaRPr>
          </a:p>
          <a:p>
            <a:pPr indent="-279400" lvl="0" marL="457200" marR="0" rtl="0" algn="just">
              <a:lnSpc>
                <a:spcPct val="100000"/>
              </a:lnSpc>
              <a:spcBef>
                <a:spcPts val="0"/>
              </a:spcBef>
              <a:spcAft>
                <a:spcPts val="0"/>
              </a:spcAft>
              <a:buClr>
                <a:schemeClr val="dk1"/>
              </a:buClr>
              <a:buSzPts val="800"/>
              <a:buFont typeface="Comfortaa"/>
              <a:buChar char="●"/>
            </a:pPr>
            <a:r>
              <a:rPr b="1" lang="en" sz="800">
                <a:solidFill>
                  <a:schemeClr val="dk1"/>
                </a:solidFill>
                <a:latin typeface="Comfortaa"/>
                <a:ea typeface="Comfortaa"/>
                <a:cs typeface="Comfortaa"/>
                <a:sym typeface="Comfortaa"/>
              </a:rPr>
              <a:t>CONCLUSIÓN: MODELO MUY BUENO EN GENERAL; MEJORAR PRINCIPALMENTE BICEP Y CALF (MÁS DATOS / AJUSTE DE HIPERPARÁMETROS).</a:t>
            </a:r>
            <a:endParaRPr b="1" sz="800">
              <a:solidFill>
                <a:schemeClr val="dk1"/>
              </a:solidFill>
              <a:latin typeface="Comfortaa"/>
              <a:ea typeface="Comfortaa"/>
              <a:cs typeface="Comfortaa"/>
              <a:sym typeface="Comfortaa"/>
            </a:endParaRPr>
          </a:p>
        </p:txBody>
      </p:sp>
      <p:pic>
        <p:nvPicPr>
          <p:cNvPr id="351" name="Google Shape;351;p38"/>
          <p:cNvPicPr preferRelativeResize="0"/>
          <p:nvPr/>
        </p:nvPicPr>
        <p:blipFill rotWithShape="1">
          <a:blip r:embed="rId6">
            <a:alphaModFix/>
          </a:blip>
          <a:srcRect b="0" l="0" r="0" t="0"/>
          <a:stretch/>
        </p:blipFill>
        <p:spPr>
          <a:xfrm>
            <a:off x="165600" y="625875"/>
            <a:ext cx="3795602" cy="2537849"/>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9"/>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357" name="Google Shape;357;p39"/>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cxnSp>
        <p:nvCxnSpPr>
          <p:cNvPr id="358" name="Google Shape;358;p39"/>
          <p:cNvCxnSpPr/>
          <p:nvPr/>
        </p:nvCxnSpPr>
        <p:spPr>
          <a:xfrm>
            <a:off x="180600" y="466950"/>
            <a:ext cx="8782800" cy="12300"/>
          </a:xfrm>
          <a:prstGeom prst="straightConnector1">
            <a:avLst/>
          </a:prstGeom>
          <a:noFill/>
          <a:ln cap="flat" cmpd="sng" w="9525">
            <a:solidFill>
              <a:schemeClr val="dk1"/>
            </a:solidFill>
            <a:prstDash val="solid"/>
            <a:round/>
            <a:headEnd len="med" w="med" type="oval"/>
            <a:tailEnd len="med" w="med" type="oval"/>
          </a:ln>
        </p:spPr>
      </p:cxnSp>
      <p:sp>
        <p:nvSpPr>
          <p:cNvPr id="359" name="Google Shape;359;p39"/>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CONCLUSIONES</a:t>
            </a:r>
            <a:endParaRPr b="1" i="0" sz="1244" u="none" cap="none" strike="noStrike">
              <a:solidFill>
                <a:srgbClr val="0C265D"/>
              </a:solidFill>
              <a:latin typeface="Comfortaa"/>
              <a:ea typeface="Comfortaa"/>
              <a:cs typeface="Comfortaa"/>
              <a:sym typeface="Comfortaa"/>
            </a:endParaRPr>
          </a:p>
        </p:txBody>
      </p:sp>
      <p:sp>
        <p:nvSpPr>
          <p:cNvPr id="360" name="Google Shape;360;p39"/>
          <p:cNvSpPr txBox="1"/>
          <p:nvPr/>
        </p:nvSpPr>
        <p:spPr>
          <a:xfrm>
            <a:off x="448350" y="613513"/>
            <a:ext cx="8247300" cy="406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200">
                <a:solidFill>
                  <a:schemeClr val="dk1"/>
                </a:solidFill>
              </a:rPr>
              <a:t>1. Validación de la Solución (Logro General)</a:t>
            </a:r>
            <a:endParaRPr b="1" sz="12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en" sz="1000">
                <a:solidFill>
                  <a:schemeClr val="dk1"/>
                </a:solidFill>
              </a:rPr>
              <a:t>Viabilidad de la Visión 2D:</a:t>
            </a:r>
            <a:r>
              <a:rPr lang="en" sz="1000">
                <a:solidFill>
                  <a:schemeClr val="dk1"/>
                </a:solidFill>
              </a:rPr>
              <a:t> Hemos demostrado que es posible sustituir métodos invasivos (medición manual) o costosos (escáneres 3D) por una solución basada en </a:t>
            </a:r>
            <a:r>
              <a:rPr b="1" lang="en" sz="1000">
                <a:solidFill>
                  <a:schemeClr val="dk1"/>
                </a:solidFill>
              </a:rPr>
              <a:t>Visión por Computador con siluetas 2D</a:t>
            </a:r>
            <a:r>
              <a:rPr lang="en" sz="1000">
                <a:solidFill>
                  <a:schemeClr val="dk1"/>
                </a:solidFill>
              </a:rPr>
              <a:t>.</a:t>
            </a:r>
            <a:br>
              <a:rPr lang="en" sz="1000">
                <a:solidFill>
                  <a:schemeClr val="dk1"/>
                </a:solidFill>
              </a:rPr>
            </a:b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Precisión para la Industria:</a:t>
            </a:r>
            <a:r>
              <a:rPr lang="en" sz="1000">
                <a:solidFill>
                  <a:schemeClr val="dk1"/>
                </a:solidFill>
              </a:rPr>
              <a:t> Los modelos alcanzaron un Error Medio Absoluto (MAE) en el rango de </a:t>
            </a:r>
            <a:r>
              <a:rPr b="1" lang="en" sz="1000">
                <a:solidFill>
                  <a:schemeClr val="dk1"/>
                </a:solidFill>
              </a:rPr>
              <a:t>3 a 5 cm</a:t>
            </a:r>
            <a:r>
              <a:rPr lang="en" sz="1000">
                <a:solidFill>
                  <a:schemeClr val="dk1"/>
                </a:solidFill>
              </a:rPr>
              <a:t>, lo cual es perfectamente aceptable para aplicaciones comerciales como la categorización de tallas (S, M, L, XL) en retail o asignación de EPPs en seguridad industrial.</a:t>
            </a:r>
            <a:endParaRPr sz="1000">
              <a:solidFill>
                <a:schemeClr val="dk1"/>
              </a:solidFill>
            </a:endParaRPr>
          </a:p>
          <a:p>
            <a:pPr indent="0" lvl="0" marL="0" rtl="0" algn="l">
              <a:lnSpc>
                <a:spcPct val="115000"/>
              </a:lnSpc>
              <a:spcBef>
                <a:spcPts val="1400"/>
              </a:spcBef>
              <a:spcAft>
                <a:spcPts val="0"/>
              </a:spcAft>
              <a:buNone/>
            </a:pPr>
            <a:r>
              <a:rPr b="1" lang="en" sz="1200">
                <a:solidFill>
                  <a:schemeClr val="dk1"/>
                </a:solidFill>
              </a:rPr>
              <a:t>2. Comparativa y Desempeño de los Modelos</a:t>
            </a:r>
            <a:endParaRPr sz="10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en" sz="1000">
                <a:solidFill>
                  <a:schemeClr val="dk1"/>
                </a:solidFill>
              </a:rPr>
              <a:t>MobileNetV2 (Eficiencia):</a:t>
            </a:r>
            <a:r>
              <a:rPr lang="en" sz="1000">
                <a:solidFill>
                  <a:schemeClr val="dk1"/>
                </a:solidFill>
              </a:rPr>
              <a:t> Fue clave para demostrar la eficiencia computacional. Con solo 2.5 millones de parámetros, logró un error (MAE) de </a:t>
            </a:r>
            <a:r>
              <a:rPr b="1" lang="en" sz="1000">
                <a:solidFill>
                  <a:schemeClr val="dk1"/>
                </a:solidFill>
              </a:rPr>
              <a:t>4.94 cm</a:t>
            </a:r>
            <a:r>
              <a:rPr lang="en" sz="1000">
                <a:solidFill>
                  <a:schemeClr val="dk1"/>
                </a:solidFill>
              </a:rPr>
              <a:t>, validando que no se requieren arquitecturas masivas para resolver problemas de geometría de siluetas. Es el modelo ideal para dispositivos móviles o sistemas embebidos (Edge AI).</a:t>
            </a:r>
            <a:br>
              <a:rPr lang="en" sz="1000">
                <a:solidFill>
                  <a:schemeClr val="dk1"/>
                </a:solidFill>
              </a:rPr>
            </a:br>
            <a:endParaRPr sz="9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EfficientNetB0 (Equilibrio):</a:t>
            </a:r>
            <a:r>
              <a:rPr lang="en" sz="1000">
                <a:solidFill>
                  <a:schemeClr val="dk1"/>
                </a:solidFill>
              </a:rPr>
              <a:t> Ofreció un excelente balance entre precisión y costo computacional. Su error se estabilizó rápidamente (alrededor de 4-5 cm) sin presentar sobreajuste, demostrando ser una solución robusta para datasets de tamaño medio.</a:t>
            </a:r>
            <a:br>
              <a:rPr lang="en" sz="1000">
                <a:solidFill>
                  <a:schemeClr val="dk1"/>
                </a:solidFill>
              </a:rPr>
            </a:b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ResNet50 (Precisión Robusta):</a:t>
            </a:r>
            <a:r>
              <a:rPr lang="en" sz="1000">
                <a:solidFill>
                  <a:schemeClr val="dk1"/>
                </a:solidFill>
              </a:rPr>
              <a:t> Fue el modelo sometido a un entrenamiento más exhaustivo (1000 épocas).</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Logró una </a:t>
            </a:r>
            <a:r>
              <a:rPr b="1" lang="en" sz="1000">
                <a:solidFill>
                  <a:schemeClr val="dk1"/>
                </a:solidFill>
              </a:rPr>
              <a:t>precisión promedio (Accuracy) del 97.74%</a:t>
            </a:r>
            <a:r>
              <a:rPr lang="en" sz="1000">
                <a:solidFill>
                  <a:schemeClr val="dk1"/>
                </a:solidFill>
              </a:rPr>
              <a:t> en el conjunto de prueba.</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rPr>
              <a:t>Las predicciones fueron excelentes (100% de precisión) en medidas estructurales grandes como </a:t>
            </a:r>
            <a:r>
              <a:rPr b="1" lang="en" sz="1000">
                <a:solidFill>
                  <a:schemeClr val="dk1"/>
                </a:solidFill>
              </a:rPr>
              <a:t>altura, pecho, cadera y largo de pierna</a:t>
            </a:r>
            <a:r>
              <a:rPr lang="en" sz="1000">
                <a:solidFill>
                  <a:schemeClr val="dk1"/>
                </a:solidFill>
              </a:rPr>
              <a:t>.</a:t>
            </a:r>
            <a:endParaRPr sz="10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0"/>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366" name="Google Shape;366;p40"/>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cxnSp>
        <p:nvCxnSpPr>
          <p:cNvPr id="367" name="Google Shape;367;p40"/>
          <p:cNvCxnSpPr/>
          <p:nvPr/>
        </p:nvCxnSpPr>
        <p:spPr>
          <a:xfrm>
            <a:off x="180600" y="466950"/>
            <a:ext cx="8782800" cy="12300"/>
          </a:xfrm>
          <a:prstGeom prst="straightConnector1">
            <a:avLst/>
          </a:prstGeom>
          <a:noFill/>
          <a:ln cap="flat" cmpd="sng" w="9525">
            <a:solidFill>
              <a:schemeClr val="dk1"/>
            </a:solidFill>
            <a:prstDash val="solid"/>
            <a:round/>
            <a:headEnd len="med" w="med" type="oval"/>
            <a:tailEnd len="med" w="med" type="oval"/>
          </a:ln>
        </p:spPr>
      </p:cxnSp>
      <p:sp>
        <p:nvSpPr>
          <p:cNvPr id="368" name="Google Shape;368;p40"/>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CONCLUSIONES</a:t>
            </a:r>
            <a:endParaRPr b="1" i="0" sz="1244" u="none" cap="none" strike="noStrike">
              <a:solidFill>
                <a:srgbClr val="0C265D"/>
              </a:solidFill>
              <a:latin typeface="Comfortaa"/>
              <a:ea typeface="Comfortaa"/>
              <a:cs typeface="Comfortaa"/>
              <a:sym typeface="Comfortaa"/>
            </a:endParaRPr>
          </a:p>
        </p:txBody>
      </p:sp>
      <p:sp>
        <p:nvSpPr>
          <p:cNvPr id="369" name="Google Shape;369;p40"/>
          <p:cNvSpPr txBox="1"/>
          <p:nvPr/>
        </p:nvSpPr>
        <p:spPr>
          <a:xfrm>
            <a:off x="446700" y="2057613"/>
            <a:ext cx="8250600" cy="249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200">
                <a:solidFill>
                  <a:schemeClr val="dk1"/>
                </a:solidFill>
              </a:rPr>
              <a:t>3. Análisis de las Predicciones (Desafíos)</a:t>
            </a:r>
            <a:endParaRPr b="1" sz="12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en" sz="1000">
                <a:solidFill>
                  <a:schemeClr val="dk1"/>
                </a:solidFill>
              </a:rPr>
              <a:t>Medidas Globales vs. Detalles Finos:</a:t>
            </a:r>
            <a:r>
              <a:rPr lang="en" sz="1000">
                <a:solidFill>
                  <a:schemeClr val="dk1"/>
                </a:solidFill>
              </a:rPr>
              <a:t> Todos los modelos mostraron un patrón claro: funcionan mejor estimando medidas estructurales grandes (altura, largo de piernas) debido a que dependen de la estructura global. Sin embargo, las medidas de detalles finos y articulaciones pequeñas (</a:t>
            </a:r>
            <a:r>
              <a:rPr b="1" lang="en" sz="1000">
                <a:solidFill>
                  <a:schemeClr val="dk1"/>
                </a:solidFill>
              </a:rPr>
              <a:t>muñeca, tobillo, bíceps</a:t>
            </a:r>
            <a:r>
              <a:rPr lang="en" sz="1000">
                <a:solidFill>
                  <a:schemeClr val="dk1"/>
                </a:solidFill>
              </a:rPr>
              <a:t>) presentaron mayores tasas de error y dispersión, siendo las más difíciles de estimar con siluetas 2D.</a:t>
            </a:r>
            <a:endParaRPr sz="1000">
              <a:solidFill>
                <a:schemeClr val="dk1"/>
              </a:solidFill>
            </a:endParaRPr>
          </a:p>
          <a:p>
            <a:pPr indent="0" lvl="0" marL="0" rtl="0" algn="l">
              <a:lnSpc>
                <a:spcPct val="115000"/>
              </a:lnSpc>
              <a:spcBef>
                <a:spcPts val="1400"/>
              </a:spcBef>
              <a:spcAft>
                <a:spcPts val="0"/>
              </a:spcAft>
              <a:buNone/>
            </a:pPr>
            <a:r>
              <a:rPr b="1" lang="en" sz="1200">
                <a:solidFill>
                  <a:schemeClr val="dk1"/>
                </a:solidFill>
              </a:rPr>
              <a:t>4. Limitaciones y Trabajo Futuro</a:t>
            </a:r>
            <a:endParaRPr b="1" sz="12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en" sz="1000">
                <a:solidFill>
                  <a:schemeClr val="dk1"/>
                </a:solidFill>
              </a:rPr>
              <a:t>Dependencia de la calidad de entrada:</a:t>
            </a:r>
            <a:r>
              <a:rPr lang="en" sz="1000">
                <a:solidFill>
                  <a:schemeClr val="dk1"/>
                </a:solidFill>
              </a:rPr>
              <a:t> El sistema es sensible a la postura del sujeto y al uso de ropa muy holgada, lo que puede afectar la silueta.</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Recomendación de mejora:</a:t>
            </a:r>
            <a:r>
              <a:rPr lang="en" sz="1000">
                <a:solidFill>
                  <a:schemeClr val="dk1"/>
                </a:solidFill>
              </a:rPr>
              <a:t> Para aplicaciones de "sastrería médica" o alta precisión milimétrica, se sugiere realizar un </a:t>
            </a:r>
            <a:r>
              <a:rPr i="1" lang="en" sz="1000">
                <a:solidFill>
                  <a:schemeClr val="dk1"/>
                </a:solidFill>
              </a:rPr>
              <a:t>Fine-Tuning</a:t>
            </a:r>
            <a:r>
              <a:rPr lang="en" sz="1000">
                <a:solidFill>
                  <a:schemeClr val="dk1"/>
                </a:solidFill>
              </a:rPr>
              <a:t> descongelando las últimas capas o ampliar el dataset con mayor variabilidad de tipos de cuerpo extremos.</a:t>
            </a:r>
            <a:endParaRPr sz="1000">
              <a:solidFill>
                <a:schemeClr val="dk1"/>
              </a:solidFill>
            </a:endParaRPr>
          </a:p>
        </p:txBody>
      </p:sp>
      <p:graphicFrame>
        <p:nvGraphicFramePr>
          <p:cNvPr id="370" name="Google Shape;370;p40"/>
          <p:cNvGraphicFramePr/>
          <p:nvPr/>
        </p:nvGraphicFramePr>
        <p:xfrm>
          <a:off x="1550900" y="628425"/>
          <a:ext cx="3000000" cy="3000000"/>
        </p:xfrm>
        <a:graphic>
          <a:graphicData uri="http://schemas.openxmlformats.org/drawingml/2006/table">
            <a:tbl>
              <a:tblPr>
                <a:noFill/>
                <a:tableStyleId>{67AB4A2E-310A-47CA-8E6F-357D9CDF2465}</a:tableStyleId>
              </a:tblPr>
              <a:tblGrid>
                <a:gridCol w="1067250"/>
                <a:gridCol w="1229775"/>
                <a:gridCol w="1367025"/>
                <a:gridCol w="1000600"/>
                <a:gridCol w="1164000"/>
              </a:tblGrid>
              <a:tr h="273350">
                <a:tc>
                  <a:txBody>
                    <a:bodyPr/>
                    <a:lstStyle/>
                    <a:p>
                      <a:pPr indent="0" lvl="0" marL="0" rtl="0" algn="ctr">
                        <a:spcBef>
                          <a:spcPts val="0"/>
                        </a:spcBef>
                        <a:spcAft>
                          <a:spcPts val="0"/>
                        </a:spcAft>
                        <a:buNone/>
                      </a:pPr>
                      <a:r>
                        <a:rPr b="1" lang="en" sz="900"/>
                        <a:t>Modelo</a:t>
                      </a:r>
                      <a:endParaRPr b="1" sz="900"/>
                    </a:p>
                  </a:txBody>
                  <a:tcPr marT="91425" marB="91425" marR="91425" marL="91425">
                    <a:solidFill>
                      <a:srgbClr val="C0C0C0"/>
                    </a:solidFill>
                  </a:tcPr>
                </a:tc>
                <a:tc>
                  <a:txBody>
                    <a:bodyPr/>
                    <a:lstStyle/>
                    <a:p>
                      <a:pPr indent="0" lvl="0" marL="0" rtl="0" algn="ctr">
                        <a:spcBef>
                          <a:spcPts val="0"/>
                        </a:spcBef>
                        <a:spcAft>
                          <a:spcPts val="0"/>
                        </a:spcAft>
                        <a:buNone/>
                      </a:pPr>
                      <a:r>
                        <a:rPr b="1" lang="en" sz="900"/>
                        <a:t>Precisión</a:t>
                      </a:r>
                      <a:endParaRPr b="1" sz="900"/>
                    </a:p>
                  </a:txBody>
                  <a:tcPr marT="91425" marB="91425" marR="91425" marL="91425">
                    <a:solidFill>
                      <a:srgbClr val="C0C0C0"/>
                    </a:solidFill>
                  </a:tcPr>
                </a:tc>
                <a:tc>
                  <a:txBody>
                    <a:bodyPr/>
                    <a:lstStyle/>
                    <a:p>
                      <a:pPr indent="0" lvl="0" marL="0" rtl="0" algn="ctr">
                        <a:spcBef>
                          <a:spcPts val="0"/>
                        </a:spcBef>
                        <a:spcAft>
                          <a:spcPts val="0"/>
                        </a:spcAft>
                        <a:buNone/>
                      </a:pPr>
                      <a:r>
                        <a:rPr b="1" lang="en" sz="900"/>
                        <a:t>Costo computacional</a:t>
                      </a:r>
                      <a:endParaRPr b="1" sz="900"/>
                    </a:p>
                  </a:txBody>
                  <a:tcPr marT="91425" marB="91425" marR="91425" marL="91425">
                    <a:solidFill>
                      <a:srgbClr val="C0C0C0"/>
                    </a:solidFill>
                  </a:tcPr>
                </a:tc>
                <a:tc>
                  <a:txBody>
                    <a:bodyPr/>
                    <a:lstStyle/>
                    <a:p>
                      <a:pPr indent="0" lvl="0" marL="0" rtl="0" algn="ctr">
                        <a:spcBef>
                          <a:spcPts val="0"/>
                        </a:spcBef>
                        <a:spcAft>
                          <a:spcPts val="0"/>
                        </a:spcAft>
                        <a:buNone/>
                      </a:pPr>
                      <a:r>
                        <a:rPr b="1" lang="en" sz="900"/>
                        <a:t>Generalización</a:t>
                      </a:r>
                      <a:endParaRPr b="1" sz="900"/>
                    </a:p>
                  </a:txBody>
                  <a:tcPr marT="91425" marB="91425" marR="91425" marL="91425">
                    <a:solidFill>
                      <a:srgbClr val="C0C0C0"/>
                    </a:solidFill>
                  </a:tcPr>
                </a:tc>
                <a:tc>
                  <a:txBody>
                    <a:bodyPr/>
                    <a:lstStyle/>
                    <a:p>
                      <a:pPr indent="0" lvl="0" marL="0" rtl="0" algn="ctr">
                        <a:spcBef>
                          <a:spcPts val="0"/>
                        </a:spcBef>
                        <a:spcAft>
                          <a:spcPts val="0"/>
                        </a:spcAft>
                        <a:buNone/>
                      </a:pPr>
                      <a:r>
                        <a:rPr b="1" lang="en" sz="900"/>
                        <a:t>Caso de uso ideal</a:t>
                      </a:r>
                      <a:endParaRPr b="1" sz="900"/>
                    </a:p>
                  </a:txBody>
                  <a:tcPr marT="91425" marB="91425" marR="91425" marL="91425">
                    <a:solidFill>
                      <a:srgbClr val="C0C0C0"/>
                    </a:solidFill>
                  </a:tcPr>
                </a:tc>
              </a:tr>
              <a:tr h="312025">
                <a:tc>
                  <a:txBody>
                    <a:bodyPr/>
                    <a:lstStyle/>
                    <a:p>
                      <a:pPr indent="0" lvl="0" marL="0" rtl="0" algn="ctr">
                        <a:spcBef>
                          <a:spcPts val="0"/>
                        </a:spcBef>
                        <a:spcAft>
                          <a:spcPts val="0"/>
                        </a:spcAft>
                        <a:buNone/>
                      </a:pPr>
                      <a:r>
                        <a:rPr lang="en" sz="900"/>
                        <a:t>MobileNetV2</a:t>
                      </a:r>
                      <a:endParaRPr sz="900"/>
                    </a:p>
                  </a:txBody>
                  <a:tcPr marT="91425" marB="91425" marR="91425" marL="91425"/>
                </a:tc>
                <a:tc>
                  <a:txBody>
                    <a:bodyPr/>
                    <a:lstStyle/>
                    <a:p>
                      <a:pPr indent="0" lvl="0" marL="0" rtl="0" algn="ctr">
                        <a:spcBef>
                          <a:spcPts val="0"/>
                        </a:spcBef>
                        <a:spcAft>
                          <a:spcPts val="0"/>
                        </a:spcAft>
                        <a:buNone/>
                      </a:pPr>
                      <a:r>
                        <a:rPr lang="en" sz="900"/>
                        <a:t>Media–Alta (~5 cm)</a:t>
                      </a:r>
                      <a:endParaRPr sz="900"/>
                    </a:p>
                  </a:txBody>
                  <a:tcPr marT="91425" marB="91425" marR="91425" marL="91425"/>
                </a:tc>
                <a:tc>
                  <a:txBody>
                    <a:bodyPr/>
                    <a:lstStyle/>
                    <a:p>
                      <a:pPr indent="0" lvl="0" marL="0" rtl="0" algn="ctr">
                        <a:spcBef>
                          <a:spcPts val="0"/>
                        </a:spcBef>
                        <a:spcAft>
                          <a:spcPts val="0"/>
                        </a:spcAft>
                        <a:buNone/>
                      </a:pPr>
                      <a:r>
                        <a:rPr lang="en" sz="900"/>
                        <a:t>Muy bajo</a:t>
                      </a:r>
                      <a:endParaRPr sz="900"/>
                    </a:p>
                  </a:txBody>
                  <a:tcPr marT="91425" marB="91425" marR="91425" marL="91425"/>
                </a:tc>
                <a:tc>
                  <a:txBody>
                    <a:bodyPr/>
                    <a:lstStyle/>
                    <a:p>
                      <a:pPr indent="0" lvl="0" marL="0" rtl="0" algn="ctr">
                        <a:spcBef>
                          <a:spcPts val="0"/>
                        </a:spcBef>
                        <a:spcAft>
                          <a:spcPts val="0"/>
                        </a:spcAft>
                        <a:buNone/>
                      </a:pPr>
                      <a:r>
                        <a:rPr lang="en" sz="900"/>
                        <a:t>Muy buena</a:t>
                      </a:r>
                      <a:endParaRPr sz="900"/>
                    </a:p>
                  </a:txBody>
                  <a:tcPr marT="91425" marB="91425" marR="91425" marL="91425"/>
                </a:tc>
                <a:tc>
                  <a:txBody>
                    <a:bodyPr/>
                    <a:lstStyle/>
                    <a:p>
                      <a:pPr indent="0" lvl="0" marL="0" rtl="0" algn="ctr">
                        <a:spcBef>
                          <a:spcPts val="0"/>
                        </a:spcBef>
                        <a:spcAft>
                          <a:spcPts val="0"/>
                        </a:spcAft>
                        <a:buNone/>
                      </a:pPr>
                      <a:r>
                        <a:rPr lang="en" sz="900"/>
                        <a:t>Tiempo real</a:t>
                      </a:r>
                      <a:endParaRPr sz="900"/>
                    </a:p>
                  </a:txBody>
                  <a:tcPr marT="91425" marB="91425" marR="91425" marL="91425"/>
                </a:tc>
              </a:tr>
              <a:tr h="295825">
                <a:tc>
                  <a:txBody>
                    <a:bodyPr/>
                    <a:lstStyle/>
                    <a:p>
                      <a:pPr indent="0" lvl="0" marL="0" rtl="0" algn="ctr">
                        <a:spcBef>
                          <a:spcPts val="0"/>
                        </a:spcBef>
                        <a:spcAft>
                          <a:spcPts val="0"/>
                        </a:spcAft>
                        <a:buNone/>
                      </a:pPr>
                      <a:r>
                        <a:rPr lang="en" sz="900"/>
                        <a:t>EfficientNetB0</a:t>
                      </a:r>
                      <a:endParaRPr sz="900"/>
                    </a:p>
                  </a:txBody>
                  <a:tcPr marT="91425" marB="91425" marR="91425" marL="91425"/>
                </a:tc>
                <a:tc>
                  <a:txBody>
                    <a:bodyPr/>
                    <a:lstStyle/>
                    <a:p>
                      <a:pPr indent="0" lvl="0" marL="0" rtl="0" algn="ctr">
                        <a:spcBef>
                          <a:spcPts val="0"/>
                        </a:spcBef>
                        <a:spcAft>
                          <a:spcPts val="0"/>
                        </a:spcAft>
                        <a:buNone/>
                      </a:pPr>
                      <a:r>
                        <a:rPr lang="en" sz="900"/>
                        <a:t>Alta (~4–5 cm)</a:t>
                      </a:r>
                      <a:endParaRPr sz="900"/>
                    </a:p>
                  </a:txBody>
                  <a:tcPr marT="91425" marB="91425" marR="91425" marL="91425"/>
                </a:tc>
                <a:tc>
                  <a:txBody>
                    <a:bodyPr/>
                    <a:lstStyle/>
                    <a:p>
                      <a:pPr indent="0" lvl="0" marL="0" rtl="0" algn="ctr">
                        <a:spcBef>
                          <a:spcPts val="0"/>
                        </a:spcBef>
                        <a:spcAft>
                          <a:spcPts val="0"/>
                        </a:spcAft>
                        <a:buNone/>
                      </a:pPr>
                      <a:r>
                        <a:rPr lang="en" sz="900"/>
                        <a:t>Medio</a:t>
                      </a:r>
                      <a:endParaRPr sz="900"/>
                    </a:p>
                  </a:txBody>
                  <a:tcPr marT="91425" marB="91425" marR="91425" marL="91425"/>
                </a:tc>
                <a:tc>
                  <a:txBody>
                    <a:bodyPr/>
                    <a:lstStyle/>
                    <a:p>
                      <a:pPr indent="0" lvl="0" marL="0" rtl="0" algn="ctr">
                        <a:spcBef>
                          <a:spcPts val="0"/>
                        </a:spcBef>
                        <a:spcAft>
                          <a:spcPts val="0"/>
                        </a:spcAft>
                        <a:buNone/>
                      </a:pPr>
                      <a:r>
                        <a:rPr lang="en" sz="900"/>
                        <a:t>Excelente</a:t>
                      </a:r>
                      <a:endParaRPr sz="900"/>
                    </a:p>
                  </a:txBody>
                  <a:tcPr marT="91425" marB="91425" marR="91425" marL="91425"/>
                </a:tc>
                <a:tc>
                  <a:txBody>
                    <a:bodyPr/>
                    <a:lstStyle/>
                    <a:p>
                      <a:pPr indent="0" lvl="0" marL="0" rtl="0" algn="ctr">
                        <a:spcBef>
                          <a:spcPts val="0"/>
                        </a:spcBef>
                        <a:spcAft>
                          <a:spcPts val="0"/>
                        </a:spcAft>
                        <a:buNone/>
                      </a:pPr>
                      <a:r>
                        <a:rPr lang="en" sz="900"/>
                        <a:t>Balanceado</a:t>
                      </a:r>
                      <a:endParaRPr sz="900"/>
                    </a:p>
                  </a:txBody>
                  <a:tcPr marT="91425" marB="91425" marR="91425" marL="91425"/>
                </a:tc>
              </a:tr>
              <a:tr h="302175">
                <a:tc>
                  <a:txBody>
                    <a:bodyPr/>
                    <a:lstStyle/>
                    <a:p>
                      <a:pPr indent="0" lvl="0" marL="0" rtl="0" algn="ctr">
                        <a:spcBef>
                          <a:spcPts val="0"/>
                        </a:spcBef>
                        <a:spcAft>
                          <a:spcPts val="0"/>
                        </a:spcAft>
                        <a:buNone/>
                      </a:pPr>
                      <a:r>
                        <a:rPr lang="en" sz="900"/>
                        <a:t>ResNet50</a:t>
                      </a:r>
                      <a:endParaRPr sz="900"/>
                    </a:p>
                  </a:txBody>
                  <a:tcPr marT="91425" marB="91425" marR="91425" marL="91425"/>
                </a:tc>
                <a:tc>
                  <a:txBody>
                    <a:bodyPr/>
                    <a:lstStyle/>
                    <a:p>
                      <a:pPr indent="0" lvl="0" marL="0" rtl="0" algn="ctr">
                        <a:spcBef>
                          <a:spcPts val="0"/>
                        </a:spcBef>
                        <a:spcAft>
                          <a:spcPts val="0"/>
                        </a:spcAft>
                        <a:buNone/>
                      </a:pPr>
                      <a:r>
                        <a:rPr lang="en" sz="900"/>
                        <a:t>Muy alta (~3 cm)</a:t>
                      </a:r>
                      <a:endParaRPr sz="900"/>
                    </a:p>
                  </a:txBody>
                  <a:tcPr marT="91425" marB="91425" marR="91425" marL="91425"/>
                </a:tc>
                <a:tc>
                  <a:txBody>
                    <a:bodyPr/>
                    <a:lstStyle/>
                    <a:p>
                      <a:pPr indent="0" lvl="0" marL="0" rtl="0" algn="ctr">
                        <a:spcBef>
                          <a:spcPts val="0"/>
                        </a:spcBef>
                        <a:spcAft>
                          <a:spcPts val="0"/>
                        </a:spcAft>
                        <a:buNone/>
                      </a:pPr>
                      <a:r>
                        <a:rPr lang="en" sz="900"/>
                        <a:t>Alto</a:t>
                      </a:r>
                      <a:endParaRPr sz="900"/>
                    </a:p>
                  </a:txBody>
                  <a:tcPr marT="91425" marB="91425" marR="91425" marL="91425"/>
                </a:tc>
                <a:tc>
                  <a:txBody>
                    <a:bodyPr/>
                    <a:lstStyle/>
                    <a:p>
                      <a:pPr indent="0" lvl="0" marL="0" rtl="0" algn="ctr">
                        <a:spcBef>
                          <a:spcPts val="0"/>
                        </a:spcBef>
                        <a:spcAft>
                          <a:spcPts val="0"/>
                        </a:spcAft>
                        <a:buNone/>
                      </a:pPr>
                      <a:r>
                        <a:rPr lang="en" sz="900"/>
                        <a:t>Buena </a:t>
                      </a:r>
                      <a:endParaRPr sz="900"/>
                    </a:p>
                  </a:txBody>
                  <a:tcPr marT="91425" marB="91425" marR="91425" marL="91425"/>
                </a:tc>
                <a:tc>
                  <a:txBody>
                    <a:bodyPr/>
                    <a:lstStyle/>
                    <a:p>
                      <a:pPr indent="0" lvl="0" marL="0" rtl="0" algn="ctr">
                        <a:spcBef>
                          <a:spcPts val="0"/>
                        </a:spcBef>
                        <a:spcAft>
                          <a:spcPts val="0"/>
                        </a:spcAft>
                        <a:buNone/>
                      </a:pPr>
                      <a:r>
                        <a:rPr lang="en" sz="900"/>
                        <a:t>Alta precisión</a:t>
                      </a:r>
                      <a:endParaRPr sz="900"/>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1"/>
          <p:cNvSpPr/>
          <p:nvPr/>
        </p:nvSpPr>
        <p:spPr>
          <a:xfrm>
            <a:off x="0" y="4699500"/>
            <a:ext cx="9144000" cy="444000"/>
          </a:xfrm>
          <a:prstGeom prst="rect">
            <a:avLst/>
          </a:prstGeom>
          <a:solidFill>
            <a:srgbClr val="BFC8D9"/>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CCD3E0"/>
              </a:solidFill>
              <a:latin typeface="Arial"/>
              <a:ea typeface="Arial"/>
              <a:cs typeface="Arial"/>
              <a:sym typeface="Arial"/>
            </a:endParaRPr>
          </a:p>
        </p:txBody>
      </p:sp>
      <p:pic>
        <p:nvPicPr>
          <p:cNvPr id="376" name="Google Shape;376;p41"/>
          <p:cNvPicPr preferRelativeResize="0"/>
          <p:nvPr/>
        </p:nvPicPr>
        <p:blipFill rotWithShape="1">
          <a:blip r:embed="rId3">
            <a:alphaModFix/>
          </a:blip>
          <a:srcRect b="0" l="0" r="0" t="0"/>
          <a:stretch/>
        </p:blipFill>
        <p:spPr>
          <a:xfrm>
            <a:off x="165610" y="4813070"/>
            <a:ext cx="748762" cy="247874"/>
          </a:xfrm>
          <a:prstGeom prst="rect">
            <a:avLst/>
          </a:prstGeom>
          <a:noFill/>
          <a:ln>
            <a:noFill/>
          </a:ln>
        </p:spPr>
      </p:pic>
      <p:cxnSp>
        <p:nvCxnSpPr>
          <p:cNvPr id="377" name="Google Shape;377;p41"/>
          <p:cNvCxnSpPr/>
          <p:nvPr/>
        </p:nvCxnSpPr>
        <p:spPr>
          <a:xfrm>
            <a:off x="180600" y="531575"/>
            <a:ext cx="8782800" cy="12300"/>
          </a:xfrm>
          <a:prstGeom prst="straightConnector1">
            <a:avLst/>
          </a:prstGeom>
          <a:noFill/>
          <a:ln cap="flat" cmpd="sng" w="9525">
            <a:solidFill>
              <a:schemeClr val="dk1"/>
            </a:solidFill>
            <a:prstDash val="solid"/>
            <a:round/>
            <a:headEnd len="med" w="med" type="oval"/>
            <a:tailEnd len="med" w="med" type="oval"/>
          </a:ln>
        </p:spPr>
      </p:cxnSp>
      <p:sp>
        <p:nvSpPr>
          <p:cNvPr id="378" name="Google Shape;378;p41"/>
          <p:cNvSpPr txBox="1"/>
          <p:nvPr/>
        </p:nvSpPr>
        <p:spPr>
          <a:xfrm>
            <a:off x="55975" y="82650"/>
            <a:ext cx="8818500" cy="384300"/>
          </a:xfrm>
          <a:prstGeom prst="rect">
            <a:avLst/>
          </a:prstGeom>
          <a:noFill/>
          <a:ln cap="flat" cmpd="sng" w="9525">
            <a:solidFill>
              <a:srgbClr val="FFFFFF"/>
            </a:solidFill>
            <a:prstDash val="solid"/>
            <a:round/>
            <a:headEnd len="sm" w="sm" type="none"/>
            <a:tailEnd len="sm" w="sm" type="none"/>
          </a:ln>
        </p:spPr>
        <p:txBody>
          <a:bodyPr anchorCtr="0" anchor="t" bIns="87775" lIns="87775" spcFirstLastPara="1" rIns="87775" wrap="square" tIns="87775">
            <a:spAutoFit/>
          </a:bodyPr>
          <a:lstStyle/>
          <a:p>
            <a:pPr indent="0" lvl="0" marL="0" marR="0" rtl="0" algn="l">
              <a:lnSpc>
                <a:spcPct val="100000"/>
              </a:lnSpc>
              <a:spcBef>
                <a:spcPts val="0"/>
              </a:spcBef>
              <a:spcAft>
                <a:spcPts val="0"/>
              </a:spcAft>
              <a:buClr>
                <a:srgbClr val="000000"/>
              </a:buClr>
              <a:buSzPts val="1644"/>
              <a:buFont typeface="Arial"/>
              <a:buNone/>
            </a:pPr>
            <a:r>
              <a:rPr b="1" lang="en" sz="744">
                <a:solidFill>
                  <a:srgbClr val="0C265D"/>
                </a:solidFill>
                <a:latin typeface="Comfortaa"/>
                <a:ea typeface="Comfortaa"/>
                <a:cs typeface="Comfortaa"/>
                <a:sym typeface="Comfortaa"/>
              </a:rPr>
              <a:t>     </a:t>
            </a:r>
            <a:r>
              <a:rPr b="1" lang="en" sz="1300">
                <a:solidFill>
                  <a:srgbClr val="0C265D"/>
                </a:solidFill>
                <a:latin typeface="Comfortaa"/>
                <a:ea typeface="Comfortaa"/>
                <a:cs typeface="Comfortaa"/>
                <a:sym typeface="Comfortaa"/>
              </a:rPr>
              <a:t> Repositorio</a:t>
            </a:r>
            <a:r>
              <a:rPr b="1" lang="en" sz="744">
                <a:solidFill>
                  <a:srgbClr val="0C265D"/>
                </a:solidFill>
                <a:latin typeface="Comfortaa"/>
                <a:ea typeface="Comfortaa"/>
                <a:cs typeface="Comfortaa"/>
                <a:sym typeface="Comfortaa"/>
              </a:rPr>
              <a:t> </a:t>
            </a:r>
            <a:r>
              <a:rPr b="1" lang="en" sz="1344">
                <a:solidFill>
                  <a:srgbClr val="0C265D"/>
                </a:solidFill>
                <a:latin typeface="Comfortaa"/>
                <a:ea typeface="Comfortaa"/>
                <a:cs typeface="Comfortaa"/>
                <a:sym typeface="Comfortaa"/>
              </a:rPr>
              <a:t>GitHub</a:t>
            </a:r>
            <a:endParaRPr b="1" i="0" sz="1244" u="none" cap="none" strike="noStrike">
              <a:solidFill>
                <a:srgbClr val="0C265D"/>
              </a:solidFill>
              <a:latin typeface="Comfortaa"/>
              <a:ea typeface="Comfortaa"/>
              <a:cs typeface="Comfortaa"/>
              <a:sym typeface="Comfortaa"/>
            </a:endParaRPr>
          </a:p>
        </p:txBody>
      </p:sp>
      <p:sp>
        <p:nvSpPr>
          <p:cNvPr id="379" name="Google Shape;379;p41"/>
          <p:cNvSpPr txBox="1"/>
          <p:nvPr/>
        </p:nvSpPr>
        <p:spPr>
          <a:xfrm>
            <a:off x="380425" y="956825"/>
            <a:ext cx="8169600" cy="856500"/>
          </a:xfrm>
          <a:prstGeom prst="rect">
            <a:avLst/>
          </a:prstGeom>
          <a:noFill/>
          <a:ln cap="flat" cmpd="sng" w="9525">
            <a:solidFill>
              <a:schemeClr val="lt1"/>
            </a:solidFill>
            <a:prstDash val="solid"/>
            <a:round/>
            <a:headEnd len="sm" w="sm" type="none"/>
            <a:tailEnd len="sm" w="sm" type="none"/>
          </a:ln>
        </p:spPr>
        <p:txBody>
          <a:bodyPr anchorCtr="0" anchor="t" bIns="65825" lIns="65825" spcFirstLastPara="1" rIns="65825" wrap="square" tIns="65825">
            <a:spAutoFit/>
          </a:bodyPr>
          <a:lstStyle/>
          <a:p>
            <a:pPr indent="-298450" lvl="0" marL="457200" marR="0" rtl="0" algn="l">
              <a:lnSpc>
                <a:spcPct val="100000"/>
              </a:lnSpc>
              <a:spcBef>
                <a:spcPts val="0"/>
              </a:spcBef>
              <a:spcAft>
                <a:spcPts val="0"/>
              </a:spcAft>
              <a:buClr>
                <a:schemeClr val="dk1"/>
              </a:buClr>
              <a:buSzPts val="1100"/>
              <a:buFont typeface="Comfortaa"/>
              <a:buChar char="●"/>
            </a:pPr>
            <a:r>
              <a:rPr b="1" lang="en" sz="1100">
                <a:solidFill>
                  <a:schemeClr val="dk1"/>
                </a:solidFill>
                <a:latin typeface="Comfortaa"/>
                <a:ea typeface="Comfortaa"/>
                <a:cs typeface="Comfortaa"/>
                <a:sym typeface="Comfortaa"/>
              </a:rPr>
              <a:t>Se generó un repositorio en GitHub con el dataset y </a:t>
            </a:r>
            <a:r>
              <a:rPr b="1" lang="en" sz="1100">
                <a:solidFill>
                  <a:schemeClr val="dk1"/>
                </a:solidFill>
                <a:latin typeface="Comfortaa"/>
                <a:ea typeface="Comfortaa"/>
                <a:cs typeface="Comfortaa"/>
                <a:sym typeface="Comfortaa"/>
              </a:rPr>
              <a:t>códigos</a:t>
            </a:r>
            <a:r>
              <a:rPr b="1" lang="en" sz="1100">
                <a:solidFill>
                  <a:schemeClr val="dk1"/>
                </a:solidFill>
                <a:latin typeface="Comfortaa"/>
                <a:ea typeface="Comfortaa"/>
                <a:cs typeface="Comfortaa"/>
                <a:sym typeface="Comfortaa"/>
              </a:rPr>
              <a:t> de los modelos para su replicabilidad.</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a:p>
            <a:pPr indent="0" lvl="0" marL="457200" marR="0" rtl="0" algn="l">
              <a:lnSpc>
                <a:spcPct val="100000"/>
              </a:lnSpc>
              <a:spcBef>
                <a:spcPts val="0"/>
              </a:spcBef>
              <a:spcAft>
                <a:spcPts val="0"/>
              </a:spcAft>
              <a:buNone/>
            </a:pPr>
            <a:r>
              <a:rPr b="1" lang="en" sz="1100">
                <a:solidFill>
                  <a:schemeClr val="dk1"/>
                </a:solidFill>
                <a:latin typeface="Comfortaa"/>
                <a:ea typeface="Comfortaa"/>
                <a:cs typeface="Comfortaa"/>
                <a:sym typeface="Comfortaa"/>
              </a:rPr>
              <a:t>URL:</a:t>
            </a:r>
            <a:r>
              <a:rPr b="1" lang="en" sz="1100">
                <a:solidFill>
                  <a:schemeClr val="accent1"/>
                </a:solidFill>
                <a:latin typeface="Comfortaa"/>
                <a:ea typeface="Comfortaa"/>
                <a:cs typeface="Comfortaa"/>
                <a:sym typeface="Comfortaa"/>
              </a:rPr>
              <a:t> </a:t>
            </a:r>
            <a:r>
              <a:rPr lang="en" u="sng">
                <a:solidFill>
                  <a:schemeClr val="accent1"/>
                </a:solidFill>
              </a:rPr>
              <a:t>https://github.com/renzovillalobos-dev/Proyecto-vision-antropometria-bodym</a:t>
            </a:r>
            <a:endParaRPr u="sng">
              <a:solidFill>
                <a:schemeClr val="accent1"/>
              </a:solidFill>
            </a:endParaRPr>
          </a:p>
          <a:p>
            <a:pPr indent="0" lvl="0" marL="457200" marR="0" rtl="0" algn="l">
              <a:lnSpc>
                <a:spcPct val="100000"/>
              </a:lnSpc>
              <a:spcBef>
                <a:spcPts val="0"/>
              </a:spcBef>
              <a:spcAft>
                <a:spcPts val="0"/>
              </a:spcAft>
              <a:buNone/>
            </a:pPr>
            <a:r>
              <a:t/>
            </a:r>
            <a:endParaRPr b="1" sz="1100">
              <a:solidFill>
                <a:schemeClr val="dk1"/>
              </a:solidFill>
              <a:latin typeface="Comfortaa"/>
              <a:ea typeface="Comfortaa"/>
              <a:cs typeface="Comfortaa"/>
              <a:sym typeface="Comforta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42"/>
          <p:cNvPicPr preferRelativeResize="0"/>
          <p:nvPr/>
        </p:nvPicPr>
        <p:blipFill>
          <a:blip r:embed="rId3">
            <a:alphaModFix/>
          </a:blip>
          <a:stretch>
            <a:fillRect/>
          </a:stretch>
        </p:blipFill>
        <p:spPr>
          <a:xfrm>
            <a:off x="0" y="0"/>
            <a:ext cx="9144000" cy="5135835"/>
          </a:xfrm>
          <a:prstGeom prst="rect">
            <a:avLst/>
          </a:prstGeom>
          <a:noFill/>
          <a:ln>
            <a:noFill/>
          </a:ln>
        </p:spPr>
      </p:pic>
      <p:sp>
        <p:nvSpPr>
          <p:cNvPr id="385" name="Google Shape;385;p42"/>
          <p:cNvSpPr txBox="1"/>
          <p:nvPr>
            <p:ph type="ctrTitle"/>
          </p:nvPr>
        </p:nvSpPr>
        <p:spPr>
          <a:xfrm>
            <a:off x="0" y="0"/>
            <a:ext cx="9144000" cy="758700"/>
          </a:xfrm>
          <a:prstGeom prst="rect">
            <a:avLst/>
          </a:prstGeom>
          <a:solidFill>
            <a:srgbClr val="6FA8DC"/>
          </a:solidFill>
        </p:spPr>
        <p:txBody>
          <a:bodyPr anchorCtr="0" anchor="b" bIns="91425" lIns="91425" spcFirstLastPara="1" rIns="91425" wrap="square" tIns="91425">
            <a:normAutofit/>
          </a:bodyPr>
          <a:lstStyle/>
          <a:p>
            <a:pPr indent="0" lvl="0" marL="0" rtl="0" algn="ctr">
              <a:spcBef>
                <a:spcPts val="0"/>
              </a:spcBef>
              <a:spcAft>
                <a:spcPts val="0"/>
              </a:spcAft>
              <a:buSzPts val="891"/>
              <a:buNone/>
            </a:pPr>
            <a:r>
              <a:rPr b="1" i="1" lang="en" sz="3562">
                <a:solidFill>
                  <a:schemeClr val="lt1"/>
                </a:solidFill>
              </a:rPr>
              <a:t>GRACIAS</a:t>
            </a:r>
            <a:r>
              <a:rPr b="1" i="1" lang="en" sz="3472">
                <a:solidFill>
                  <a:schemeClr val="lt1"/>
                </a:solidFill>
              </a:rPr>
              <a:t> </a:t>
            </a:r>
            <a:r>
              <a:rPr b="1" i="1" lang="en" sz="3562">
                <a:solidFill>
                  <a:schemeClr val="lt1"/>
                </a:solidFill>
              </a:rPr>
              <a:t>POR SU ATENCION</a:t>
            </a:r>
            <a:endParaRPr b="1" i="1" sz="3562">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